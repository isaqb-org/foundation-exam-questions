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7410" r:id="rId1"/>
    <p:sldMasterId id="2147487430" r:id="rId2"/>
    <p:sldMasterId id="2147487435" r:id="rId3"/>
  </p:sldMasterIdLst>
  <p:notesMasterIdLst>
    <p:notesMasterId r:id="rId66"/>
  </p:notesMasterIdLst>
  <p:handoutMasterIdLst>
    <p:handoutMasterId r:id="rId67"/>
  </p:handoutMasterIdLst>
  <p:sldIdLst>
    <p:sldId id="1214" r:id="rId4"/>
    <p:sldId id="1778" r:id="rId5"/>
    <p:sldId id="1815" r:id="rId6"/>
    <p:sldId id="1840" r:id="rId7"/>
    <p:sldId id="1844" r:id="rId8"/>
    <p:sldId id="1816" r:id="rId9"/>
    <p:sldId id="1871" r:id="rId10"/>
    <p:sldId id="1817" r:id="rId11"/>
    <p:sldId id="1825" r:id="rId12"/>
    <p:sldId id="1826" r:id="rId13"/>
    <p:sldId id="1806" r:id="rId14"/>
    <p:sldId id="1807" r:id="rId15"/>
    <p:sldId id="1873" r:id="rId16"/>
    <p:sldId id="1808" r:id="rId17"/>
    <p:sldId id="1845" r:id="rId18"/>
    <p:sldId id="1819" r:id="rId19"/>
    <p:sldId id="1842" r:id="rId20"/>
    <p:sldId id="1853" r:id="rId21"/>
    <p:sldId id="1846" r:id="rId22"/>
    <p:sldId id="1818" r:id="rId23"/>
    <p:sldId id="1827" r:id="rId24"/>
    <p:sldId id="1828" r:id="rId25"/>
    <p:sldId id="1812" r:id="rId26"/>
    <p:sldId id="1852" r:id="rId27"/>
    <p:sldId id="1847" r:id="rId28"/>
    <p:sldId id="1855" r:id="rId29"/>
    <p:sldId id="1820" r:id="rId30"/>
    <p:sldId id="1829" r:id="rId31"/>
    <p:sldId id="1831" r:id="rId32"/>
    <p:sldId id="1830" r:id="rId33"/>
    <p:sldId id="1832" r:id="rId34"/>
    <p:sldId id="1833" r:id="rId35"/>
    <p:sldId id="1848" r:id="rId36"/>
    <p:sldId id="1821" r:id="rId37"/>
    <p:sldId id="1857" r:id="rId38"/>
    <p:sldId id="1835" r:id="rId39"/>
    <p:sldId id="1858" r:id="rId40"/>
    <p:sldId id="1870" r:id="rId41"/>
    <p:sldId id="1860" r:id="rId42"/>
    <p:sldId id="1861" r:id="rId43"/>
    <p:sldId id="1862" r:id="rId44"/>
    <p:sldId id="1849" r:id="rId45"/>
    <p:sldId id="1872" r:id="rId46"/>
    <p:sldId id="1866" r:id="rId47"/>
    <p:sldId id="1874" r:id="rId48"/>
    <p:sldId id="1850" r:id="rId49"/>
    <p:sldId id="1823" r:id="rId50"/>
    <p:sldId id="1836" r:id="rId51"/>
    <p:sldId id="1865" r:id="rId52"/>
    <p:sldId id="1869" r:id="rId53"/>
    <p:sldId id="1875" r:id="rId54"/>
    <p:sldId id="1867" r:id="rId55"/>
    <p:sldId id="1837" r:id="rId56"/>
    <p:sldId id="1851" r:id="rId57"/>
    <p:sldId id="1868" r:id="rId58"/>
    <p:sldId id="1824" r:id="rId59"/>
    <p:sldId id="1878" r:id="rId60"/>
    <p:sldId id="1876" r:id="rId61"/>
    <p:sldId id="1877" r:id="rId62"/>
    <p:sldId id="982" r:id="rId63"/>
    <p:sldId id="1804" r:id="rId64"/>
    <p:sldId id="1843" r:id="rId65"/>
  </p:sldIdLst>
  <p:sldSz cx="9906000" cy="6858000" type="A4"/>
  <p:notesSz cx="6858000" cy="9945688"/>
  <p:custDataLst>
    <p:tags r:id="rId68"/>
  </p:custDataLst>
  <p:defaultTextStyle>
    <a:defPPr rtl="0"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4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pos="289" userDrawn="1">
          <p15:clr>
            <a:srgbClr val="A4A3A4"/>
          </p15:clr>
        </p15:guide>
        <p15:guide id="4" pos="1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3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F42B87E-50DD-8E7C-8448-06778C78FC11}" name="Nico Lausterer" initials="NL" userId="S::n.lausterer97_gmail.com#ext#@albiontc.onmicrosoft.com::fa8e3c64-7a79-44a3-91b2-77218e1104b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dy Ruth" initials="aer" lastIdx="3" clrIdx="0"/>
  <p:cmAuthor id="1" name="arlo" initials="a" lastIdx="3" clrIdx="1"/>
  <p:cmAuthor id="2" name="Andy" initials="A" lastIdx="6" clrIdx="2"/>
  <p:cmAuthor id="3" name="Gloria" initials="G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003CD2"/>
    <a:srgbClr val="595959"/>
    <a:srgbClr val="F2F2F2"/>
    <a:srgbClr val="E7FAFF"/>
    <a:srgbClr val="E1F9FF"/>
    <a:srgbClr val="DADADA"/>
    <a:srgbClr val="F8F8F8"/>
    <a:srgbClr val="E7FBFF"/>
    <a:srgbClr val="C5F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629" y="106"/>
      </p:cViewPr>
      <p:guideLst>
        <p:guide orient="horz" pos="274"/>
        <p:guide pos="3120"/>
        <p:guide pos="289"/>
        <p:guide pos="18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33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notesMaster" Target="notesMasters/notesMaster1.xml"/><Relationship Id="rId74" Type="http://schemas.microsoft.com/office/2018/10/relationships/authors" Target="author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commentAuthors" Target="commentAuthor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7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1" cy="497285"/>
          </a:xfrm>
          <a:prstGeom prst="rect">
            <a:avLst/>
          </a:prstGeom>
        </p:spPr>
        <p:txBody>
          <a:bodyPr vert="horz" lIns="91714" tIns="45857" rIns="91714" bIns="45857" rtlCol="0"/>
          <a:lstStyle>
            <a:lvl1pPr algn="l">
              <a:defRPr sz="1200"/>
            </a:lvl1pPr>
          </a:lstStyle>
          <a:p>
            <a:pPr rtl="0"/>
            <a:endParaRPr lang="en-US">
              <a:latin typeface="Calibri Light" panose="020F0302020204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1" cy="497285"/>
          </a:xfrm>
          <a:prstGeom prst="rect">
            <a:avLst/>
          </a:prstGeom>
        </p:spPr>
        <p:txBody>
          <a:bodyPr vert="horz" lIns="91714" tIns="45857" rIns="91714" bIns="45857" rtlCol="0"/>
          <a:lstStyle>
            <a:lvl1pPr algn="r">
              <a:defRPr sz="1200"/>
            </a:lvl1pPr>
          </a:lstStyle>
          <a:p>
            <a:pPr rtl="0"/>
            <a:fld id="{864AFED1-54D0-4FA0-B74A-5B0AAA66A316}" type="datetimeFigureOut">
              <a:rPr lang="en-US" smtClean="0">
                <a:latin typeface="Calibri Light" panose="020F0302020204030204" pitchFamily="34" charset="0"/>
              </a:rPr>
              <a:pPr rtl="0"/>
              <a:t>7/11/2025</a:t>
            </a:fld>
            <a:endParaRPr lang="en-US">
              <a:latin typeface="Calibri Light" panose="020F03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6678"/>
            <a:ext cx="2971801" cy="497285"/>
          </a:xfrm>
          <a:prstGeom prst="rect">
            <a:avLst/>
          </a:prstGeom>
        </p:spPr>
        <p:txBody>
          <a:bodyPr vert="horz" lIns="91714" tIns="45857" rIns="91714" bIns="45857" rtlCol="0" anchor="b"/>
          <a:lstStyle>
            <a:lvl1pPr algn="l">
              <a:defRPr sz="1200"/>
            </a:lvl1pPr>
          </a:lstStyle>
          <a:p>
            <a:pPr rtl="0"/>
            <a:endParaRPr lang="en-US">
              <a:latin typeface="Calibri Light" panose="020F03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9446678"/>
            <a:ext cx="2971801" cy="497285"/>
          </a:xfrm>
          <a:prstGeom prst="rect">
            <a:avLst/>
          </a:prstGeom>
        </p:spPr>
        <p:txBody>
          <a:bodyPr vert="horz" lIns="91714" tIns="45857" rIns="91714" bIns="45857" rtlCol="0" anchor="b"/>
          <a:lstStyle>
            <a:lvl1pPr algn="r">
              <a:defRPr sz="1200"/>
            </a:lvl1pPr>
          </a:lstStyle>
          <a:p>
            <a:pPr rtl="0"/>
            <a:fld id="{BFF7E25C-F872-466E-9D3B-FD8AD27474DF}" type="slidenum">
              <a:rPr lang="en-US" smtClean="0">
                <a:latin typeface="Calibri Light" panose="020F0302020204030204" pitchFamily="34" charset="0"/>
              </a:rPr>
              <a:pPr rtl="0"/>
              <a:t>‹#›</a:t>
            </a:fld>
            <a:endParaRPr lang="en-US">
              <a:latin typeface="Calibri Light" panose="020F03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599" y="9531284"/>
            <a:ext cx="2281947" cy="261887"/>
          </a:xfrm>
          <a:prstGeom prst="rect">
            <a:avLst/>
          </a:prstGeom>
          <a:noFill/>
        </p:spPr>
        <p:txBody>
          <a:bodyPr wrap="none" lIns="91714" tIns="45857" rIns="91714" bIns="45857" rtlCol="0">
            <a:spAutoFit/>
          </a:bodyPr>
          <a:lstStyle/>
          <a:p>
            <a:pPr rtl="0"/>
            <a:r>
              <a:rPr lang="en-us" sz="1100">
                <a:latin typeface="Calibri Light" panose="020F0302020204030204" pitchFamily="34" charset="0"/>
              </a:rPr>
              <a:t>Copyright Albion.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5697622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1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rtlCol="0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 Light" panose="020F0302020204030204" pitchFamily="34" charset="0"/>
              </a:defRPr>
            </a:lvl1pPr>
          </a:lstStyle>
          <a:p>
            <a:pPr rtl="0"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1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rtlCol="0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 Light" panose="020F0302020204030204" pitchFamily="34" charset="0"/>
              </a:defRPr>
            </a:lvl1pPr>
          </a:lstStyle>
          <a:p>
            <a:pPr rtl="0">
              <a:defRPr/>
            </a:pPr>
            <a:endParaRPr lang="en-US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36600" y="746125"/>
            <a:ext cx="538480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1" y="4724203"/>
            <a:ext cx="5486400" cy="4475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rtlCol="0" anchor="t" anchorCtr="0" compatLnSpc="1">
            <a:prstTxWarp prst="textNoShape">
              <a:avLst/>
            </a:prstTxWarp>
          </a:bodyPr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6678"/>
            <a:ext cx="2971801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rtlCol="0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 Light" panose="020F0302020204030204" pitchFamily="34" charset="0"/>
              </a:defRPr>
            </a:lvl1pPr>
          </a:lstStyle>
          <a:p>
            <a:pPr rtl="0"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9446678"/>
            <a:ext cx="2971801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rtlCol="0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 Light" panose="020F0302020204030204" pitchFamily="34" charset="0"/>
              </a:defRPr>
            </a:lvl1pPr>
          </a:lstStyle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4699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628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024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850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6726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957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08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3125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90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4258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322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9557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694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527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6087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8751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9441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4191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6735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6398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3089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3924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9392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3544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3084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2753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8294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6262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872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8730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9761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9205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8357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1269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65356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48504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75734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1926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11777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7501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24742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70312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18195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35810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99528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39712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78846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76921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3410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31120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0382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8222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055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80" y="1709740"/>
            <a:ext cx="8925320" cy="2852737"/>
          </a:xfrm>
        </p:spPr>
        <p:txBody>
          <a:bodyPr rtlCol="0" anchor="b"/>
          <a:lstStyle>
            <a:lvl1pPr>
              <a:defRPr sz="5999"/>
            </a:lvl1pPr>
          </a:lstStyle>
          <a:p>
            <a:pPr rt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75880" y="4589466"/>
            <a:ext cx="892532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18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6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2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0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8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4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defTabSz="457181"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defTabSz="457181" rtl="0"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6875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41658" y="1040921"/>
            <a:ext cx="9144001" cy="5536963"/>
          </a:xfrm>
        </p:spPr>
        <p:txBody>
          <a:bodyPr rtlCol="0"/>
          <a:lstStyle>
            <a:lvl1pPr marL="265102" indent="-265102">
              <a:defRPr/>
            </a:lvl1pPr>
            <a:lvl2pPr marL="538141" indent="-273038">
              <a:defRPr/>
            </a:lvl2pPr>
            <a:lvl3pPr marL="803241" indent="-265102">
              <a:defRPr/>
            </a:lvl3pPr>
            <a:lvl4pPr marL="1076280" indent="-273038">
              <a:defRPr/>
            </a:lvl4pPr>
            <a:lvl5pPr marL="1341382" indent="-265102">
              <a:defRPr/>
            </a:lvl5pPr>
          </a:lstStyle>
          <a:p>
            <a:pPr lvl="0" rtl="0"/>
            <a:r>
              <a:rPr lang="en-US"/>
              <a:t>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defTabSz="457181"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defTabSz="457181" rtl="0"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80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E5D3D-4BB2-4EAA-885A-4F53880C1C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CAA644-5ACF-4B7F-B7A3-D11375065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542996-55F8-49D2-9FB4-920CB5941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13D49-5F77-4E4D-BB1E-600C4F1D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192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CAA644-5ACF-4B7F-B7A3-D11375065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542996-55F8-49D2-9FB4-920CB5941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13D49-5F77-4E4D-BB1E-600C4F1D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974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7025E2-1887-4376-B84D-96842B30B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279735-353A-492F-913A-C9F42B830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4EC4BC-54C4-44C2-A53A-853840E41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F036C3D-A85E-4C5F-AFE8-4CFCF52118E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1658" y="228601"/>
            <a:ext cx="9144001" cy="637516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4000"/>
            </a:lvl1pPr>
          </a:lstStyle>
          <a:p>
            <a:pPr lvl="0" rt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98935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992074" cy="1325563"/>
          </a:xfrm>
        </p:spPr>
        <p:txBody>
          <a:bodyPr rtlCol="0"/>
          <a:lstStyle/>
          <a:p>
            <a:pPr rt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2330" y="1681164"/>
            <a:ext cx="4190702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181" indent="0">
              <a:buNone/>
              <a:defRPr sz="2000" b="1"/>
            </a:lvl2pPr>
            <a:lvl3pPr marL="914361" indent="0">
              <a:buNone/>
              <a:defRPr sz="1800" b="1"/>
            </a:lvl3pPr>
            <a:lvl4pPr marL="1371543" indent="0">
              <a:buNone/>
              <a:defRPr sz="1600" b="1"/>
            </a:lvl4pPr>
            <a:lvl5pPr marL="1828724" indent="0">
              <a:buNone/>
              <a:defRPr sz="1600" b="1"/>
            </a:lvl5pPr>
            <a:lvl6pPr marL="2285904" indent="0">
              <a:buNone/>
              <a:defRPr sz="1600" b="1"/>
            </a:lvl6pPr>
            <a:lvl7pPr marL="2743085" indent="0">
              <a:buNone/>
              <a:defRPr sz="1600" b="1"/>
            </a:lvl7pPr>
            <a:lvl8pPr marL="3200266" indent="0">
              <a:buNone/>
              <a:defRPr sz="1600" b="1"/>
            </a:lvl8pPr>
            <a:lvl9pPr marL="3657447" indent="0">
              <a:buNone/>
              <a:defRPr sz="1600" b="1"/>
            </a:lvl9pPr>
          </a:lstStyle>
          <a:p>
            <a:pPr lvl="0" rt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82330" y="2505075"/>
            <a:ext cx="4190702" cy="4098687"/>
          </a:xfrm>
        </p:spPr>
        <p:txBody>
          <a:bodyPr rtlCol="0"/>
          <a:lstStyle/>
          <a:p>
            <a:pPr lvl="0" rtl="0"/>
            <a:r>
              <a:rPr lang="en-US"/>
              <a:t>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2" y="1681164"/>
            <a:ext cx="45862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181" indent="0">
              <a:buNone/>
              <a:defRPr sz="2000" b="1"/>
            </a:lvl2pPr>
            <a:lvl3pPr marL="914361" indent="0">
              <a:buNone/>
              <a:defRPr sz="1800" b="1"/>
            </a:lvl3pPr>
            <a:lvl4pPr marL="1371543" indent="0">
              <a:buNone/>
              <a:defRPr sz="1600" b="1"/>
            </a:lvl4pPr>
            <a:lvl5pPr marL="1828724" indent="0">
              <a:buNone/>
              <a:defRPr sz="1600" b="1"/>
            </a:lvl5pPr>
            <a:lvl6pPr marL="2285904" indent="0">
              <a:buNone/>
              <a:defRPr sz="1600" b="1"/>
            </a:lvl6pPr>
            <a:lvl7pPr marL="2743085" indent="0">
              <a:buNone/>
              <a:defRPr sz="1600" b="1"/>
            </a:lvl7pPr>
            <a:lvl8pPr marL="3200266" indent="0">
              <a:buNone/>
              <a:defRPr sz="1600" b="1"/>
            </a:lvl8pPr>
            <a:lvl9pPr marL="3657447" indent="0">
              <a:buNone/>
              <a:defRPr sz="1600" b="1"/>
            </a:lvl9pPr>
          </a:lstStyle>
          <a:p>
            <a:pPr lvl="0" rt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014912" y="2505075"/>
            <a:ext cx="4586287" cy="4098687"/>
          </a:xfrm>
        </p:spPr>
        <p:txBody>
          <a:bodyPr rtlCol="0"/>
          <a:lstStyle/>
          <a:p>
            <a:pPr lvl="0" rtl="0"/>
            <a:r>
              <a:rPr lang="en-US"/>
              <a:t>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defTabSz="457181"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defTabSz="457181" rtl="0"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032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4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211340" y="457201"/>
            <a:ext cx="5389861" cy="6129470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n-US"/>
              <a:t>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1"/>
            <a:ext cx="3194944" cy="4529269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181" indent="0">
              <a:buNone/>
              <a:defRPr sz="1400"/>
            </a:lvl2pPr>
            <a:lvl3pPr marL="914361" indent="0">
              <a:buNone/>
              <a:defRPr sz="1200"/>
            </a:lvl3pPr>
            <a:lvl4pPr marL="1371543" indent="0">
              <a:buNone/>
              <a:defRPr sz="1000"/>
            </a:lvl4pPr>
            <a:lvl5pPr marL="1828724" indent="0">
              <a:buNone/>
              <a:defRPr sz="1000"/>
            </a:lvl5pPr>
            <a:lvl6pPr marL="2285904" indent="0">
              <a:buNone/>
              <a:defRPr sz="1000"/>
            </a:lvl6pPr>
            <a:lvl7pPr marL="2743085" indent="0">
              <a:buNone/>
              <a:defRPr sz="1000"/>
            </a:lvl7pPr>
            <a:lvl8pPr marL="3200266" indent="0">
              <a:buNone/>
              <a:defRPr sz="1000"/>
            </a:lvl8pPr>
            <a:lvl9pPr marL="3657447" indent="0">
              <a:buNone/>
              <a:defRPr sz="1000"/>
            </a:lvl9pPr>
          </a:lstStyle>
          <a:p>
            <a:pPr lvl="0" rt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defTabSz="457181"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defTabSz="457181" rtl="0"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7946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CAA644-5ACF-4B7F-B7A3-D11375065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542996-55F8-49D2-9FB4-920CB5941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13D49-5F77-4E4D-BB1E-600C4F1D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de-DE" smtClean="0">
                <a:solidFill>
                  <a:prstClr val="black"/>
                </a:solidFill>
              </a:rPr>
              <a:pPr rtl="0"/>
              <a:t>‹#›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310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5C1A6-CAF1-F029-C3F9-63BA034537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9D2226-E176-8889-E44A-316B66A13E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80440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658" y="1036431"/>
            <a:ext cx="9144001" cy="556733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 rtl="0"/>
            <a:r>
              <a:rPr lang="en-us" noProof="0"/>
              <a:t>Edit Master text styles</a:t>
            </a:r>
            <a:endParaRPr lang="de-DE" noProof="0"/>
          </a:p>
          <a:p>
            <a:pPr lvl="1" rtl="0"/>
            <a:r>
              <a:rPr lang="en-us" noProof="0"/>
              <a:t>Second level</a:t>
            </a:r>
            <a:endParaRPr lang="de-DE" noProof="0"/>
          </a:p>
          <a:p>
            <a:pPr lvl="2" rtl="0"/>
            <a:r>
              <a:rPr lang="en-us" noProof="0"/>
              <a:t>Third level</a:t>
            </a:r>
            <a:endParaRPr lang="de-DE" noProof="0"/>
          </a:p>
          <a:p>
            <a:pPr lvl="3" rtl="0"/>
            <a:r>
              <a:rPr lang="en-us" noProof="0"/>
              <a:t>Fourth level</a:t>
            </a:r>
            <a:endParaRPr lang="de-DE" noProof="0"/>
          </a:p>
          <a:p>
            <a:pPr lvl="4" rtl="0"/>
            <a:r>
              <a:rPr lang="en-us" noProof="0"/>
              <a:t>Fifth level</a:t>
            </a:r>
            <a:endParaRPr lang="de-DE" noProof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1658" y="76201"/>
            <a:ext cx="9144001" cy="85407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rtl="0"/>
            <a:r>
              <a:rPr lang="en-us" noProof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42386" y="6579481"/>
            <a:ext cx="334327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rtl="0"/>
            <a:r>
              <a:rPr lang="en-US" noProof="0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  <a:endParaRPr lang="en-us" noProof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1659" y="6586670"/>
            <a:ext cx="222885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rtl="0"/>
            <a:r>
              <a:rPr lang="de-DE" noProof="0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83833" y="6579481"/>
            <a:ext cx="222885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rtl="0"/>
            <a:fld id="{DC65F2A6-DE86-5747-A2A3-FFB413B14C70}" type="slidenum">
              <a:rPr lang="de-DE" noProof="0" smtClean="0">
                <a:solidFill>
                  <a:prstClr val="black"/>
                </a:solidFill>
              </a:rPr>
              <a:pPr rtl="0"/>
              <a:t>‹#›</a:t>
            </a:fld>
            <a:endParaRPr lang="de-DE" noProof="0">
              <a:solidFill>
                <a:prstClr val="black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7EEE34B-1A4E-4EC2-9746-18133826D45B}"/>
              </a:ext>
            </a:extLst>
          </p:cNvPr>
          <p:cNvGrpSpPr/>
          <p:nvPr userDrawn="1"/>
        </p:nvGrpSpPr>
        <p:grpSpPr>
          <a:xfrm>
            <a:off x="2381" y="1"/>
            <a:ext cx="452439" cy="6855617"/>
            <a:chOff x="2381" y="1"/>
            <a:chExt cx="452439" cy="6855617"/>
          </a:xfrm>
        </p:grpSpPr>
        <p:sp>
          <p:nvSpPr>
            <p:cNvPr id="7" name="Rectangle 6"/>
            <p:cNvSpPr/>
            <p:nvPr userDrawn="1"/>
          </p:nvSpPr>
          <p:spPr>
            <a:xfrm>
              <a:off x="142876" y="1"/>
              <a:ext cx="180865" cy="6855617"/>
            </a:xfrm>
            <a:prstGeom prst="rect">
              <a:avLst/>
            </a:prstGeom>
            <a:solidFill>
              <a:srgbClr val="05C5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sz="1800" noProof="0"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F39264B-7DC8-49F7-B0C6-13F339082012}"/>
                </a:ext>
              </a:extLst>
            </p:cNvPr>
            <p:cNvGrpSpPr/>
            <p:nvPr userDrawn="1"/>
          </p:nvGrpSpPr>
          <p:grpSpPr>
            <a:xfrm>
              <a:off x="2381" y="1071364"/>
              <a:ext cx="452439" cy="338716"/>
              <a:chOff x="2381" y="1071364"/>
              <a:chExt cx="452439" cy="338716"/>
            </a:xfrm>
          </p:grpSpPr>
          <p:sp>
            <p:nvSpPr>
              <p:cNvPr id="8" name="Rectangle 7"/>
              <p:cNvSpPr/>
              <p:nvPr userDrawn="1"/>
            </p:nvSpPr>
            <p:spPr>
              <a:xfrm>
                <a:off x="2381" y="1074292"/>
                <a:ext cx="452439" cy="3357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de-DE" sz="1800" noProof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Freeform: Shape 8"/>
              <p:cNvSpPr>
                <a:spLocks noChangeAspect="1"/>
              </p:cNvSpPr>
              <p:nvPr userDrawn="1"/>
            </p:nvSpPr>
            <p:spPr>
              <a:xfrm rot="17989352">
                <a:off x="176966" y="1086965"/>
                <a:ext cx="234001" cy="202800"/>
              </a:xfrm>
              <a:custGeom>
                <a:avLst/>
                <a:gdLst>
                  <a:gd name="connsiteX0" fmla="*/ 627505 w 1255010"/>
                  <a:gd name="connsiteY0" fmla="*/ 0 h 1080000"/>
                  <a:gd name="connsiteX1" fmla="*/ 1255010 w 1255010"/>
                  <a:gd name="connsiteY1" fmla="*/ 1080000 h 1080000"/>
                  <a:gd name="connsiteX2" fmla="*/ 945897 w 1255010"/>
                  <a:gd name="connsiteY2" fmla="*/ 1080000 h 1080000"/>
                  <a:gd name="connsiteX3" fmla="*/ 627505 w 1255010"/>
                  <a:gd name="connsiteY3" fmla="*/ 532015 h 1080000"/>
                  <a:gd name="connsiteX4" fmla="*/ 309113 w 1255010"/>
                  <a:gd name="connsiteY4" fmla="*/ 1080000 h 1080000"/>
                  <a:gd name="connsiteX5" fmla="*/ 0 w 1255010"/>
                  <a:gd name="connsiteY5" fmla="*/ 1080000 h 108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55010" h="1080000">
                    <a:moveTo>
                      <a:pt x="627505" y="0"/>
                    </a:moveTo>
                    <a:lnTo>
                      <a:pt x="1255010" y="1080000"/>
                    </a:lnTo>
                    <a:lnTo>
                      <a:pt x="945897" y="1080000"/>
                    </a:lnTo>
                    <a:lnTo>
                      <a:pt x="627505" y="532015"/>
                    </a:lnTo>
                    <a:lnTo>
                      <a:pt x="309113" y="1080000"/>
                    </a:lnTo>
                    <a:lnTo>
                      <a:pt x="0" y="1080000"/>
                    </a:lnTo>
                    <a:close/>
                  </a:path>
                </a:pathLst>
              </a:custGeom>
              <a:solidFill>
                <a:srgbClr val="00B9F5"/>
              </a:solidFill>
              <a:ln>
                <a:noFill/>
              </a:ln>
              <a:scene3d>
                <a:camera prst="orthographicFront">
                  <a:rot lat="0" lon="0" rev="2154000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de-DE" sz="1800" noProof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0" name="Freeform: Shape 9"/>
              <p:cNvSpPr>
                <a:spLocks noChangeAspect="1"/>
              </p:cNvSpPr>
              <p:nvPr userDrawn="1"/>
            </p:nvSpPr>
            <p:spPr>
              <a:xfrm>
                <a:off x="20706" y="1134906"/>
                <a:ext cx="234001" cy="202800"/>
              </a:xfrm>
              <a:custGeom>
                <a:avLst/>
                <a:gdLst>
                  <a:gd name="connsiteX0" fmla="*/ 627505 w 1255010"/>
                  <a:gd name="connsiteY0" fmla="*/ 0 h 1080000"/>
                  <a:gd name="connsiteX1" fmla="*/ 1255010 w 1255010"/>
                  <a:gd name="connsiteY1" fmla="*/ 1080000 h 1080000"/>
                  <a:gd name="connsiteX2" fmla="*/ 945897 w 1255010"/>
                  <a:gd name="connsiteY2" fmla="*/ 1080000 h 1080000"/>
                  <a:gd name="connsiteX3" fmla="*/ 627505 w 1255010"/>
                  <a:gd name="connsiteY3" fmla="*/ 532015 h 1080000"/>
                  <a:gd name="connsiteX4" fmla="*/ 309113 w 1255010"/>
                  <a:gd name="connsiteY4" fmla="*/ 1080000 h 1080000"/>
                  <a:gd name="connsiteX5" fmla="*/ 0 w 1255010"/>
                  <a:gd name="connsiteY5" fmla="*/ 1080000 h 108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55010" h="1080000">
                    <a:moveTo>
                      <a:pt x="627505" y="0"/>
                    </a:moveTo>
                    <a:lnTo>
                      <a:pt x="1255010" y="1080000"/>
                    </a:lnTo>
                    <a:lnTo>
                      <a:pt x="945897" y="1080000"/>
                    </a:lnTo>
                    <a:lnTo>
                      <a:pt x="627505" y="532015"/>
                    </a:lnTo>
                    <a:lnTo>
                      <a:pt x="309113" y="1080000"/>
                    </a:lnTo>
                    <a:lnTo>
                      <a:pt x="0" y="1080000"/>
                    </a:lnTo>
                    <a:close/>
                  </a:path>
                </a:pathLst>
              </a:custGeom>
              <a:solidFill>
                <a:srgbClr val="003C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de-DE" sz="1800" noProof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17750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413" r:id="rId1"/>
    <p:sldLayoutId id="2147487412" r:id="rId2"/>
    <p:sldLayoutId id="2147487424" r:id="rId3"/>
    <p:sldLayoutId id="2147487425" r:id="rId4"/>
    <p:sldLayoutId id="2147487426" r:id="rId5"/>
    <p:sldLayoutId id="2147487415" r:id="rId6"/>
    <p:sldLayoutId id="2147487418" r:id="rId7"/>
  </p:sldLayoutIdLst>
  <p:hf hdr="0"/>
  <p:txStyles>
    <p:titleStyle>
      <a:lvl1pPr algn="l" defTabSz="914361" rtl="0" eaLnBrk="1" latinLnBrk="0" hangingPunct="1">
        <a:lnSpc>
          <a:spcPct val="90000"/>
        </a:lnSpc>
        <a:spcBef>
          <a:spcPct val="0"/>
        </a:spcBef>
        <a:buNone/>
        <a:defRPr sz="2800" b="1" kern="1200" cap="none" baseline="0">
          <a:solidFill>
            <a:srgbClr val="003CD2"/>
          </a:solidFill>
          <a:latin typeface="Calibri Light" panose="020F0302020204030204" pitchFamily="34" charset="0"/>
          <a:ea typeface="+mj-ea"/>
          <a:cs typeface="Calibri Light" panose="020F0302020204030204" pitchFamily="34" charset="0"/>
        </a:defRPr>
      </a:lvl1pPr>
    </p:titleStyle>
    <p:bodyStyle>
      <a:lvl1pPr marL="269989" indent="-269989" algn="l" defTabSz="914361" rtl="0" eaLnBrk="1" latinLnBrk="0" hangingPunct="1">
        <a:lnSpc>
          <a:spcPct val="110000"/>
        </a:lnSpc>
        <a:spcBef>
          <a:spcPts val="1200"/>
        </a:spcBef>
        <a:spcAft>
          <a:spcPts val="0"/>
        </a:spcAft>
        <a:buFont typeface="Calibri Light" panose="020B0604020202020204" pitchFamily="34" charset="0"/>
        <a:buChar char="•"/>
        <a:defRPr sz="2000" b="1" kern="1200">
          <a:solidFill>
            <a:srgbClr val="003CD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38141" indent="-273038" algn="l" defTabSz="914361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Calibri Light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03241" indent="-265102" algn="l" defTabSz="914361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Calibri Light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076280" indent="-273038" algn="l" defTabSz="914361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Calibri Light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341382" indent="-265102" algn="l" defTabSz="914361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Calibri Light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495" indent="-228591" algn="l" defTabSz="914361" rtl="0" eaLnBrk="1" latinLnBrk="0" hangingPunct="1">
        <a:lnSpc>
          <a:spcPct val="90000"/>
        </a:lnSpc>
        <a:spcBef>
          <a:spcPts val="500"/>
        </a:spcBef>
        <a:buFont typeface="Calibri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76" indent="-228591" algn="l" defTabSz="914361" rtl="0" eaLnBrk="1" latinLnBrk="0" hangingPunct="1">
        <a:lnSpc>
          <a:spcPct val="90000"/>
        </a:lnSpc>
        <a:spcBef>
          <a:spcPts val="500"/>
        </a:spcBef>
        <a:buFont typeface="Calibri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57" indent="-228591" algn="l" defTabSz="914361" rtl="0" eaLnBrk="1" latinLnBrk="0" hangingPunct="1">
        <a:lnSpc>
          <a:spcPct val="90000"/>
        </a:lnSpc>
        <a:spcBef>
          <a:spcPts val="500"/>
        </a:spcBef>
        <a:buFont typeface="Calibri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7" indent="-228591" algn="l" defTabSz="914361" rtl="0" eaLnBrk="1" latinLnBrk="0" hangingPunct="1">
        <a:lnSpc>
          <a:spcPct val="90000"/>
        </a:lnSpc>
        <a:spcBef>
          <a:spcPts val="500"/>
        </a:spcBef>
        <a:buFont typeface="Calibri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1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1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3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4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4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5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6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47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1" y="76201"/>
            <a:ext cx="9296400" cy="85407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rt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1" y="1074291"/>
            <a:ext cx="9296400" cy="552947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 rtl="0"/>
            <a:r>
              <a:rPr lang="en-us"/>
              <a:t>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1" y="6586670"/>
            <a:ext cx="222885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57926" y="6595216"/>
            <a:ext cx="334327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38575" y="6595216"/>
            <a:ext cx="222885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rtl="0"/>
            <a:fld id="{DC65F2A6-DE86-5747-A2A3-FFB413B14C70}" type="slidenum">
              <a:rPr lang="de-DE" smtClean="0">
                <a:solidFill>
                  <a:prstClr val="black"/>
                </a:solidFill>
              </a:rPr>
              <a:pPr rtl="0"/>
              <a:t>‹#›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9364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434" r:id="rId1"/>
  </p:sldLayoutIdLst>
  <p:hf hdr="0"/>
  <p:txStyles>
    <p:titleStyle>
      <a:lvl1pPr algn="l" defTabSz="914361" rtl="0" eaLnBrk="1" latinLnBrk="0" hangingPunct="1">
        <a:lnSpc>
          <a:spcPct val="90000"/>
        </a:lnSpc>
        <a:spcBef>
          <a:spcPct val="0"/>
        </a:spcBef>
        <a:buNone/>
        <a:defRPr sz="2800" b="1" kern="1200" cap="none" baseline="0">
          <a:solidFill>
            <a:schemeClr val="tx2"/>
          </a:solidFill>
          <a:latin typeface="Calibri Light" panose="020F0302020204030204" pitchFamily="34" charset="0"/>
          <a:ea typeface="+mj-ea"/>
          <a:cs typeface="Calibri Light" panose="020F0302020204030204" pitchFamily="34" charset="0"/>
        </a:defRPr>
      </a:lvl1pPr>
    </p:titleStyle>
    <p:bodyStyle>
      <a:lvl1pPr marL="269989" indent="-269989" algn="l" defTabSz="914361" rtl="0" eaLnBrk="1" latinLnBrk="0" hangingPunct="1">
        <a:lnSpc>
          <a:spcPct val="110000"/>
        </a:lnSpc>
        <a:spcBef>
          <a:spcPts val="1200"/>
        </a:spcBef>
        <a:spcAft>
          <a:spcPts val="0"/>
        </a:spcAft>
        <a:buFont typeface="Calibri Light" panose="020B0604020202020204" pitchFamily="34" charset="0"/>
        <a:buChar char="•"/>
        <a:defRPr sz="2000" b="1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38141" indent="-273038" algn="l" defTabSz="914361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Calibri Light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03241" indent="-265102" algn="l" defTabSz="914361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Calibri Light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076280" indent="-273038" algn="l" defTabSz="914361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Calibri Light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341382" indent="-265102" algn="l" defTabSz="914361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Calibri Light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495" indent="-228591" algn="l" defTabSz="914361" rtl="0" eaLnBrk="1" latinLnBrk="0" hangingPunct="1">
        <a:lnSpc>
          <a:spcPct val="90000"/>
        </a:lnSpc>
        <a:spcBef>
          <a:spcPts val="500"/>
        </a:spcBef>
        <a:buFont typeface="Calibri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76" indent="-228591" algn="l" defTabSz="914361" rtl="0" eaLnBrk="1" latinLnBrk="0" hangingPunct="1">
        <a:lnSpc>
          <a:spcPct val="90000"/>
        </a:lnSpc>
        <a:spcBef>
          <a:spcPts val="500"/>
        </a:spcBef>
        <a:buFont typeface="Calibri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57" indent="-228591" algn="l" defTabSz="914361" rtl="0" eaLnBrk="1" latinLnBrk="0" hangingPunct="1">
        <a:lnSpc>
          <a:spcPct val="90000"/>
        </a:lnSpc>
        <a:spcBef>
          <a:spcPts val="500"/>
        </a:spcBef>
        <a:buFont typeface="Calibri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7" indent="-228591" algn="l" defTabSz="914361" rtl="0" eaLnBrk="1" latinLnBrk="0" hangingPunct="1">
        <a:lnSpc>
          <a:spcPct val="90000"/>
        </a:lnSpc>
        <a:spcBef>
          <a:spcPts val="500"/>
        </a:spcBef>
        <a:buFont typeface="Calibri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1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1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3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4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4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5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6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47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Vertical Title 1">
            <a:extLst>
              <a:ext uri="{FF2B5EF4-FFF2-40B4-BE49-F238E27FC236}">
                <a16:creationId xmlns:a16="http://schemas.microsoft.com/office/drawing/2014/main" id="{81AE10C9-FCDD-4115-89E6-2A3282A65625}"/>
              </a:ext>
            </a:extLst>
          </p:cNvPr>
          <p:cNvSpPr txBox="1">
            <a:spLocks/>
          </p:cNvSpPr>
          <p:nvPr userDrawn="1"/>
        </p:nvSpPr>
        <p:spPr>
          <a:xfrm>
            <a:off x="8305799" y="533399"/>
            <a:ext cx="1379858" cy="6164379"/>
          </a:xfrm>
          <a:prstGeom prst="rect">
            <a:avLst/>
          </a:prstGeom>
        </p:spPr>
        <p:txBody>
          <a:bodyPr vert="eaVert" lIns="0" tIns="0" rIns="0" bIns="0" rtlCol="0" anchor="ctr">
            <a:normAutofit/>
          </a:bodyPr>
          <a:lstStyle>
            <a:lvl1pPr algn="l" defTabSz="91436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cap="none" baseline="0">
                <a:solidFill>
                  <a:srgbClr val="003CD2"/>
                </a:solidFill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361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i="0" u="none" strike="noStrike" kern="1200" cap="none" spc="0" normalizeH="0" noProof="0">
                <a:ln>
                  <a:noFill/>
                </a:ln>
                <a:solidFill>
                  <a:srgbClr val="003CD2"/>
                </a:solidFill>
                <a:effectLst/>
                <a:uLnTx/>
                <a:uFillTx/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rPr>
              <a:t>Click to edit Master title style</a:t>
            </a:r>
            <a:endParaRPr kumimoji="0" lang="de-DE" sz="2800" b="1" i="0" u="none" strike="noStrike" kern="1200" cap="none" spc="0" normalizeH="0" baseline="0" noProof="0">
              <a:ln>
                <a:noFill/>
              </a:ln>
              <a:solidFill>
                <a:srgbClr val="003CD2"/>
              </a:solidFill>
              <a:effectLst/>
              <a:uLnTx/>
              <a:uFillTx/>
              <a:latin typeface="Calibri Light" panose="020F0302020204030204" pitchFamily="34" charset="0"/>
              <a:ea typeface="+mj-ea"/>
              <a:cs typeface="Calibri Light" panose="020F0302020204030204" pitchFamily="34" charset="0"/>
            </a:endParaRPr>
          </a:p>
        </p:txBody>
      </p:sp>
      <p:sp>
        <p:nvSpPr>
          <p:cNvPr id="13" name="Vertical Text Placeholder 2">
            <a:extLst>
              <a:ext uri="{FF2B5EF4-FFF2-40B4-BE49-F238E27FC236}">
                <a16:creationId xmlns:a16="http://schemas.microsoft.com/office/drawing/2014/main" id="{EB7566A0-BE4D-4F31-854E-66594CD61979}"/>
              </a:ext>
            </a:extLst>
          </p:cNvPr>
          <p:cNvSpPr txBox="1">
            <a:spLocks/>
          </p:cNvSpPr>
          <p:nvPr userDrawn="1"/>
        </p:nvSpPr>
        <p:spPr>
          <a:xfrm>
            <a:off x="541660" y="533399"/>
            <a:ext cx="7687941" cy="6164379"/>
          </a:xfrm>
          <a:prstGeom prst="rect">
            <a:avLst/>
          </a:prstGeom>
        </p:spPr>
        <p:txBody>
          <a:bodyPr vert="eaVert" lIns="0" tIns="0" rIns="0" bIns="0" rtlCol="0">
            <a:normAutofit/>
          </a:bodyPr>
          <a:lstStyle>
            <a:lvl1pPr marL="269989" indent="-269989" algn="l" defTabSz="914361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Calibri Light" panose="020B0604020202020204" pitchFamily="34" charset="0"/>
              <a:buChar char="•"/>
              <a:defRPr sz="2000" b="1" kern="1200">
                <a:solidFill>
                  <a:srgbClr val="003CD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538141" indent="-273038" algn="l" defTabSz="91436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Calibri Light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03241" indent="-265102" algn="l" defTabSz="91436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Calibri Light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076280" indent="-273038" algn="l" defTabSz="91436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Calibri Light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341382" indent="-265102" algn="l" defTabSz="91436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Calibri Light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495" indent="-228591" algn="l" defTabSz="914361" rtl="0" eaLnBrk="1" latinLnBrk="0" hangingPunct="1">
              <a:lnSpc>
                <a:spcPct val="90000"/>
              </a:lnSpc>
              <a:spcBef>
                <a:spcPts val="500"/>
              </a:spcBef>
              <a:buFont typeface="Calibri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76" indent="-228591" algn="l" defTabSz="914361" rtl="0" eaLnBrk="1" latinLnBrk="0" hangingPunct="1">
              <a:lnSpc>
                <a:spcPct val="90000"/>
              </a:lnSpc>
              <a:spcBef>
                <a:spcPts val="500"/>
              </a:spcBef>
              <a:buFont typeface="Calibri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57" indent="-228591" algn="l" defTabSz="914361" rtl="0" eaLnBrk="1" latinLnBrk="0" hangingPunct="1">
              <a:lnSpc>
                <a:spcPct val="90000"/>
              </a:lnSpc>
              <a:spcBef>
                <a:spcPts val="500"/>
              </a:spcBef>
              <a:buFont typeface="Calibri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7" indent="-228591" algn="l" defTabSz="914361" rtl="0" eaLnBrk="1" latinLnBrk="0" hangingPunct="1">
              <a:lnSpc>
                <a:spcPct val="90000"/>
              </a:lnSpc>
              <a:spcBef>
                <a:spcPts val="500"/>
              </a:spcBef>
              <a:buFont typeface="Calibri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9989" marR="0" lvl="0" indent="-269989" algn="l" defTabSz="914361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Calibri Light" panose="020B0604020202020204" pitchFamily="34" charset="0"/>
              <a:buChar char="•"/>
              <a:tabLst/>
              <a:defRPr/>
            </a:pPr>
            <a:r>
              <a:rPr lang="en-us" sz="2000" b="1" i="0" u="none" strike="noStrike" kern="1200" cap="none" spc="0" normalizeH="0" noProof="0">
                <a:ln>
                  <a:noFill/>
                </a:ln>
                <a:solidFill>
                  <a:srgbClr val="003CD2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Edit Master text styles</a:t>
            </a:r>
            <a:endParaRPr kumimoji="0" lang="de-DE" sz="2000" b="1" i="0" u="none" strike="noStrike" kern="1200" cap="none" spc="0" normalizeH="0" baseline="0" noProof="0">
              <a:ln>
                <a:noFill/>
              </a:ln>
              <a:solidFill>
                <a:srgbClr val="003CD2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  <a:p>
            <a:pPr marL="538141" marR="0" lvl="1" indent="-273038" algn="l" defTabSz="91436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 Light" panose="020B0604020202020204" pitchFamily="34" charset="0"/>
              <a:buChar char="•"/>
              <a:tabLst/>
              <a:defRPr/>
            </a:pPr>
            <a:r>
              <a:rPr lang="en-us" sz="1800" b="0" i="0" u="none" strike="noStrike" kern="1200" cap="none" spc="0" normalizeH="0" noProof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Second level</a:t>
            </a: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  <a:p>
            <a:pPr marL="803241" marR="0" lvl="2" indent="-265102" algn="l" defTabSz="91436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 Light" panose="020B0604020202020204" pitchFamily="34" charset="0"/>
              <a:buChar char="•"/>
              <a:tabLst/>
              <a:defRPr/>
            </a:pPr>
            <a:r>
              <a:rPr lang="en-us" sz="1600" b="0" i="0" u="none" strike="noStrike" kern="1200" cap="none" spc="0" normalizeH="0" noProof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Third level</a:t>
            </a: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  <a:p>
            <a:pPr marL="1076280" marR="0" lvl="3" indent="-273038" algn="l" defTabSz="91436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 Light" panose="020B0604020202020204" pitchFamily="34" charset="0"/>
              <a:buChar char="•"/>
              <a:tabLst/>
              <a:defRPr/>
            </a:pPr>
            <a:r>
              <a:rPr lang="en-us" sz="1600" b="0" i="0" u="none" strike="noStrike" kern="1200" cap="none" spc="0" normalizeH="0" noProof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Fourth level</a:t>
            </a: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  <a:p>
            <a:pPr marL="1341382" marR="0" lvl="4" indent="-265102" algn="l" defTabSz="91436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 Light" panose="020B0604020202020204" pitchFamily="34" charset="0"/>
              <a:buChar char="•"/>
              <a:tabLst/>
              <a:defRPr/>
            </a:pPr>
            <a:r>
              <a:rPr lang="en-us" sz="1600" b="0" i="0" u="none" strike="noStrike" kern="1200" cap="none" spc="0" normalizeH="0" noProof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Fifth level</a:t>
            </a: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7BFDE2F6-587C-4FBA-9AF5-36833863A483}"/>
              </a:ext>
            </a:extLst>
          </p:cNvPr>
          <p:cNvSpPr txBox="1">
            <a:spLocks/>
          </p:cNvSpPr>
          <p:nvPr userDrawn="1"/>
        </p:nvSpPr>
        <p:spPr>
          <a:xfrm rot="5400000">
            <a:off x="-1000125" y="1533524"/>
            <a:ext cx="222885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02.10.2020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3D2BA7CC-8ED8-48B7-8B77-B5DC910BBC76}"/>
              </a:ext>
            </a:extLst>
          </p:cNvPr>
          <p:cNvSpPr txBox="1">
            <a:spLocks/>
          </p:cNvSpPr>
          <p:nvPr userDrawn="1"/>
        </p:nvSpPr>
        <p:spPr>
          <a:xfrm rot="5400000">
            <a:off x="-1577096" y="4911840"/>
            <a:ext cx="334327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0" i="0" u="none" strike="noStrike" kern="1200" cap="none" spc="0" normalizeH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Albion Copyright 2019 ©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80762760-DC30-4BBE-BC92-7D44B0BCB112}"/>
              </a:ext>
            </a:extLst>
          </p:cNvPr>
          <p:cNvSpPr txBox="1">
            <a:spLocks/>
          </p:cNvSpPr>
          <p:nvPr userDrawn="1"/>
        </p:nvSpPr>
        <p:spPr>
          <a:xfrm rot="5400000">
            <a:off x="-1019884" y="3345984"/>
            <a:ext cx="222885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18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C65F2A6-DE86-5747-A2A3-FFB413B14C7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pPr marL="0" marR="0" lvl="0" indent="0" algn="ctr" defTabSz="45718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CB3F318-D98C-4F04-A1ED-CE8D906E2490}"/>
              </a:ext>
            </a:extLst>
          </p:cNvPr>
          <p:cNvGrpSpPr/>
          <p:nvPr userDrawn="1"/>
        </p:nvGrpSpPr>
        <p:grpSpPr>
          <a:xfrm>
            <a:off x="-5416" y="19723"/>
            <a:ext cx="9911416" cy="452439"/>
            <a:chOff x="-5416" y="19723"/>
            <a:chExt cx="9911416" cy="45243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9BDC79C-107E-4E80-9B5B-709D4630D413}"/>
                </a:ext>
              </a:extLst>
            </p:cNvPr>
            <p:cNvSpPr/>
            <p:nvPr userDrawn="1"/>
          </p:nvSpPr>
          <p:spPr>
            <a:xfrm rot="5400000">
              <a:off x="4859859" y="-4705054"/>
              <a:ext cx="180865" cy="9911416"/>
            </a:xfrm>
            <a:prstGeom prst="rect">
              <a:avLst/>
            </a:prstGeom>
            <a:solidFill>
              <a:srgbClr val="05C5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sz="1800" noProof="0"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40B7CFA-6305-4F74-B6DE-F3CDFFB26964}"/>
                </a:ext>
              </a:extLst>
            </p:cNvPr>
            <p:cNvGrpSpPr/>
            <p:nvPr userDrawn="1"/>
          </p:nvGrpSpPr>
          <p:grpSpPr>
            <a:xfrm rot="5400000">
              <a:off x="7818071" y="77037"/>
              <a:ext cx="452439" cy="337812"/>
              <a:chOff x="2381" y="1071364"/>
              <a:chExt cx="452439" cy="338716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4F5DA9F-4CBB-4F2C-8B78-7ABE75C03A07}"/>
                  </a:ext>
                </a:extLst>
              </p:cNvPr>
              <p:cNvSpPr/>
              <p:nvPr userDrawn="1"/>
            </p:nvSpPr>
            <p:spPr>
              <a:xfrm>
                <a:off x="2381" y="1074292"/>
                <a:ext cx="452439" cy="3357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de-DE" sz="1800" noProof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E3172CC7-C9AC-471E-B8C7-4066BF7D605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7989352">
                <a:off x="176966" y="1086965"/>
                <a:ext cx="234001" cy="202800"/>
              </a:xfrm>
              <a:custGeom>
                <a:avLst/>
                <a:gdLst>
                  <a:gd name="connsiteX0" fmla="*/ 627505 w 1255010"/>
                  <a:gd name="connsiteY0" fmla="*/ 0 h 1080000"/>
                  <a:gd name="connsiteX1" fmla="*/ 1255010 w 1255010"/>
                  <a:gd name="connsiteY1" fmla="*/ 1080000 h 1080000"/>
                  <a:gd name="connsiteX2" fmla="*/ 945897 w 1255010"/>
                  <a:gd name="connsiteY2" fmla="*/ 1080000 h 1080000"/>
                  <a:gd name="connsiteX3" fmla="*/ 627505 w 1255010"/>
                  <a:gd name="connsiteY3" fmla="*/ 532015 h 1080000"/>
                  <a:gd name="connsiteX4" fmla="*/ 309113 w 1255010"/>
                  <a:gd name="connsiteY4" fmla="*/ 1080000 h 1080000"/>
                  <a:gd name="connsiteX5" fmla="*/ 0 w 1255010"/>
                  <a:gd name="connsiteY5" fmla="*/ 1080000 h 108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55010" h="1080000">
                    <a:moveTo>
                      <a:pt x="627505" y="0"/>
                    </a:moveTo>
                    <a:lnTo>
                      <a:pt x="1255010" y="1080000"/>
                    </a:lnTo>
                    <a:lnTo>
                      <a:pt x="945897" y="1080000"/>
                    </a:lnTo>
                    <a:lnTo>
                      <a:pt x="627505" y="532015"/>
                    </a:lnTo>
                    <a:lnTo>
                      <a:pt x="309113" y="1080000"/>
                    </a:lnTo>
                    <a:lnTo>
                      <a:pt x="0" y="1080000"/>
                    </a:lnTo>
                    <a:close/>
                  </a:path>
                </a:pathLst>
              </a:custGeom>
              <a:solidFill>
                <a:srgbClr val="00B9F5"/>
              </a:solidFill>
              <a:ln>
                <a:noFill/>
              </a:ln>
              <a:scene3d>
                <a:camera prst="orthographicFront">
                  <a:rot lat="0" lon="0" rev="2154000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de-DE" sz="1800" noProof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9D66F14F-B3A5-46C6-AE53-49BCE4EA619B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20706" y="1134906"/>
                <a:ext cx="234001" cy="202800"/>
              </a:xfrm>
              <a:custGeom>
                <a:avLst/>
                <a:gdLst>
                  <a:gd name="connsiteX0" fmla="*/ 627505 w 1255010"/>
                  <a:gd name="connsiteY0" fmla="*/ 0 h 1080000"/>
                  <a:gd name="connsiteX1" fmla="*/ 1255010 w 1255010"/>
                  <a:gd name="connsiteY1" fmla="*/ 1080000 h 1080000"/>
                  <a:gd name="connsiteX2" fmla="*/ 945897 w 1255010"/>
                  <a:gd name="connsiteY2" fmla="*/ 1080000 h 1080000"/>
                  <a:gd name="connsiteX3" fmla="*/ 627505 w 1255010"/>
                  <a:gd name="connsiteY3" fmla="*/ 532015 h 1080000"/>
                  <a:gd name="connsiteX4" fmla="*/ 309113 w 1255010"/>
                  <a:gd name="connsiteY4" fmla="*/ 1080000 h 1080000"/>
                  <a:gd name="connsiteX5" fmla="*/ 0 w 1255010"/>
                  <a:gd name="connsiteY5" fmla="*/ 1080000 h 108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55010" h="1080000">
                    <a:moveTo>
                      <a:pt x="627505" y="0"/>
                    </a:moveTo>
                    <a:lnTo>
                      <a:pt x="1255010" y="1080000"/>
                    </a:lnTo>
                    <a:lnTo>
                      <a:pt x="945897" y="1080000"/>
                    </a:lnTo>
                    <a:lnTo>
                      <a:pt x="627505" y="532015"/>
                    </a:lnTo>
                    <a:lnTo>
                      <a:pt x="309113" y="1080000"/>
                    </a:lnTo>
                    <a:lnTo>
                      <a:pt x="0" y="1080000"/>
                    </a:lnTo>
                    <a:close/>
                  </a:path>
                </a:pathLst>
              </a:custGeom>
              <a:solidFill>
                <a:srgbClr val="003C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de-DE" sz="1800" noProof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89069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436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3754599"/>
            <a:ext cx="9077721" cy="774538"/>
          </a:xfrm>
        </p:spPr>
        <p:txBody>
          <a:bodyPr rtlCol="0">
            <a:normAutofit/>
          </a:bodyPr>
          <a:lstStyle/>
          <a:p>
            <a:pPr rtl="0"/>
            <a:r>
              <a:rPr lang="en-US" sz="4800"/>
              <a:t>iSAQB CPSA Foundation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456113"/>
            <a:ext cx="8890145" cy="1085690"/>
          </a:xfrm>
        </p:spPr>
        <p:txBody>
          <a:bodyPr rtlCol="0">
            <a:normAutofit/>
          </a:bodyPr>
          <a:lstStyle/>
          <a:p>
            <a:pPr rtl="0">
              <a:lnSpc>
                <a:spcPct val="100000"/>
              </a:lnSpc>
              <a:spcBef>
                <a:spcPts val="0"/>
              </a:spcBef>
            </a:pPr>
            <a:r>
              <a:rPr lang="en-US" sz="3200">
                <a:solidFill>
                  <a:schemeClr val="tx1">
                    <a:lumMod val="85000"/>
                    <a:lumOff val="15000"/>
                  </a:schemeClr>
                </a:solidFill>
              </a:rPr>
              <a:t>Mock-Exam Questions</a:t>
            </a:r>
          </a:p>
        </p:txBody>
      </p:sp>
      <p:pic>
        <p:nvPicPr>
          <p:cNvPr id="6" name="Bildplatzhalter 5" descr="Storebaelt Bridge - Design to Implementation.jpg"/>
          <p:cNvPicPr>
            <a:picLocks noChangeAspect="1"/>
          </p:cNvPicPr>
          <p:nvPr/>
        </p:nvPicPr>
        <p:blipFill>
          <a:blip r:embed="rId3" cstate="print"/>
          <a:srcRect l="12553" r="12553"/>
          <a:stretch>
            <a:fillRect/>
          </a:stretch>
        </p:blipFill>
        <p:spPr>
          <a:xfrm>
            <a:off x="533400" y="0"/>
            <a:ext cx="9372600" cy="3657600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3BA6505D-49C6-4837-AB70-9B658C969D0C}"/>
              </a:ext>
            </a:extLst>
          </p:cNvPr>
          <p:cNvSpPr/>
          <p:nvPr/>
        </p:nvSpPr>
        <p:spPr>
          <a:xfrm>
            <a:off x="519868" y="6573999"/>
            <a:ext cx="2063248" cy="15388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v1.0</a:t>
            </a:r>
          </a:p>
        </p:txBody>
      </p:sp>
      <p:sp>
        <p:nvSpPr>
          <p:cNvPr id="9" name="Rechteck 7">
            <a:extLst>
              <a:ext uri="{FF2B5EF4-FFF2-40B4-BE49-F238E27FC236}">
                <a16:creationId xmlns:a16="http://schemas.microsoft.com/office/drawing/2014/main" id="{64B7ED4B-8651-47AE-A5E8-95B02D90052C}"/>
              </a:ext>
            </a:extLst>
          </p:cNvPr>
          <p:cNvSpPr/>
          <p:nvPr/>
        </p:nvSpPr>
        <p:spPr>
          <a:xfrm>
            <a:off x="7194332" y="5638801"/>
            <a:ext cx="2364558" cy="830997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r" rtl="0"/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Roger E. Rhoades</a:t>
            </a:r>
          </a:p>
          <a:p>
            <a:pPr algn="r" rtl="0"/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Albion Academy</a:t>
            </a:r>
          </a:p>
          <a:p>
            <a:pPr algn="r" rtl="0"/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www.albionacademy.com</a:t>
            </a:r>
          </a:p>
        </p:txBody>
      </p:sp>
      <p:sp>
        <p:nvSpPr>
          <p:cNvPr id="10" name="Rechteck 7">
            <a:extLst>
              <a:ext uri="{FF2B5EF4-FFF2-40B4-BE49-F238E27FC236}">
                <a16:creationId xmlns:a16="http://schemas.microsoft.com/office/drawing/2014/main" id="{135BD5C4-70AE-4B6C-88C5-FE20863BC825}"/>
              </a:ext>
            </a:extLst>
          </p:cNvPr>
          <p:cNvSpPr/>
          <p:nvPr/>
        </p:nvSpPr>
        <p:spPr>
          <a:xfrm>
            <a:off x="8077200" y="6558610"/>
            <a:ext cx="1488824" cy="15388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r" rtl="0"/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Copyright 2019 ©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07C6BD-5870-4062-A13C-DE798066117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85800" y="5664191"/>
            <a:ext cx="2098181" cy="8128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485B5A-C0FA-341E-5174-7F98D750DFEF}"/>
              </a:ext>
            </a:extLst>
          </p:cNvPr>
          <p:cNvSpPr txBox="1"/>
          <p:nvPr/>
        </p:nvSpPr>
        <p:spPr>
          <a:xfrm rot="20143040">
            <a:off x="3946893" y="5043102"/>
            <a:ext cx="4084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NOT distribute!!!</a:t>
            </a:r>
          </a:p>
        </p:txBody>
      </p:sp>
    </p:spTree>
    <p:extLst>
      <p:ext uri="{BB962C8B-B14F-4D97-AF65-F5344CB8AC3E}">
        <p14:creationId xmlns:p14="http://schemas.microsoft.com/office/powerpoint/2010/main" val="26686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2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799488"/>
              </p:ext>
            </p:extLst>
          </p:nvPr>
        </p:nvGraphicFramePr>
        <p:xfrm>
          <a:off x="3420000" y="304800"/>
          <a:ext cx="6096000" cy="6228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noProof="0">
                          <a:solidFill>
                            <a:srgbClr val="003CD2"/>
                          </a:solidFill>
                        </a:rPr>
                        <a:t>Prerequisites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concepts, benefits, and tasks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Stakeholder concerns and collaboration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Influencing factors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Documentation and communication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guidelines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Solution strategy and target architecture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Solution development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assessment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390000" y="1639594"/>
            <a:ext cx="2894596" cy="3558891"/>
            <a:chOff x="541660" y="1942041"/>
            <a:chExt cx="2625800" cy="31408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41660" y="1942041"/>
              <a:ext cx="2625800" cy="3140850"/>
              <a:chOff x="541660" y="1942041"/>
              <a:chExt cx="2625800" cy="314085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691172" y="1942041"/>
                <a:ext cx="1978453" cy="4074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2400">
                    <a:latin typeface="Calibri" panose="020F0502020204030204" pitchFamily="34" charset="0"/>
                    <a:cs typeface="Calibri" panose="020F0502020204030204" pitchFamily="34" charset="0"/>
                  </a:rPr>
                  <a:t>Exam Questions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37989" cy="2613954"/>
              <a:chOff x="592730" y="2362200"/>
              <a:chExt cx="437989" cy="2613954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28638" cy="4889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37989" cy="5704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28638" cy="4889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28638" cy="4889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28638" cy="4889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37989" cy="570411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3317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3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9136062" cy="3309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3928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statements best apply to a queue?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two most correct answers.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The “enqueue” operation places a new element into the queue</a:t>
                      </a:r>
                      <a:endParaRPr lang="en-US" sz="18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646868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A queue works according to the LIFO principle</a:t>
                      </a:r>
                      <a:endParaRPr lang="en-US" sz="18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5179570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 stack and a queue use the same implementation approaches</a:t>
                      </a:r>
                      <a:endParaRPr lang="en-US" sz="18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38197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Many messaging systems are based on queues</a:t>
                      </a:r>
                      <a:endParaRPr lang="en-US" sz="18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17633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 queue is implemented using the SHA function</a:t>
                      </a:r>
                      <a:endParaRPr lang="en-US" sz="18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5F56DBBB-150A-4779-BA06-6A5125431B26}"/>
              </a:ext>
            </a:extLst>
          </p:cNvPr>
          <p:cNvGrpSpPr/>
          <p:nvPr/>
        </p:nvGrpSpPr>
        <p:grpSpPr>
          <a:xfrm>
            <a:off x="563566" y="1103532"/>
            <a:ext cx="444032" cy="2201108"/>
            <a:chOff x="563566" y="1103532"/>
            <a:chExt cx="444032" cy="220110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93E8A7-4AC3-49CC-AB79-71D17F44EFD6}"/>
                </a:ext>
              </a:extLst>
            </p:cNvPr>
            <p:cNvSpPr/>
            <p:nvPr/>
          </p:nvSpPr>
          <p:spPr>
            <a:xfrm>
              <a:off x="563566" y="1103532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A9FEA8-CE12-4E38-BDF3-1844C584FA03}"/>
                </a:ext>
              </a:extLst>
            </p:cNvPr>
            <p:cNvSpPr/>
            <p:nvPr/>
          </p:nvSpPr>
          <p:spPr>
            <a:xfrm>
              <a:off x="563566" y="2627532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0723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4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807393"/>
              </p:ext>
            </p:extLst>
          </p:nvPr>
        </p:nvGraphicFramePr>
        <p:xfrm>
          <a:off x="541338" y="438222"/>
          <a:ext cx="9059862" cy="3030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316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one of the following statements applies to testing?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rgbClr val="003CD2"/>
                          </a:solidFill>
                        </a:rPr>
                        <a:t>Select the single most correct answer.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17995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Testing proves that the system is error-free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The aim of testing is to detect system incorrect behavior at an early stage</a:t>
                      </a:r>
                      <a:endParaRPr lang="en-US" sz="1800">
                        <a:highlight>
                          <a:srgbClr val="00FF00"/>
                        </a:highlight>
                      </a:endParaRP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Tests ensure the usability of the system 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In contrast to functional requirements, quality requirements can’t be automatically tested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A494171-35F2-4CD9-A42F-68E6FD683A53}"/>
              </a:ext>
            </a:extLst>
          </p:cNvPr>
          <p:cNvSpPr/>
          <p:nvPr/>
        </p:nvSpPr>
        <p:spPr>
          <a:xfrm>
            <a:off x="579120" y="1685092"/>
            <a:ext cx="444032" cy="677108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rtl="0"/>
            <a:r>
              <a: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en-US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525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346804"/>
              </p:ext>
            </p:extLst>
          </p:nvPr>
        </p:nvGraphicFramePr>
        <p:xfrm>
          <a:off x="3420000" y="111360"/>
          <a:ext cx="6096000" cy="6594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rgbClr val="595959"/>
                          </a:solidFill>
                        </a:rPr>
                        <a:t>Prerequisites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noProof="0">
                          <a:solidFill>
                            <a:srgbClr val="003CD2"/>
                          </a:solidFill>
                        </a:rPr>
                        <a:t>Architecture concepts, benefits, and tasks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Stakeholder concerns and collaboration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Influencing factors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Documentation and communication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guidelines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Solution strategy and target architecture and target architecture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Solution development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assessment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530043" y="1912203"/>
            <a:ext cx="2637417" cy="3170688"/>
            <a:chOff x="530043" y="1912203"/>
            <a:chExt cx="2637417" cy="3170688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30043" y="1912203"/>
              <a:ext cx="2637417" cy="3170688"/>
              <a:chOff x="530043" y="1912203"/>
              <a:chExt cx="2637417" cy="3170688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530043" y="1912203"/>
                <a:ext cx="218098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2400">
                    <a:latin typeface="Calibri" panose="020F0502020204030204" pitchFamily="34" charset="0"/>
                    <a:cs typeface="Calibri" panose="020F0502020204030204" pitchFamily="34" charset="0"/>
                  </a:rPr>
                  <a:t>Exam Questions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82824" cy="2679029"/>
              <a:chOff x="592730" y="2362200"/>
              <a:chExt cx="482824" cy="267902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82824" cy="646331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82824" cy="646331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67621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6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908086"/>
              </p:ext>
            </p:extLst>
          </p:nvPr>
        </p:nvGraphicFramePr>
        <p:xfrm>
          <a:off x="541338" y="438222"/>
          <a:ext cx="9136062" cy="4632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3928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statements about software architecture are correct?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three most correct answers.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Design decisions that impact multiple components are an essential part of software architecture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Quality requirements are a major part of software architecture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There is no common or standard definition of software architecture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Software architecture includes the building blocks and their source code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Software architecture comprises the fundamental concepts of a system, including building blocks / components, dependencies / interfaces, and crosscutting concerns (concepts).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Software architecture is a description of the implementation details of the business functions of the system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484B2867-AA3C-45FA-8EC0-32E92CD6B98F}"/>
              </a:ext>
            </a:extLst>
          </p:cNvPr>
          <p:cNvGrpSpPr/>
          <p:nvPr/>
        </p:nvGrpSpPr>
        <p:grpSpPr>
          <a:xfrm>
            <a:off x="573496" y="1124842"/>
            <a:ext cx="449656" cy="2676466"/>
            <a:chOff x="573496" y="1124842"/>
            <a:chExt cx="449656" cy="267646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614F875-CBDB-4133-B34D-D1182B33DDB9}"/>
                </a:ext>
              </a:extLst>
            </p:cNvPr>
            <p:cNvSpPr/>
            <p:nvPr/>
          </p:nvSpPr>
          <p:spPr>
            <a:xfrm>
              <a:off x="579120" y="1124842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7BFCE42-1000-4A33-9EA5-4C5ABFDFE4DC}"/>
                </a:ext>
              </a:extLst>
            </p:cNvPr>
            <p:cNvSpPr/>
            <p:nvPr/>
          </p:nvSpPr>
          <p:spPr>
            <a:xfrm>
              <a:off x="573496" y="2247366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6471897-6219-416F-B7F7-665EB4A822D5}"/>
                </a:ext>
              </a:extLst>
            </p:cNvPr>
            <p:cNvSpPr/>
            <p:nvPr/>
          </p:nvSpPr>
          <p:spPr>
            <a:xfrm>
              <a:off x="573496" y="3124200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8692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3372D-3EA3-FAD3-26F4-69862BE7D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2301E6-F256-8C76-5253-1207BC78E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9DD0F-AB65-448B-A273-6C6F0B2AD6D5}" type="datetime1">
              <a:rPr lang="en-US" noProof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11.07.2025</a:t>
            </a:fld>
            <a:endParaRPr lang="en-US" noProof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50557-8BBE-0BF9-19D5-5FC0FE980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547A8-5EC4-A299-13A6-CDBE7950C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en-US" noProof="0" smtClean="0">
                <a:solidFill>
                  <a:prstClr val="black"/>
                </a:solidFill>
              </a:rPr>
              <a:pPr/>
              <a:t>7</a:t>
            </a:fld>
            <a:endParaRPr lang="en-US" noProof="0" dirty="0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08BEF08-1206-C25B-BD30-1B9815E03A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158439"/>
              </p:ext>
            </p:extLst>
          </p:nvPr>
        </p:nvGraphicFramePr>
        <p:xfrm>
          <a:off x="541338" y="438222"/>
          <a:ext cx="9136062" cy="305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3928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noProof="0" dirty="0">
                          <a:solidFill>
                            <a:srgbClr val="003CD2"/>
                          </a:solidFill>
                        </a:rPr>
                        <a:t>Which elements are found in most definitions of software architecture?</a:t>
                      </a:r>
                      <a:endParaRPr lang="en-US" b="1" noProof="0" dirty="0"/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3CD2"/>
                          </a:solidFill>
                          <a:latin typeface="Calibri Light"/>
                        </a:rPr>
                        <a:t>Select two of the following most appropriate answers.</a:t>
                      </a:r>
                      <a:endParaRPr lang="en-US" b="0" i="0" u="none" strike="noStrike" noProof="0" dirty="0">
                        <a:latin typeface="Calibri Light"/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>
                          <a:sym typeface="Wingdings" panose="05000000000000000000" pitchFamily="2" charset="2"/>
                        </a:rPr>
                        <a:t></a:t>
                      </a:r>
                      <a:endParaRPr lang="en-US" sz="18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/>
                        <a:t>The use of specific programming languages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/>
                        <a:t>Components and their relationships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/>
                        <a:t>Design principles of the user interface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/>
                        <a:t>Architectural decisions and their impact on the overall system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/>
                        <a:t>Test coverage and code quality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E6C0BC77-2C60-56BE-E139-9A0FBBEC60CF}"/>
              </a:ext>
            </a:extLst>
          </p:cNvPr>
          <p:cNvGrpSpPr/>
          <p:nvPr/>
        </p:nvGrpSpPr>
        <p:grpSpPr>
          <a:xfrm>
            <a:off x="538511" y="1516418"/>
            <a:ext cx="472227" cy="1680219"/>
            <a:chOff x="538511" y="1516418"/>
            <a:chExt cx="472227" cy="16802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5319F0C-6EE6-ABD5-87E6-707ABD1CB359}"/>
                </a:ext>
              </a:extLst>
            </p:cNvPr>
            <p:cNvSpPr/>
            <p:nvPr/>
          </p:nvSpPr>
          <p:spPr>
            <a:xfrm>
              <a:off x="560323" y="1516418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4400" noProof="0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 noProof="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5BAEC23-C203-7390-BC09-3DB7D2EAFAF1}"/>
                </a:ext>
              </a:extLst>
            </p:cNvPr>
            <p:cNvSpPr/>
            <p:nvPr/>
          </p:nvSpPr>
          <p:spPr>
            <a:xfrm>
              <a:off x="577612" y="2519529"/>
              <a:ext cx="65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endParaRPr lang="en-US" sz="4400" noProof="0" dirty="0">
                <a:solidFill>
                  <a:srgbClr val="00B05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417797D-0EC6-BC25-2C64-E019EE962ADB}"/>
                </a:ext>
              </a:extLst>
            </p:cNvPr>
            <p:cNvSpPr/>
            <p:nvPr/>
          </p:nvSpPr>
          <p:spPr>
            <a:xfrm>
              <a:off x="538511" y="2420792"/>
              <a:ext cx="472227" cy="67710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n-US" sz="4400" noProof="0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 noProof="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3135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8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388069"/>
              </p:ext>
            </p:extLst>
          </p:nvPr>
        </p:nvGraphicFramePr>
        <p:xfrm>
          <a:off x="541338" y="438222"/>
          <a:ext cx="9059862" cy="4302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858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What are the primary goals of software architecture?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Mark the following answers as “true” or “false”.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T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F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89064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To document and communicate the system components and implementation approaches, and generally make these understandable for the stakeholders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To design innovative technical solutions to ensure the system is future-proof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To explain how the software system will achieve the required quality requirements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To define design guidelines for those implementing the system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Ensure that the effort for the implementation, operation, and extension of the system is reduced throughout the system's entire lifecycle.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C56918B2-C694-4AEA-8E67-50F63ACA5612}"/>
              </a:ext>
            </a:extLst>
          </p:cNvPr>
          <p:cNvGrpSpPr/>
          <p:nvPr/>
        </p:nvGrpSpPr>
        <p:grpSpPr>
          <a:xfrm>
            <a:off x="560130" y="1525592"/>
            <a:ext cx="778264" cy="2966594"/>
            <a:chOff x="560130" y="1083018"/>
            <a:chExt cx="778264" cy="296659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F5EC75C-6C45-4F6B-BF43-325A4EBB6344}"/>
                </a:ext>
              </a:extLst>
            </p:cNvPr>
            <p:cNvSpPr/>
            <p:nvPr/>
          </p:nvSpPr>
          <p:spPr>
            <a:xfrm>
              <a:off x="579120" y="1083018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7226C81-7DF5-42C5-9916-01B97610ECEF}"/>
                </a:ext>
              </a:extLst>
            </p:cNvPr>
            <p:cNvSpPr/>
            <p:nvPr/>
          </p:nvSpPr>
          <p:spPr>
            <a:xfrm>
              <a:off x="979321" y="1843426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2557F7A-83F7-4675-A7F1-E8E649D496CF}"/>
                </a:ext>
              </a:extLst>
            </p:cNvPr>
            <p:cNvSpPr/>
            <p:nvPr/>
          </p:nvSpPr>
          <p:spPr>
            <a:xfrm>
              <a:off x="579120" y="2227488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12E97AD-3A02-4D35-A9A0-AAF8BE69D7F8}"/>
                </a:ext>
              </a:extLst>
            </p:cNvPr>
            <p:cNvSpPr/>
            <p:nvPr/>
          </p:nvSpPr>
          <p:spPr>
            <a:xfrm>
              <a:off x="579872" y="2971800"/>
              <a:ext cx="65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09FB016-CC8C-431B-8EFF-19357EA5B3EC}"/>
                </a:ext>
              </a:extLst>
            </p:cNvPr>
            <p:cNvSpPr/>
            <p:nvPr/>
          </p:nvSpPr>
          <p:spPr>
            <a:xfrm>
              <a:off x="560130" y="2941646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848AAB-BF87-44BF-938B-94BB825E7CF7}"/>
                </a:ext>
              </a:extLst>
            </p:cNvPr>
            <p:cNvSpPr/>
            <p:nvPr/>
          </p:nvSpPr>
          <p:spPr>
            <a:xfrm>
              <a:off x="577074" y="3372504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7903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9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24446"/>
              </p:ext>
            </p:extLst>
          </p:nvPr>
        </p:nvGraphicFramePr>
        <p:xfrm>
          <a:off x="541338" y="438222"/>
          <a:ext cx="9059862" cy="3864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What responsibilities does the architect have regarding requirements?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Mark the following answers as “true” or “false”.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T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F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27405193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To clarify requirements regarding their clarity, feasibility, etc. from the architect’s perspective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To define, prioritize, and document quality requirements and scenarios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Ensure that the functional requirements can be fulfilled by designing a suitable software architecture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Ensure that the quality requirements can be fulfilled by designing a suitable software architecture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99507776-F28F-484A-ACB7-57DBFAA80963}"/>
              </a:ext>
            </a:extLst>
          </p:cNvPr>
          <p:cNvGrpSpPr/>
          <p:nvPr/>
        </p:nvGrpSpPr>
        <p:grpSpPr>
          <a:xfrm>
            <a:off x="555108" y="1504726"/>
            <a:ext cx="783286" cy="2559630"/>
            <a:chOff x="555108" y="1456492"/>
            <a:chExt cx="783286" cy="255963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129B19C-D4CC-4E87-9F3D-4B149B475733}"/>
                </a:ext>
              </a:extLst>
            </p:cNvPr>
            <p:cNvSpPr/>
            <p:nvPr/>
          </p:nvSpPr>
          <p:spPr>
            <a:xfrm>
              <a:off x="579120" y="1456492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BE8D9DF-516E-49FE-9A78-0675FF2478D7}"/>
                </a:ext>
              </a:extLst>
            </p:cNvPr>
            <p:cNvSpPr/>
            <p:nvPr/>
          </p:nvSpPr>
          <p:spPr>
            <a:xfrm>
              <a:off x="979321" y="2215088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2FE69C-C6E3-41D4-A429-6A34B8B8D98F}"/>
                </a:ext>
              </a:extLst>
            </p:cNvPr>
            <p:cNvSpPr/>
            <p:nvPr/>
          </p:nvSpPr>
          <p:spPr>
            <a:xfrm>
              <a:off x="555108" y="3339014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CF43012-1F43-4FDC-BA0C-0FC07A3ED12B}"/>
                </a:ext>
              </a:extLst>
            </p:cNvPr>
            <p:cNvSpPr/>
            <p:nvPr/>
          </p:nvSpPr>
          <p:spPr>
            <a:xfrm>
              <a:off x="555108" y="2608141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B8FD398-E26F-9CF7-986A-2A99FE9D4482}"/>
              </a:ext>
            </a:extLst>
          </p:cNvPr>
          <p:cNvGrpSpPr/>
          <p:nvPr/>
        </p:nvGrpSpPr>
        <p:grpSpPr>
          <a:xfrm>
            <a:off x="568337" y="2396503"/>
            <a:ext cx="8884057" cy="2847927"/>
            <a:chOff x="568337" y="2396503"/>
            <a:chExt cx="8884057" cy="284792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8484073-D434-B9F6-F52F-D9A10931F8D2}"/>
                </a:ext>
              </a:extLst>
            </p:cNvPr>
            <p:cNvSpPr/>
            <p:nvPr/>
          </p:nvSpPr>
          <p:spPr>
            <a:xfrm>
              <a:off x="568337" y="4589972"/>
              <a:ext cx="8884057" cy="654458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b="1" err="1"/>
                <a:t>According</a:t>
              </a:r>
              <a:r>
                <a:rPr lang="de-DE" b="1"/>
                <a:t> </a:t>
              </a:r>
              <a:r>
                <a:rPr lang="de-DE" b="1" err="1"/>
                <a:t>to</a:t>
              </a:r>
              <a:r>
                <a:rPr lang="de-DE" b="1"/>
                <a:t> </a:t>
              </a:r>
              <a:r>
                <a:rPr lang="de-DE" b="1" err="1"/>
                <a:t>the</a:t>
              </a:r>
              <a:r>
                <a:rPr lang="de-DE" b="1"/>
                <a:t> </a:t>
              </a:r>
              <a:r>
                <a:rPr lang="de-DE" b="1" err="1"/>
                <a:t>curriculum</a:t>
              </a:r>
              <a:r>
                <a:rPr lang="de-DE" b="1"/>
                <a:t>, </a:t>
              </a:r>
              <a:r>
                <a:rPr lang="de-DE" b="1" err="1">
                  <a:ea typeface="+mn-lt"/>
                  <a:cs typeface="+mn-lt"/>
                </a:rPr>
                <a:t>coordinate</a:t>
              </a:r>
              <a:r>
                <a:rPr lang="de-DE" b="1">
                  <a:ea typeface="+mn-lt"/>
                  <a:cs typeface="+mn-lt"/>
                </a:rPr>
                <a:t> and </a:t>
              </a:r>
              <a:r>
                <a:rPr lang="de-DE" b="1" err="1">
                  <a:ea typeface="+mn-lt"/>
                  <a:cs typeface="+mn-lt"/>
                </a:rPr>
                <a:t>agree</a:t>
              </a:r>
              <a:r>
                <a:rPr lang="de-DE" b="1">
                  <a:ea typeface="+mn-lt"/>
                  <a:cs typeface="+mn-lt"/>
                </a:rPr>
                <a:t> on </a:t>
              </a:r>
              <a:r>
                <a:rPr lang="de-DE" b="1" err="1">
                  <a:ea typeface="+mn-lt"/>
                  <a:cs typeface="+mn-lt"/>
                </a:rPr>
                <a:t>any</a:t>
              </a:r>
              <a:r>
                <a:rPr lang="de-DE" b="1">
                  <a:ea typeface="+mn-lt"/>
                  <a:cs typeface="+mn-lt"/>
                </a:rPr>
                <a:t> </a:t>
              </a:r>
              <a:r>
                <a:rPr lang="de-DE" b="1" err="1">
                  <a:ea typeface="+mn-lt"/>
                  <a:cs typeface="+mn-lt"/>
                </a:rPr>
                <a:t>necessary</a:t>
              </a:r>
              <a:endParaRPr lang="en-US" b="1">
                <a:ea typeface="Calibri Light"/>
                <a:cs typeface="Calibri Light"/>
              </a:endParaRPr>
            </a:p>
            <a:p>
              <a:pPr algn="ctr"/>
              <a:r>
                <a:rPr lang="de-DE" b="1" err="1">
                  <a:ea typeface="+mn-lt"/>
                  <a:cs typeface="+mn-lt"/>
                </a:rPr>
                <a:t>refinements</a:t>
              </a:r>
              <a:r>
                <a:rPr lang="de-DE" b="1">
                  <a:ea typeface="+mn-lt"/>
                  <a:cs typeface="+mn-lt"/>
                </a:rPr>
                <a:t> </a:t>
              </a:r>
              <a:r>
                <a:rPr lang="de-DE" b="1" err="1">
                  <a:ea typeface="+mn-lt"/>
                  <a:cs typeface="+mn-lt"/>
                </a:rPr>
                <a:t>with</a:t>
              </a:r>
              <a:r>
                <a:rPr lang="de-DE" b="1">
                  <a:ea typeface="+mn-lt"/>
                  <a:cs typeface="+mn-lt"/>
                </a:rPr>
                <a:t> </a:t>
              </a:r>
              <a:r>
                <a:rPr lang="de-DE" b="1" err="1">
                  <a:ea typeface="+mn-lt"/>
                  <a:cs typeface="+mn-lt"/>
                </a:rPr>
                <a:t>the</a:t>
              </a:r>
              <a:r>
                <a:rPr lang="de-DE" b="1">
                  <a:ea typeface="+mn-lt"/>
                  <a:cs typeface="+mn-lt"/>
                </a:rPr>
                <a:t> </a:t>
              </a:r>
              <a:r>
                <a:rPr lang="de-DE" b="1" err="1">
                  <a:ea typeface="+mn-lt"/>
                  <a:cs typeface="+mn-lt"/>
                </a:rPr>
                <a:t>corresponding</a:t>
              </a:r>
              <a:r>
                <a:rPr lang="de-DE" b="1">
                  <a:ea typeface="+mn-lt"/>
                  <a:cs typeface="+mn-lt"/>
                </a:rPr>
                <a:t> </a:t>
              </a:r>
              <a:r>
                <a:rPr lang="de-DE" b="1" err="1">
                  <a:ea typeface="+mn-lt"/>
                  <a:cs typeface="+mn-lt"/>
                </a:rPr>
                <a:t>stakeholders</a:t>
              </a:r>
              <a:r>
                <a:rPr lang="de-DE" b="1">
                  <a:ea typeface="+mn-lt"/>
                  <a:cs typeface="+mn-lt"/>
                </a:rPr>
                <a:t>.</a:t>
              </a:r>
              <a:endParaRPr lang="de-DE" b="1">
                <a:ea typeface="Calibri Light"/>
                <a:cs typeface="Calibri Light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C743B65-366D-C251-50A7-7EC0BA179B39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V="1">
              <a:off x="568337" y="2396503"/>
              <a:ext cx="754344" cy="252069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1072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10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595046"/>
              </p:ext>
            </p:extLst>
          </p:nvPr>
        </p:nvGraphicFramePr>
        <p:xfrm>
          <a:off x="541338" y="438222"/>
          <a:ext cx="9059862" cy="3900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responsibilities does the software architect have? 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Mark the following answers as “true” or “false”.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T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F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6237274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Select and use applicable architectural patterns in the system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Define architecturally relevant integration tests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Implement cross-cutting concerns such as logging and persistence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Define interfaces between significant internal building blocks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Maintain the continuous integration environment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Select the programming language for the system, if not prespecified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ABA8B8CF-5404-4828-96E3-D5E76D037229}"/>
              </a:ext>
            </a:extLst>
          </p:cNvPr>
          <p:cNvGrpSpPr/>
          <p:nvPr/>
        </p:nvGrpSpPr>
        <p:grpSpPr>
          <a:xfrm>
            <a:off x="557294" y="1499482"/>
            <a:ext cx="773574" cy="2876393"/>
            <a:chOff x="557294" y="1083449"/>
            <a:chExt cx="773574" cy="287639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93FE3AB-E3C7-437F-B862-934B8F12F0A1}"/>
                </a:ext>
              </a:extLst>
            </p:cNvPr>
            <p:cNvSpPr/>
            <p:nvPr/>
          </p:nvSpPr>
          <p:spPr>
            <a:xfrm>
              <a:off x="579120" y="1083449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7B79599-73DD-4587-8394-621BBF364363}"/>
                </a:ext>
              </a:extLst>
            </p:cNvPr>
            <p:cNvSpPr/>
            <p:nvPr/>
          </p:nvSpPr>
          <p:spPr>
            <a:xfrm>
              <a:off x="971795" y="1567499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BCDA7E8-F661-49AF-86C0-680AFA1EF0B1}"/>
                </a:ext>
              </a:extLst>
            </p:cNvPr>
            <p:cNvSpPr/>
            <p:nvPr/>
          </p:nvSpPr>
          <p:spPr>
            <a:xfrm>
              <a:off x="568207" y="2403367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161815C-3BEB-4835-8474-A2148754A344}"/>
                </a:ext>
              </a:extLst>
            </p:cNvPr>
            <p:cNvSpPr/>
            <p:nvPr/>
          </p:nvSpPr>
          <p:spPr>
            <a:xfrm>
              <a:off x="557294" y="3282734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4F503BD-E557-4828-85F3-C2A4723FB655}"/>
                </a:ext>
              </a:extLst>
            </p:cNvPr>
            <p:cNvSpPr/>
            <p:nvPr/>
          </p:nvSpPr>
          <p:spPr>
            <a:xfrm>
              <a:off x="963608" y="2004944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F9F580-41BA-41CC-B200-4BEDB8DCB342}"/>
                </a:ext>
              </a:extLst>
            </p:cNvPr>
            <p:cNvSpPr/>
            <p:nvPr/>
          </p:nvSpPr>
          <p:spPr>
            <a:xfrm>
              <a:off x="966710" y="2891611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3780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September 17,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11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8591862" cy="3416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In which phase of the software development lifecycle should software architecture work be started?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single most correct answer.</a:t>
                      </a: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Requirements phase (possibly earlier)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Architecture phase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Design phase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Development phase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marL="0" marR="0" lvl="0" indent="0" algn="ctr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Maintenance phase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074293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E90A58A-A9DA-45FD-9836-6EAE71BBA554}"/>
              </a:ext>
            </a:extLst>
          </p:cNvPr>
          <p:cNvSpPr/>
          <p:nvPr/>
        </p:nvSpPr>
        <p:spPr>
          <a:xfrm>
            <a:off x="579120" y="1447800"/>
            <a:ext cx="444032" cy="677108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rtl="0"/>
            <a:r>
              <a: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en-US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142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September 17,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12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88966"/>
              </p:ext>
            </p:extLst>
          </p:nvPr>
        </p:nvGraphicFramePr>
        <p:xfrm>
          <a:off x="533400" y="438222"/>
          <a:ext cx="8591862" cy="297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 dirty="0">
                          <a:solidFill>
                            <a:srgbClr val="003CD2"/>
                          </a:solidFill>
                        </a:rPr>
                        <a:t>What is the architect’s responsibility regarding requirements for the software architecture or the software?</a:t>
                      </a: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two most correct answers.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To contradict the requirements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To identify inconsistencies in the requirements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To clarify the requirements, e.g., relating to implied consequences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 dirty="0"/>
                        <a:t>To supplement the requirements where necessary</a:t>
                      </a:r>
                      <a:endParaRPr lang="en-US" sz="180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BA392297-860C-49C8-B9A6-E6B1AD4C999A}"/>
              </a:ext>
            </a:extLst>
          </p:cNvPr>
          <p:cNvGrpSpPr/>
          <p:nvPr/>
        </p:nvGrpSpPr>
        <p:grpSpPr>
          <a:xfrm>
            <a:off x="578299" y="1902879"/>
            <a:ext cx="444853" cy="1602321"/>
            <a:chOff x="578299" y="1524000"/>
            <a:chExt cx="444853" cy="160232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524000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647D7B7-81B7-4A5A-A7DC-738091052D2D}"/>
                </a:ext>
              </a:extLst>
            </p:cNvPr>
            <p:cNvSpPr/>
            <p:nvPr/>
          </p:nvSpPr>
          <p:spPr>
            <a:xfrm>
              <a:off x="578299" y="1948703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B491398-A33D-B9FE-BB0E-12EBDDF97D05}"/>
                </a:ext>
              </a:extLst>
            </p:cNvPr>
            <p:cNvSpPr/>
            <p:nvPr/>
          </p:nvSpPr>
          <p:spPr>
            <a:xfrm>
              <a:off x="580416" y="2449213"/>
              <a:ext cx="65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948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5D8E5-38FE-9229-DF3D-C71A27470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CC595A-95E1-5C26-95C6-2B88D753D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65D63-2EAA-4DAC-A3CE-D6D8171BF813}" type="datetime1">
              <a:rPr lang="en-US" noProof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11.07.2025</a:t>
            </a:fld>
            <a:endParaRPr lang="en-US" noProof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DA041B-0FBD-000E-28B1-3048FE534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1D4CB-D722-25B0-C0B5-EAFE42BC4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en-US" noProof="0" smtClean="0">
                <a:solidFill>
                  <a:prstClr val="black"/>
                </a:solidFill>
              </a:rPr>
              <a:pPr/>
              <a:t>13</a:t>
            </a:fld>
            <a:endParaRPr lang="en-US" noProof="0" dirty="0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C5F8148-CB23-3D8B-88C6-00A6D38E7B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830067"/>
              </p:ext>
            </p:extLst>
          </p:nvPr>
        </p:nvGraphicFramePr>
        <p:xfrm>
          <a:off x="533400" y="438222"/>
          <a:ext cx="8591862" cy="2892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noProof="0" dirty="0">
                          <a:solidFill>
                            <a:srgbClr val="003CD2"/>
                          </a:solidFill>
                        </a:rPr>
                        <a:t>What is a key benefit of software architecture for stakeholders?</a:t>
                      </a:r>
                      <a:endParaRPr lang="en-US" b="1" noProof="0" dirty="0"/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3CD2"/>
                          </a:solidFill>
                          <a:latin typeface="Calibri Light"/>
                        </a:rPr>
                        <a:t>Select the one most appropriate answer.</a:t>
                      </a:r>
                      <a:endParaRPr lang="en-US" b="0" i="0" u="none" strike="noStrike" noProof="0" dirty="0">
                        <a:latin typeface="Calibri Light"/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>
                          <a:sym typeface="Wingdings" panose="05000000000000000000" pitchFamily="2" charset="2"/>
                        </a:rPr>
                        <a:t></a:t>
                      </a:r>
                      <a:endParaRPr lang="en-US" sz="18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/>
                        <a:t>It defines which programming language must be used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/>
                        <a:t>It automatically minimizes the energy consumption of applications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/>
                        <a:t>It ensures that all stakeholders can understand the structure and concepts of the system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/>
                        <a:t>It eliminates the need for project management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FFA922B4-00F3-92A3-38B6-42C5B6B0E4BE}"/>
              </a:ext>
            </a:extLst>
          </p:cNvPr>
          <p:cNvGrpSpPr/>
          <p:nvPr/>
        </p:nvGrpSpPr>
        <p:grpSpPr>
          <a:xfrm>
            <a:off x="578393" y="1913692"/>
            <a:ext cx="444032" cy="700983"/>
            <a:chOff x="578393" y="1913692"/>
            <a:chExt cx="444032" cy="70098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116511B-5377-5C32-C628-632A371DC33E}"/>
                </a:ext>
              </a:extLst>
            </p:cNvPr>
            <p:cNvSpPr/>
            <p:nvPr/>
          </p:nvSpPr>
          <p:spPr>
            <a:xfrm>
              <a:off x="579120" y="1913692"/>
              <a:ext cx="65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endParaRPr lang="en-US" sz="4400" noProof="0" dirty="0">
                <a:solidFill>
                  <a:srgbClr val="00B05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3A5A8C4-A9A0-6E56-665A-3CCEADD8108B}"/>
                </a:ext>
              </a:extLst>
            </p:cNvPr>
            <p:cNvSpPr/>
            <p:nvPr/>
          </p:nvSpPr>
          <p:spPr>
            <a:xfrm>
              <a:off x="578393" y="1937567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4400" noProof="0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 noProof="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5675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September 17,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14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337104"/>
              </p:ext>
            </p:extLst>
          </p:nvPr>
        </p:nvGraphicFramePr>
        <p:xfrm>
          <a:off x="541337" y="438222"/>
          <a:ext cx="9144324" cy="3080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3148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663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50177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811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353269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 dirty="0">
                          <a:solidFill>
                            <a:srgbClr val="003CD2"/>
                          </a:solidFill>
                        </a:rPr>
                        <a:t>What are the software architect’s responsibilities?</a:t>
                      </a:r>
                      <a:endParaRPr lang="en-US" b="1" dirty="0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003CD2"/>
                          </a:solidFill>
                        </a:rPr>
                        <a:t>Select the single most correct answer.</a:t>
                      </a: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Define requirements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Lead the development team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Support the implementation of the architecture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 dirty="0"/>
                        <a:t>Implement all cross-cutting concerns (e.g., logging, monitoring, security)</a:t>
                      </a:r>
                      <a:endParaRPr lang="en-US" sz="180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 dirty="0"/>
                        <a:t>Define test cases for architecture-related topics</a:t>
                      </a:r>
                      <a:endParaRPr lang="en-US" sz="180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E90A58A-A9DA-45FD-9836-6EAE71BBA554}"/>
              </a:ext>
            </a:extLst>
          </p:cNvPr>
          <p:cNvSpPr/>
          <p:nvPr/>
        </p:nvSpPr>
        <p:spPr>
          <a:xfrm>
            <a:off x="579120" y="1989892"/>
            <a:ext cx="444032" cy="677108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rtl="0"/>
            <a:r>
              <a: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en-US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973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15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720897"/>
              </p:ext>
            </p:extLst>
          </p:nvPr>
        </p:nvGraphicFramePr>
        <p:xfrm>
          <a:off x="3420000" y="304800"/>
          <a:ext cx="6096000" cy="6228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rgbClr val="595959"/>
                          </a:solidFill>
                        </a:rPr>
                        <a:t>Prerequisites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concepts, benefits, and tasks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noProof="0">
                          <a:solidFill>
                            <a:srgbClr val="003CD2"/>
                          </a:solidFill>
                        </a:rPr>
                        <a:t>Stakeholder concerns and collaboration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Influencing factors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Documentation and communication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guidelines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Solution strategy and target architecture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Solution development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assessment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533400" y="1942041"/>
            <a:ext cx="2634060" cy="3140850"/>
            <a:chOff x="533400" y="1942041"/>
            <a:chExt cx="2634060" cy="31408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33400" y="1942041"/>
              <a:ext cx="2634060" cy="3140850"/>
              <a:chOff x="533400" y="1942041"/>
              <a:chExt cx="2634060" cy="314085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533400" y="1942041"/>
                <a:ext cx="218098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2400">
                    <a:latin typeface="Calibri" panose="020F0502020204030204" pitchFamily="34" charset="0"/>
                    <a:cs typeface="Calibri" panose="020F0502020204030204" pitchFamily="34" charset="0"/>
                  </a:rPr>
                  <a:t>Exam Questions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82824" cy="2679029"/>
              <a:chOff x="592730" y="2362200"/>
              <a:chExt cx="482824" cy="267902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82824" cy="646331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82824" cy="646331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27246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16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628232"/>
              </p:ext>
            </p:extLst>
          </p:nvPr>
        </p:nvGraphicFramePr>
        <p:xfrm>
          <a:off x="457200" y="428803"/>
          <a:ext cx="9059862" cy="3817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316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statements best describe the working relationship between the architect and management?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two most correct answers.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The architect is responsible for estimating the development effort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The architect defines work packages (tasks to be done) based on the architecture structure, for example for each microservice or architecture layer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The architect supports the project manager with the definition of work packages (tasks to be done) and determining the corresponding implementation effort.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Architectural decisions can have a significant influence on the project, for example the organization of the project team, work packages, deadlines, etc.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E5D5F302-EB26-4F80-A1D9-F2FE62F06EB5}"/>
              </a:ext>
            </a:extLst>
          </p:cNvPr>
          <p:cNvGrpSpPr/>
          <p:nvPr/>
        </p:nvGrpSpPr>
        <p:grpSpPr>
          <a:xfrm>
            <a:off x="470078" y="2590800"/>
            <a:ext cx="507354" cy="1422546"/>
            <a:chOff x="483246" y="2609615"/>
            <a:chExt cx="507354" cy="142254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0D63492-0AA1-416B-A239-CCDE451E9CD1}"/>
                </a:ext>
              </a:extLst>
            </p:cNvPr>
            <p:cNvSpPr/>
            <p:nvPr/>
          </p:nvSpPr>
          <p:spPr>
            <a:xfrm>
              <a:off x="546568" y="2609615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D47A52D-E979-4B5B-BFB8-411B90DFD757}"/>
                </a:ext>
              </a:extLst>
            </p:cNvPr>
            <p:cNvSpPr/>
            <p:nvPr/>
          </p:nvSpPr>
          <p:spPr>
            <a:xfrm>
              <a:off x="483246" y="3355053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2216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17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428803"/>
          <a:ext cx="9059862" cy="338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316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statements best describe the working relationship between the architect and management?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single most correct answer.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The architect is responsible for the management of architecture-related risks, including the planning and implementation of the countermeasures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The architect identifies the architecture-related risks and negotiates with the project manager accordingly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7964879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marL="0" marR="0" lvl="0" indent="0" algn="ctr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The architecture-related risks are managed and maintained by the architect and the project-related risks are managed and maintained by the project manager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6738875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0D63492-0AA1-416B-A239-CCDE451E9CD1}"/>
              </a:ext>
            </a:extLst>
          </p:cNvPr>
          <p:cNvSpPr/>
          <p:nvPr/>
        </p:nvSpPr>
        <p:spPr>
          <a:xfrm>
            <a:off x="492730" y="2160222"/>
            <a:ext cx="444032" cy="677108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rtl="0"/>
            <a:r>
              <a: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en-US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027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September 17,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18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43399"/>
              </p:ext>
            </p:extLst>
          </p:nvPr>
        </p:nvGraphicFramePr>
        <p:xfrm>
          <a:off x="541338" y="438222"/>
          <a:ext cx="9059862" cy="333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of the following are the responsibility of the architect?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rtl="0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Mark the answers with Yes [Y] or No [N]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Y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N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7517096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Lead the developers.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Identify technical risks.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Specify how teams should be distributed to optimize the implementation.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Recommend the formation and distribution of </a:t>
                      </a:r>
                      <a:r>
                        <a:rPr lang="en-US" sz="2000"/>
                        <a:t>work packages (project tasks) based on the architecture.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677D473-82FB-46C1-A3C6-6017AA429EA0}"/>
              </a:ext>
            </a:extLst>
          </p:cNvPr>
          <p:cNvGrpSpPr/>
          <p:nvPr/>
        </p:nvGrpSpPr>
        <p:grpSpPr>
          <a:xfrm>
            <a:off x="572407" y="1543450"/>
            <a:ext cx="765987" cy="1972508"/>
            <a:chOff x="572407" y="1151692"/>
            <a:chExt cx="765987" cy="197250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568982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12E6B7-D7A4-478F-B214-7E7429CDC48E}"/>
                </a:ext>
              </a:extLst>
            </p:cNvPr>
            <p:cNvSpPr/>
            <p:nvPr/>
          </p:nvSpPr>
          <p:spPr>
            <a:xfrm>
              <a:off x="979321" y="1151692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46D7746-5DA8-46DC-811E-9D4CF70A7FE9}"/>
                </a:ext>
              </a:extLst>
            </p:cNvPr>
            <p:cNvSpPr/>
            <p:nvPr/>
          </p:nvSpPr>
          <p:spPr>
            <a:xfrm>
              <a:off x="572407" y="2447092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74E52D3-328F-4FAA-87C5-4F5F4C2E4C24}"/>
                </a:ext>
              </a:extLst>
            </p:cNvPr>
            <p:cNvSpPr/>
            <p:nvPr/>
          </p:nvSpPr>
          <p:spPr>
            <a:xfrm>
              <a:off x="972608" y="2035635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3350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19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751649"/>
              </p:ext>
            </p:extLst>
          </p:nvPr>
        </p:nvGraphicFramePr>
        <p:xfrm>
          <a:off x="3420000" y="304800"/>
          <a:ext cx="6096000" cy="6228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rgbClr val="595959"/>
                          </a:solidFill>
                        </a:rPr>
                        <a:t>Prerequisites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concepts, benefits, and tasks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Stakeholder concerns and collaboration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noProof="0">
                          <a:solidFill>
                            <a:srgbClr val="003CD2"/>
                          </a:solidFill>
                        </a:rPr>
                        <a:t>Influencing factors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Documentation and communication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guidelines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Solution strategy and target architecture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Solution development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assessment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533400" y="1942041"/>
            <a:ext cx="2634060" cy="3140850"/>
            <a:chOff x="533400" y="1942041"/>
            <a:chExt cx="2634060" cy="31408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33400" y="1942041"/>
              <a:ext cx="2634060" cy="3140850"/>
              <a:chOff x="533400" y="1942041"/>
              <a:chExt cx="2634060" cy="314085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533400" y="1942041"/>
                <a:ext cx="218098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2400">
                    <a:latin typeface="Calibri" panose="020F0502020204030204" pitchFamily="34" charset="0"/>
                    <a:cs typeface="Calibri" panose="020F0502020204030204" pitchFamily="34" charset="0"/>
                  </a:rPr>
                  <a:t>Exam Questions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82824" cy="2679029"/>
              <a:chOff x="592730" y="2362200"/>
              <a:chExt cx="482824" cy="267902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82824" cy="646331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82824" cy="646331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950699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20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139324"/>
              </p:ext>
            </p:extLst>
          </p:nvPr>
        </p:nvGraphicFramePr>
        <p:xfrm>
          <a:off x="541338" y="438222"/>
          <a:ext cx="9059862" cy="4047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316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What are the consequences of Conway’s law?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three most correct answers.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Complex organizations tend to create complex software architectures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Everything that can go wrong will go wrong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Communication barriers between teams can influence the software architecture solution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The complexity of integrated circuits doubles every 24 months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Three teams are necessary to create the architecture of a three-pass compiler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Software systems tend to reflect the internal communication structure of the company rather than the needs of the  system’s users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76B63AD3-1908-4DB6-B59C-3E60EEBA50A7}"/>
              </a:ext>
            </a:extLst>
          </p:cNvPr>
          <p:cNvGrpSpPr/>
          <p:nvPr/>
        </p:nvGrpSpPr>
        <p:grpSpPr>
          <a:xfrm>
            <a:off x="562940" y="1083449"/>
            <a:ext cx="460212" cy="3175059"/>
            <a:chOff x="562940" y="1083449"/>
            <a:chExt cx="460212" cy="31750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B2C24D1-2C71-4379-A8D0-3F318F5524D4}"/>
                </a:ext>
              </a:extLst>
            </p:cNvPr>
            <p:cNvSpPr/>
            <p:nvPr/>
          </p:nvSpPr>
          <p:spPr>
            <a:xfrm>
              <a:off x="579120" y="1083449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29C0BB4-FE77-408C-80C4-97431AB486C6}"/>
                </a:ext>
              </a:extLst>
            </p:cNvPr>
            <p:cNvSpPr/>
            <p:nvPr/>
          </p:nvSpPr>
          <p:spPr>
            <a:xfrm>
              <a:off x="571030" y="1969911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E457E25-B940-4CE5-96F5-69B0060159B5}"/>
                </a:ext>
              </a:extLst>
            </p:cNvPr>
            <p:cNvSpPr/>
            <p:nvPr/>
          </p:nvSpPr>
          <p:spPr>
            <a:xfrm>
              <a:off x="562940" y="3581400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4221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21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688532"/>
              </p:ext>
            </p:extLst>
          </p:nvPr>
        </p:nvGraphicFramePr>
        <p:xfrm>
          <a:off x="541338" y="438222"/>
          <a:ext cx="9059862" cy="410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of the following answers regarding quality requirements are correct?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Mark the following answers as “true” or “false”.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T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F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0171749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The implementation of requirements for high performance typically leads to higher project costs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A highly configurable system increases security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High availability increases the functional correctness of the system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High performance can contribute to better usability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High performance leads to better maintainability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8920C9BD-6A60-4C50-BBBB-8DE0AAC5A521}"/>
              </a:ext>
            </a:extLst>
          </p:cNvPr>
          <p:cNvGrpSpPr/>
          <p:nvPr/>
        </p:nvGrpSpPr>
        <p:grpSpPr>
          <a:xfrm>
            <a:off x="568634" y="1859376"/>
            <a:ext cx="744288" cy="2788824"/>
            <a:chOff x="568634" y="1420051"/>
            <a:chExt cx="744288" cy="278882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0249070-E306-4F6F-B688-203714A0B81C}"/>
                </a:ext>
              </a:extLst>
            </p:cNvPr>
            <p:cNvSpPr/>
            <p:nvPr/>
          </p:nvSpPr>
          <p:spPr>
            <a:xfrm>
              <a:off x="568634" y="1420051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717E7F6-A85F-4134-8F69-1593B6D1C58D}"/>
                </a:ext>
              </a:extLst>
            </p:cNvPr>
            <p:cNvSpPr/>
            <p:nvPr/>
          </p:nvSpPr>
          <p:spPr>
            <a:xfrm>
              <a:off x="950462" y="2214305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F83724D-CBB4-4899-9DCB-6FE98DD34167}"/>
                </a:ext>
              </a:extLst>
            </p:cNvPr>
            <p:cNvSpPr/>
            <p:nvPr/>
          </p:nvSpPr>
          <p:spPr>
            <a:xfrm>
              <a:off x="953849" y="2654066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B47F195-E25A-44F2-993A-E316A3FEDABF}"/>
                </a:ext>
              </a:extLst>
            </p:cNvPr>
            <p:cNvSpPr/>
            <p:nvPr/>
          </p:nvSpPr>
          <p:spPr>
            <a:xfrm>
              <a:off x="950462" y="3531767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E8E86A7-27D1-46B3-B83D-CFB2AFC87152}"/>
                </a:ext>
              </a:extLst>
            </p:cNvPr>
            <p:cNvSpPr/>
            <p:nvPr/>
          </p:nvSpPr>
          <p:spPr>
            <a:xfrm>
              <a:off x="568634" y="3042313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9912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22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9059862" cy="3513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of the following answers regarding quality requirements are correct?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Mark the following answers as “true” or “false”.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T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F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2408640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The automatic provisioning of multiple server instances can increase both the scalability and the reliability of the system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A flexible, customizable system reduces the testing effort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The implementation of high security requirements generally reduces the performance efficiency of the system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0C54B4B0-B64E-4824-AD11-CEE4E9D3D2EF}"/>
              </a:ext>
            </a:extLst>
          </p:cNvPr>
          <p:cNvGrpSpPr/>
          <p:nvPr/>
        </p:nvGrpSpPr>
        <p:grpSpPr>
          <a:xfrm>
            <a:off x="543631" y="1866611"/>
            <a:ext cx="781292" cy="1867189"/>
            <a:chOff x="543631" y="1413837"/>
            <a:chExt cx="781292" cy="186718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0414AA1-0A8B-4A8E-B0BC-58318C683755}"/>
                </a:ext>
              </a:extLst>
            </p:cNvPr>
            <p:cNvSpPr/>
            <p:nvPr/>
          </p:nvSpPr>
          <p:spPr>
            <a:xfrm>
              <a:off x="543631" y="1413837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CB1C97F-8628-4249-A653-AC6E14910E79}"/>
                </a:ext>
              </a:extLst>
            </p:cNvPr>
            <p:cNvSpPr/>
            <p:nvPr/>
          </p:nvSpPr>
          <p:spPr>
            <a:xfrm>
              <a:off x="965850" y="2207787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8B0DF8C-11E6-4387-AEBF-528667B09591}"/>
                </a:ext>
              </a:extLst>
            </p:cNvPr>
            <p:cNvSpPr/>
            <p:nvPr/>
          </p:nvSpPr>
          <p:spPr>
            <a:xfrm>
              <a:off x="543631" y="2603918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6516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September 17,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23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9059862" cy="2612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9609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5922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47866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80351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276114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quality attributes typically have a positive impact on each other?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two most correct answers.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Security &amp; Usability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Configurability &amp; Performance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Performance &amp; Usability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Reliability &amp; Scalability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4A4D6370-5075-2D9E-F13C-91DF9D535242}"/>
              </a:ext>
            </a:extLst>
          </p:cNvPr>
          <p:cNvGrpSpPr/>
          <p:nvPr/>
        </p:nvGrpSpPr>
        <p:grpSpPr>
          <a:xfrm>
            <a:off x="586036" y="1986050"/>
            <a:ext cx="445822" cy="1098240"/>
            <a:chOff x="586036" y="1986050"/>
            <a:chExt cx="445822" cy="109824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FA6FDC2-4B10-4662-8B13-0D69ABFB2A01}"/>
                </a:ext>
              </a:extLst>
            </p:cNvPr>
            <p:cNvSpPr/>
            <p:nvPr/>
          </p:nvSpPr>
          <p:spPr>
            <a:xfrm>
              <a:off x="587826" y="2407182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058A8C1-EE05-BD05-B59C-B620BDB023FA}"/>
                </a:ext>
              </a:extLst>
            </p:cNvPr>
            <p:cNvSpPr/>
            <p:nvPr/>
          </p:nvSpPr>
          <p:spPr>
            <a:xfrm>
              <a:off x="586036" y="1986050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6617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September 17,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24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9059862" cy="470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influences must be implemented, or complied with, in the architecture?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Mark the answers with Yes [Y] or No [N]</a:t>
                      </a: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Y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N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1826883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Quality requirements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The architect’s own preferences for certain technologies or solutions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Legal factors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Stakeholder concerns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Enterprise architecture principles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The latest technological trends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G.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Budgetary constraints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2675465"/>
                  </a:ext>
                </a:extLst>
              </a:tr>
            </a:tbl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74B4BE62-12BA-41D6-B29B-9B2F5D97A145}"/>
              </a:ext>
            </a:extLst>
          </p:cNvPr>
          <p:cNvGrpSpPr/>
          <p:nvPr/>
        </p:nvGrpSpPr>
        <p:grpSpPr>
          <a:xfrm>
            <a:off x="572880" y="1846730"/>
            <a:ext cx="830922" cy="3334870"/>
            <a:chOff x="572880" y="1450407"/>
            <a:chExt cx="830922" cy="333487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46BBA46-5636-4DE9-87D5-B6543B8E4DB8}"/>
                </a:ext>
              </a:extLst>
            </p:cNvPr>
            <p:cNvGrpSpPr/>
            <p:nvPr/>
          </p:nvGrpSpPr>
          <p:grpSpPr>
            <a:xfrm>
              <a:off x="572880" y="1450407"/>
              <a:ext cx="450490" cy="3334870"/>
              <a:chOff x="572880" y="1447800"/>
              <a:chExt cx="450490" cy="333487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E90A58A-A9DA-45FD-9836-6EAE71BBA554}"/>
                  </a:ext>
                </a:extLst>
              </p:cNvPr>
              <p:cNvSpPr/>
              <p:nvPr/>
            </p:nvSpPr>
            <p:spPr>
              <a:xfrm>
                <a:off x="579120" y="1447800"/>
                <a:ext cx="444032" cy="677108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rtl="0"/>
                <a:r>
                  <a:rPr lang="en-US" sz="440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</a:t>
                </a:r>
                <a:endPara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2BDF927-AEEE-40C4-AD1C-B68CFAB4E5BC}"/>
                  </a:ext>
                </a:extLst>
              </p:cNvPr>
              <p:cNvSpPr/>
              <p:nvPr/>
            </p:nvSpPr>
            <p:spPr>
              <a:xfrm>
                <a:off x="579229" y="2330982"/>
                <a:ext cx="444032" cy="677108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rtl="0"/>
                <a:r>
                  <a:rPr lang="en-US" sz="440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</a:t>
                </a:r>
                <a:endPara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3A02B23-1BC0-47A3-A2FA-F5A2DA298935}"/>
                  </a:ext>
                </a:extLst>
              </p:cNvPr>
              <p:cNvSpPr/>
              <p:nvPr/>
            </p:nvSpPr>
            <p:spPr>
              <a:xfrm>
                <a:off x="579338" y="3214164"/>
                <a:ext cx="444032" cy="677108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rtl="0"/>
                <a:r>
                  <a:rPr lang="en-US" sz="440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</a:t>
                </a:r>
                <a:endPara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EA5AD2E-1DC3-4CC0-ABC9-FA105D5F05F6}"/>
                  </a:ext>
                </a:extLst>
              </p:cNvPr>
              <p:cNvSpPr/>
              <p:nvPr/>
            </p:nvSpPr>
            <p:spPr>
              <a:xfrm>
                <a:off x="572880" y="4105562"/>
                <a:ext cx="444032" cy="677108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rtl="0"/>
                <a:r>
                  <a:rPr lang="en-US" sz="440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</a:t>
                </a:r>
                <a:endPara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6CCD2B2-BCB8-4FB2-907E-68EB5B508403}"/>
                </a:ext>
              </a:extLst>
            </p:cNvPr>
            <p:cNvSpPr/>
            <p:nvPr/>
          </p:nvSpPr>
          <p:spPr>
            <a:xfrm>
              <a:off x="914400" y="1958133"/>
              <a:ext cx="482824" cy="646331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rtl="0"/>
              <a:r>
                <a:rPr lang="en-US" sz="3600">
                  <a:solidFill>
                    <a:srgbClr val="FF0000"/>
                  </a:solidFill>
                  <a:sym typeface="Wingdings 2" panose="05020102010507070707" pitchFamily="18" charset="2"/>
                </a:rPr>
                <a:t></a:t>
              </a:r>
              <a:endParaRPr lang="en-US" sz="3600">
                <a:solidFill>
                  <a:srgbClr val="FF0000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F4C6DCB-0274-4DFF-A125-613D74303C89}"/>
                </a:ext>
              </a:extLst>
            </p:cNvPr>
            <p:cNvSpPr/>
            <p:nvPr/>
          </p:nvSpPr>
          <p:spPr>
            <a:xfrm>
              <a:off x="914400" y="3733800"/>
              <a:ext cx="482824" cy="646331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rtl="0"/>
              <a:r>
                <a:rPr lang="en-US" sz="3600">
                  <a:solidFill>
                    <a:srgbClr val="FF0000"/>
                  </a:solidFill>
                  <a:sym typeface="Wingdings 2" panose="05020102010507070707" pitchFamily="18" charset="2"/>
                </a:rPr>
                <a:t></a:t>
              </a:r>
              <a:endParaRPr lang="en-US" sz="3600">
                <a:solidFill>
                  <a:srgbClr val="FF0000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F438A60-66D1-4277-B2A6-01CA1BDD3499}"/>
                </a:ext>
              </a:extLst>
            </p:cNvPr>
            <p:cNvSpPr/>
            <p:nvPr/>
          </p:nvSpPr>
          <p:spPr>
            <a:xfrm>
              <a:off x="920978" y="2856702"/>
              <a:ext cx="482824" cy="646331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rtl="0"/>
              <a:r>
                <a:rPr lang="en-US" sz="3600">
                  <a:solidFill>
                    <a:srgbClr val="FF0000"/>
                  </a:solidFill>
                  <a:sym typeface="Wingdings 2" panose="05020102010507070707" pitchFamily="18" charset="2"/>
                </a:rPr>
                <a:t></a:t>
              </a:r>
              <a:endParaRPr lang="en-US" sz="360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6019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25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45211"/>
              </p:ext>
            </p:extLst>
          </p:nvPr>
        </p:nvGraphicFramePr>
        <p:xfrm>
          <a:off x="3420000" y="304800"/>
          <a:ext cx="6096000" cy="6228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rgbClr val="595959"/>
                          </a:solidFill>
                        </a:rPr>
                        <a:t>Prerequisites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concepts, benefits, and tasks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Stakeholder concerns and collaboration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Influencing factors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noProof="0">
                          <a:solidFill>
                            <a:srgbClr val="003CD2"/>
                          </a:solidFill>
                        </a:rPr>
                        <a:t>Documentation and communication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guidelines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Solution strategy and target architecture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Solution development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assessment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533400" y="1942041"/>
            <a:ext cx="2634060" cy="3140850"/>
            <a:chOff x="533400" y="1942041"/>
            <a:chExt cx="2634060" cy="31408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33400" y="1942041"/>
              <a:ext cx="2634060" cy="3140850"/>
              <a:chOff x="533400" y="1942041"/>
              <a:chExt cx="2634060" cy="314085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533400" y="1942041"/>
                <a:ext cx="218098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2400">
                    <a:latin typeface="Calibri" panose="020F0502020204030204" pitchFamily="34" charset="0"/>
                    <a:cs typeface="Calibri" panose="020F0502020204030204" pitchFamily="34" charset="0"/>
                  </a:rPr>
                  <a:t>Exam Questions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82824" cy="2679029"/>
              <a:chOff x="592730" y="2362200"/>
              <a:chExt cx="482824" cy="267902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82824" cy="646331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82824" cy="646331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800558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September 17,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26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8591862" cy="348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Complete the phrase: Documentation and communication must …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single most correct answer.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… correspond to a given form.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… be complete.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… include </a:t>
                      </a:r>
                      <a:r>
                        <a:rPr lang="de-DE" sz="2000"/>
                        <a:t>Context, Building Block, Deployment, and </a:t>
                      </a:r>
                      <a:r>
                        <a:rPr lang="de-DE" sz="2000" err="1"/>
                        <a:t>Runtime</a:t>
                      </a:r>
                      <a:r>
                        <a:rPr lang="de-DE" sz="2000"/>
                        <a:t> </a:t>
                      </a:r>
                      <a:r>
                        <a:rPr lang="de-DE" sz="2000" err="1"/>
                        <a:t>views</a:t>
                      </a:r>
                      <a:r>
                        <a:rPr lang="de-DE" sz="2000"/>
                        <a:t>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…  be adapted to address different stakeholders. 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… be confidential.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… strictly adhere to a given documentation template.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E90A58A-A9DA-45FD-9836-6EAE71BBA554}"/>
              </a:ext>
            </a:extLst>
          </p:cNvPr>
          <p:cNvSpPr/>
          <p:nvPr/>
        </p:nvSpPr>
        <p:spPr>
          <a:xfrm>
            <a:off x="579120" y="2399924"/>
            <a:ext cx="444032" cy="677108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rtl="0"/>
            <a:r>
              <a: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en-US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644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27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617579"/>
              </p:ext>
            </p:extLst>
          </p:nvPr>
        </p:nvGraphicFramePr>
        <p:xfrm>
          <a:off x="541339" y="438222"/>
          <a:ext cx="9212261" cy="3900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6055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3211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6055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9816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9016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7482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980626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of the following can be described about blackboxes?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Mark the following answers as “true” or “false”.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T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F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5454607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Functionality that is implemented by the blackbox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Which quality requirements will be fulfilled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Purpose and responsibilities of the blackbox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Structure of the internal building blocks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Interfaces with other building blocks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Implementation details, e.g., algorithms or source code for each building block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7E7A6889-422C-40D5-8162-A83A27D290D8}"/>
              </a:ext>
            </a:extLst>
          </p:cNvPr>
          <p:cNvGrpSpPr/>
          <p:nvPr/>
        </p:nvGrpSpPr>
        <p:grpSpPr>
          <a:xfrm>
            <a:off x="565196" y="1518071"/>
            <a:ext cx="769435" cy="2901529"/>
            <a:chOff x="565196" y="1094738"/>
            <a:chExt cx="769435" cy="290152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CC5ECEB-F4B9-4897-9B42-C7F53858274F}"/>
                </a:ext>
              </a:extLst>
            </p:cNvPr>
            <p:cNvSpPr/>
            <p:nvPr/>
          </p:nvSpPr>
          <p:spPr>
            <a:xfrm>
              <a:off x="575357" y="1094738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EE93F38-CC32-4B5A-BBCC-54CD2030F5A3}"/>
                </a:ext>
              </a:extLst>
            </p:cNvPr>
            <p:cNvSpPr/>
            <p:nvPr/>
          </p:nvSpPr>
          <p:spPr>
            <a:xfrm>
              <a:off x="975558" y="2439566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79ADF32-4B1D-46D2-9A7E-8E2EC4633836}"/>
                </a:ext>
              </a:extLst>
            </p:cNvPr>
            <p:cNvSpPr/>
            <p:nvPr/>
          </p:nvSpPr>
          <p:spPr>
            <a:xfrm>
              <a:off x="971785" y="3319159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0B722CC-DCBF-458E-97C7-E4BBB4B5DC40}"/>
                </a:ext>
              </a:extLst>
            </p:cNvPr>
            <p:cNvSpPr/>
            <p:nvPr/>
          </p:nvSpPr>
          <p:spPr>
            <a:xfrm>
              <a:off x="571970" y="1532692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B1282E6-27AF-4687-87DB-5A32616B1BC6}"/>
                </a:ext>
              </a:extLst>
            </p:cNvPr>
            <p:cNvSpPr/>
            <p:nvPr/>
          </p:nvSpPr>
          <p:spPr>
            <a:xfrm>
              <a:off x="568583" y="1970646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847659-A851-4C70-9388-6457FCFF220C}"/>
                </a:ext>
              </a:extLst>
            </p:cNvPr>
            <p:cNvSpPr/>
            <p:nvPr/>
          </p:nvSpPr>
          <p:spPr>
            <a:xfrm>
              <a:off x="565196" y="2835618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2214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28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332617"/>
              </p:ext>
            </p:extLst>
          </p:nvPr>
        </p:nvGraphicFramePr>
        <p:xfrm>
          <a:off x="533400" y="438222"/>
          <a:ext cx="9059862" cy="346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of the following topics can be depicted in the context view?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Mark the following answers as “true” or “false”.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T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F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0820700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Conceptual overview of the system from an external perspective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Relevant aspects of the target architecture from an external perspective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Users that interact with the system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External system interfaces, including the data that is transported over them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System responsibilities and boundaries with neighboring systems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B81CE84F-01FE-40CE-B204-EC31656B2DA3}"/>
              </a:ext>
            </a:extLst>
          </p:cNvPr>
          <p:cNvGrpSpPr/>
          <p:nvPr/>
        </p:nvGrpSpPr>
        <p:grpSpPr>
          <a:xfrm>
            <a:off x="566139" y="1479501"/>
            <a:ext cx="457013" cy="2461329"/>
            <a:chOff x="566139" y="1079686"/>
            <a:chExt cx="457013" cy="246132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F45F623-740E-479F-B6BA-1C74D805E092}"/>
                </a:ext>
              </a:extLst>
            </p:cNvPr>
            <p:cNvSpPr/>
            <p:nvPr/>
          </p:nvSpPr>
          <p:spPr>
            <a:xfrm>
              <a:off x="579120" y="1079686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05CA177-12BB-4510-B8AE-206D42B7AED1}"/>
                </a:ext>
              </a:extLst>
            </p:cNvPr>
            <p:cNvSpPr/>
            <p:nvPr/>
          </p:nvSpPr>
          <p:spPr>
            <a:xfrm>
              <a:off x="567267" y="1525166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16386F-BD8F-4EA5-BE76-E659BF0F0553}"/>
                </a:ext>
              </a:extLst>
            </p:cNvPr>
            <p:cNvSpPr/>
            <p:nvPr/>
          </p:nvSpPr>
          <p:spPr>
            <a:xfrm>
              <a:off x="570466" y="1959357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F28623A-5319-416F-B3F0-5B568E6F2664}"/>
                </a:ext>
              </a:extLst>
            </p:cNvPr>
            <p:cNvSpPr/>
            <p:nvPr/>
          </p:nvSpPr>
          <p:spPr>
            <a:xfrm>
              <a:off x="566139" y="2401074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F527AD1-9E39-487D-AD69-298BCD58D661}"/>
                </a:ext>
              </a:extLst>
            </p:cNvPr>
            <p:cNvSpPr/>
            <p:nvPr/>
          </p:nvSpPr>
          <p:spPr>
            <a:xfrm>
              <a:off x="573101" y="2863907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9750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29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819001"/>
              </p:ext>
            </p:extLst>
          </p:nvPr>
        </p:nvGraphicFramePr>
        <p:xfrm>
          <a:off x="541338" y="438222"/>
          <a:ext cx="8591862" cy="297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of the following UML diagram types are typically used to describe the building block view?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two most correct answers.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Component diagrams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Deployment diagrams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Class diagrams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State diagrams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85E43175-BBF7-4C65-8138-2E26BE5D5BD7}"/>
              </a:ext>
            </a:extLst>
          </p:cNvPr>
          <p:cNvGrpSpPr/>
          <p:nvPr/>
        </p:nvGrpSpPr>
        <p:grpSpPr>
          <a:xfrm>
            <a:off x="556918" y="1448026"/>
            <a:ext cx="447419" cy="1550115"/>
            <a:chOff x="556918" y="1448026"/>
            <a:chExt cx="447419" cy="155011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3818527-8FE5-4B0B-BE54-6F454AECA884}"/>
                </a:ext>
              </a:extLst>
            </p:cNvPr>
            <p:cNvSpPr/>
            <p:nvPr/>
          </p:nvSpPr>
          <p:spPr>
            <a:xfrm>
              <a:off x="560305" y="1448026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8E03618-3264-4900-A6AA-B876F9C13D68}"/>
                </a:ext>
              </a:extLst>
            </p:cNvPr>
            <p:cNvSpPr/>
            <p:nvPr/>
          </p:nvSpPr>
          <p:spPr>
            <a:xfrm>
              <a:off x="556918" y="2321033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5657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30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8591862" cy="3416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of the following UML diagram types can be used to depict the implementation of a use case?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two most correct answers.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Use case diagram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Sequence diagram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Activity diagram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Component diagram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Communication diagram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96040B36-44C6-4C3B-90BA-48B90955D055}"/>
              </a:ext>
            </a:extLst>
          </p:cNvPr>
          <p:cNvGrpSpPr/>
          <p:nvPr/>
        </p:nvGrpSpPr>
        <p:grpSpPr>
          <a:xfrm>
            <a:off x="570086" y="1886411"/>
            <a:ext cx="445540" cy="1104204"/>
            <a:chOff x="570086" y="1886411"/>
            <a:chExt cx="445540" cy="110420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401F7A4-95AA-469C-A394-298F1E449B6F}"/>
                </a:ext>
              </a:extLst>
            </p:cNvPr>
            <p:cNvSpPr/>
            <p:nvPr/>
          </p:nvSpPr>
          <p:spPr>
            <a:xfrm>
              <a:off x="571594" y="1886411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F621B0A-E7E8-49F5-BCC8-754707FD8A01}"/>
                </a:ext>
              </a:extLst>
            </p:cNvPr>
            <p:cNvSpPr/>
            <p:nvPr/>
          </p:nvSpPr>
          <p:spPr>
            <a:xfrm>
              <a:off x="570086" y="2313507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109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31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9059862" cy="5142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of the following terms are the most common view representations in software architecture (according to iSAQB)?</a:t>
                      </a: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Mark the following answers as “true” or “false”.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T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F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0437570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Communication view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Building block view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Quality view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Requirements view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Deployment view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Context view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G.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Interview 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7964879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H.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Data view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4242658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19F2D754-5AB2-478A-A6E3-376C52793849}"/>
              </a:ext>
            </a:extLst>
          </p:cNvPr>
          <p:cNvGrpSpPr/>
          <p:nvPr/>
        </p:nvGrpSpPr>
        <p:grpSpPr>
          <a:xfrm>
            <a:off x="562940" y="1905000"/>
            <a:ext cx="771681" cy="3748400"/>
            <a:chOff x="562940" y="1497885"/>
            <a:chExt cx="771681" cy="37484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C5AFF78-94FA-48F6-A6FE-DCFE9B9BD66A}"/>
                </a:ext>
              </a:extLst>
            </p:cNvPr>
            <p:cNvSpPr/>
            <p:nvPr/>
          </p:nvSpPr>
          <p:spPr>
            <a:xfrm>
              <a:off x="564068" y="1887351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6EF4261-7683-42FA-BF5E-30B41CEB3CFC}"/>
                </a:ext>
              </a:extLst>
            </p:cNvPr>
            <p:cNvSpPr/>
            <p:nvPr/>
          </p:nvSpPr>
          <p:spPr>
            <a:xfrm>
              <a:off x="971795" y="1497885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6407048-14CF-41A6-94B3-5A5B96986B3E}"/>
                </a:ext>
              </a:extLst>
            </p:cNvPr>
            <p:cNvSpPr/>
            <p:nvPr/>
          </p:nvSpPr>
          <p:spPr>
            <a:xfrm>
              <a:off x="563504" y="3197803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89E1B3C-F06E-4222-8009-2E91B6D74968}"/>
                </a:ext>
              </a:extLst>
            </p:cNvPr>
            <p:cNvSpPr/>
            <p:nvPr/>
          </p:nvSpPr>
          <p:spPr>
            <a:xfrm>
              <a:off x="562940" y="3635022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6E06C25-3F9E-40E2-B943-1D7505656006}"/>
                </a:ext>
              </a:extLst>
            </p:cNvPr>
            <p:cNvSpPr/>
            <p:nvPr/>
          </p:nvSpPr>
          <p:spPr>
            <a:xfrm>
              <a:off x="975548" y="2370892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68E930-371E-4813-82C2-0657EB6465B8}"/>
                </a:ext>
              </a:extLst>
            </p:cNvPr>
            <p:cNvSpPr/>
            <p:nvPr/>
          </p:nvSpPr>
          <p:spPr>
            <a:xfrm>
              <a:off x="971775" y="2808111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790070D-296E-42AC-B891-5626EA34AADD}"/>
                </a:ext>
              </a:extLst>
            </p:cNvPr>
            <p:cNvSpPr/>
            <p:nvPr/>
          </p:nvSpPr>
          <p:spPr>
            <a:xfrm>
              <a:off x="968002" y="4123492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F999A1-0D0A-4B48-9B6A-8759DFD9B430}"/>
                </a:ext>
              </a:extLst>
            </p:cNvPr>
            <p:cNvSpPr/>
            <p:nvPr/>
          </p:nvSpPr>
          <p:spPr>
            <a:xfrm>
              <a:off x="964229" y="4569177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430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32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8591862" cy="297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of the following terms describe software architecture document templates?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two most correct answers.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ISO 42010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arc42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UML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ITIL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E49722B9-1A43-4C39-B0CF-DD5BD3379BA1}"/>
              </a:ext>
            </a:extLst>
          </p:cNvPr>
          <p:cNvGrpSpPr/>
          <p:nvPr/>
        </p:nvGrpSpPr>
        <p:grpSpPr>
          <a:xfrm>
            <a:off x="565383" y="1445203"/>
            <a:ext cx="457769" cy="1116433"/>
            <a:chOff x="565383" y="1445203"/>
            <a:chExt cx="457769" cy="111643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41B107F-8204-46EE-9A0C-01BCEFBF159B}"/>
                </a:ext>
              </a:extLst>
            </p:cNvPr>
            <p:cNvSpPr/>
            <p:nvPr/>
          </p:nvSpPr>
          <p:spPr>
            <a:xfrm>
              <a:off x="579120" y="1445203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2CFBFC1-CD67-48FD-9D76-94790B5B5868}"/>
                </a:ext>
              </a:extLst>
            </p:cNvPr>
            <p:cNvSpPr/>
            <p:nvPr/>
          </p:nvSpPr>
          <p:spPr>
            <a:xfrm>
              <a:off x="565383" y="1884528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1564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33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825272"/>
              </p:ext>
            </p:extLst>
          </p:nvPr>
        </p:nvGraphicFramePr>
        <p:xfrm>
          <a:off x="3420000" y="304800"/>
          <a:ext cx="6096000" cy="6228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rgbClr val="595959"/>
                          </a:solidFill>
                        </a:rPr>
                        <a:t>Prerequisites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concepts, benefits, and tasks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Stakeholder concerns and collaboration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Influencing factors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Documentation and communication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noProof="0">
                          <a:solidFill>
                            <a:srgbClr val="003CD2"/>
                          </a:solidFill>
                        </a:rPr>
                        <a:t>Architecture guidelines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Solution strategy and target architecture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Solution development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assessment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533400" y="1942041"/>
            <a:ext cx="2634060" cy="3140850"/>
            <a:chOff x="533400" y="1942041"/>
            <a:chExt cx="2634060" cy="31408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33400" y="1942041"/>
              <a:ext cx="2634060" cy="3140850"/>
              <a:chOff x="533400" y="1942041"/>
              <a:chExt cx="2634060" cy="314085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533400" y="1942041"/>
                <a:ext cx="218098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2400">
                    <a:latin typeface="Calibri" panose="020F0502020204030204" pitchFamily="34" charset="0"/>
                    <a:cs typeface="Calibri" panose="020F0502020204030204" pitchFamily="34" charset="0"/>
                  </a:rPr>
                  <a:t>Exam Questions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82824" cy="2679029"/>
              <a:chOff x="592730" y="2362200"/>
              <a:chExt cx="482824" cy="267902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82824" cy="646331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82824" cy="646331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662353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34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531137"/>
              </p:ext>
            </p:extLst>
          </p:nvPr>
        </p:nvGraphicFramePr>
        <p:xfrm>
          <a:off x="541338" y="438222"/>
          <a:ext cx="9136062" cy="345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3928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design approach is best described by the following characteristics?</a:t>
                      </a:r>
                    </a:p>
                    <a:p>
                      <a:pPr marL="358775" indent="0" rtl="0"/>
                      <a:r>
                        <a:rPr lang="en-US" sz="2000" b="1">
                          <a:solidFill>
                            <a:srgbClr val="003CD2"/>
                          </a:solidFill>
                        </a:rPr>
                        <a:t>- Working from the abstract to the details</a:t>
                      </a:r>
                    </a:p>
                    <a:p>
                      <a:pPr marL="358775" indent="0" rtl="0"/>
                      <a:r>
                        <a:rPr lang="en-US" sz="2000" b="1">
                          <a:solidFill>
                            <a:srgbClr val="003CD2"/>
                          </a:solidFill>
                        </a:rPr>
                        <a:t>- Used if requirements are unclear or for strategic alignment</a:t>
                      </a:r>
                    </a:p>
                    <a:p>
                      <a:pPr marL="358775" indent="0" rtl="0"/>
                      <a:r>
                        <a:rPr lang="en-US" sz="2000" b="1">
                          <a:solidFill>
                            <a:srgbClr val="003CD2"/>
                          </a:solidFill>
                        </a:rPr>
                        <a:t>- Applying the approach could result in developing unrealistic solutions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3CD2"/>
                          </a:solidFill>
                          <a:latin typeface="Calibri Light"/>
                        </a:rPr>
                        <a:t>Select the one correct answers.</a:t>
                      </a:r>
                      <a:endParaRPr lang="en-US" sz="1600" b="0" i="0" u="none" strike="noStrike" noProof="0">
                        <a:solidFill>
                          <a:srgbClr val="000000"/>
                        </a:solidFill>
                        <a:latin typeface="Calibri Light"/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Bottom-Up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Top-Down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Domain-Driven Design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Separation of Concerns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352CFDED-FB5A-47EA-AFF1-91298CDB5C28}"/>
              </a:ext>
            </a:extLst>
          </p:cNvPr>
          <p:cNvSpPr/>
          <p:nvPr/>
        </p:nvSpPr>
        <p:spPr>
          <a:xfrm>
            <a:off x="593497" y="2429773"/>
            <a:ext cx="444032" cy="677108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rtl="0"/>
            <a:r>
              <a: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en-US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834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659" y="6586670"/>
            <a:ext cx="2228850" cy="228600"/>
          </a:xfrm>
        </p:spPr>
        <p:txBody>
          <a:bodyPr rtlCol="0"/>
          <a:lstStyle/>
          <a:p>
            <a:r>
              <a:rPr lang="en-US"/>
              <a:t>September 17,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2386" y="6579481"/>
            <a:ext cx="3343275" cy="228600"/>
          </a:xfrm>
        </p:spPr>
        <p:txBody>
          <a:bodyPr rtlCol="0"/>
          <a:lstStyle/>
          <a:p>
            <a:r>
              <a:rPr lang="en-US"/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83833" y="6579481"/>
            <a:ext cx="2228850" cy="228600"/>
          </a:xfrm>
        </p:spPr>
        <p:txBody>
          <a:bodyPr rtlCol="0"/>
          <a:lstStyle/>
          <a:p>
            <a:fld id="{DC65F2A6-DE86-5747-A2A3-FFB413B14C70}" type="slidenum">
              <a:rPr lang="en-US" smtClean="0"/>
              <a:pPr/>
              <a:t>35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9059862" cy="4313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What are common approaches to architectural development?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rtl="0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Mark the answers with Yes [Y] or No [N]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Y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N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0337817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Side-by-side method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Top-down and bottom-up approach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Domain-driven design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View-based architectural development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User-driven architecture development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Iterative and incremental design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7964879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75B1435-1D2E-4432-ABC2-9F65B63D8358}"/>
              </a:ext>
            </a:extLst>
          </p:cNvPr>
          <p:cNvGrpSpPr/>
          <p:nvPr/>
        </p:nvGrpSpPr>
        <p:grpSpPr>
          <a:xfrm>
            <a:off x="579120" y="1527409"/>
            <a:ext cx="763295" cy="2841174"/>
            <a:chOff x="579120" y="1143000"/>
            <a:chExt cx="763295" cy="284117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554466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12E6B7-D7A4-478F-B214-7E7429CDC48E}"/>
                </a:ext>
              </a:extLst>
            </p:cNvPr>
            <p:cNvSpPr/>
            <p:nvPr/>
          </p:nvSpPr>
          <p:spPr>
            <a:xfrm>
              <a:off x="979321" y="1143000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7BB7C0B-632A-4A27-B629-82E355A41B5F}"/>
                </a:ext>
              </a:extLst>
            </p:cNvPr>
            <p:cNvSpPr/>
            <p:nvPr/>
          </p:nvSpPr>
          <p:spPr>
            <a:xfrm>
              <a:off x="579220" y="1981200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452E307-EF49-4236-8960-C24A77DBF037}"/>
                </a:ext>
              </a:extLst>
            </p:cNvPr>
            <p:cNvSpPr/>
            <p:nvPr/>
          </p:nvSpPr>
          <p:spPr>
            <a:xfrm>
              <a:off x="579320" y="2407934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0739461-BD45-4E32-8578-3B312872D36E}"/>
                </a:ext>
              </a:extLst>
            </p:cNvPr>
            <p:cNvSpPr/>
            <p:nvPr/>
          </p:nvSpPr>
          <p:spPr>
            <a:xfrm>
              <a:off x="579420" y="3307066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BC7A5BA-2259-49A3-BDEA-0FC4A9C52BFF}"/>
                </a:ext>
              </a:extLst>
            </p:cNvPr>
            <p:cNvSpPr/>
            <p:nvPr/>
          </p:nvSpPr>
          <p:spPr>
            <a:xfrm>
              <a:off x="983342" y="2900663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2080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36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82260"/>
              </p:ext>
            </p:extLst>
          </p:nvPr>
        </p:nvGraphicFramePr>
        <p:xfrm>
          <a:off x="541338" y="438222"/>
          <a:ext cx="9136062" cy="4255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3928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of the following statements applies to the dependency inversion principle?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three most correct answers.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Higher-level (abstract) building blocks should be dependent on lower-level (detailed) building blocks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Circular dependencies should be avoided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Abstractions (interfaces) are used to decouple the building block from the implementation of other building blocks.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The interchangeability of “detailed” building blocks is made easier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Responsibility for the definition of the interface lies with the building block on the higher (abstract) level 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FCF3F56E-882C-45F1-8D61-B840098D34F5}"/>
              </a:ext>
            </a:extLst>
          </p:cNvPr>
          <p:cNvGrpSpPr/>
          <p:nvPr/>
        </p:nvGrpSpPr>
        <p:grpSpPr>
          <a:xfrm>
            <a:off x="564820" y="2590800"/>
            <a:ext cx="458332" cy="1838697"/>
            <a:chOff x="564820" y="2320093"/>
            <a:chExt cx="458332" cy="183869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DB54B09-6AB9-44A5-A4F3-0D5A33ACD53A}"/>
                </a:ext>
              </a:extLst>
            </p:cNvPr>
            <p:cNvSpPr/>
            <p:nvPr/>
          </p:nvSpPr>
          <p:spPr>
            <a:xfrm>
              <a:off x="579120" y="2320093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B17C868-46CA-4764-B822-622DC4E1A00B}"/>
                </a:ext>
              </a:extLst>
            </p:cNvPr>
            <p:cNvSpPr/>
            <p:nvPr/>
          </p:nvSpPr>
          <p:spPr>
            <a:xfrm>
              <a:off x="571970" y="3041640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84E5686-2F07-43C3-8F91-26D7E171DD76}"/>
                </a:ext>
              </a:extLst>
            </p:cNvPr>
            <p:cNvSpPr/>
            <p:nvPr/>
          </p:nvSpPr>
          <p:spPr>
            <a:xfrm>
              <a:off x="564820" y="3481682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0851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September 17,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37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8983661" cy="3330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6416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5283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45781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9675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206506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statements regarding dependency inversion are correct?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two most correct answers.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With dependency inversion, the direction of method calls is reversed.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Dependency injection can be used in conjunction with dependency inversion.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With dependency inversion, implementation and interface are inverted.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Dependency inversion changes the responsibility of the called interface from the implementer to the caller.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Dependency inversion and dependency injection are the same.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35C1B2D7-EDB2-4BF1-A4CE-73C5FA37E9AD}"/>
              </a:ext>
            </a:extLst>
          </p:cNvPr>
          <p:cNvGrpSpPr/>
          <p:nvPr/>
        </p:nvGrpSpPr>
        <p:grpSpPr>
          <a:xfrm>
            <a:off x="566061" y="1532692"/>
            <a:ext cx="457091" cy="1515308"/>
            <a:chOff x="566061" y="1532692"/>
            <a:chExt cx="457091" cy="151530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532692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98D21DD-D5F4-408A-950E-E1179AC2F2B8}"/>
                </a:ext>
              </a:extLst>
            </p:cNvPr>
            <p:cNvSpPr/>
            <p:nvPr/>
          </p:nvSpPr>
          <p:spPr>
            <a:xfrm>
              <a:off x="566061" y="2370892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8514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50B2A-46A0-C909-E207-64E891DAC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596427-DE8C-2CD2-5724-B41DE3C8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79E70-4531-4E81-94D2-94EDD3FCE6D7}" type="datetime1">
              <a:rPr lang="en-US" noProof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11.07.2025</a:t>
            </a:fld>
            <a:endParaRPr lang="en-US" noProof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AC22EA-9661-C800-B5ED-F2111F6B2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00527-BF12-006B-B8ED-03868F25B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en-US" noProof="0" smtClean="0">
                <a:solidFill>
                  <a:prstClr val="black"/>
                </a:solidFill>
              </a:rPr>
              <a:pPr/>
              <a:t>38</a:t>
            </a:fld>
            <a:endParaRPr lang="en-US" noProof="0" dirty="0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8C4267E-5979-566B-D4AA-7DEAA5768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378888"/>
              </p:ext>
            </p:extLst>
          </p:nvPr>
        </p:nvGraphicFramePr>
        <p:xfrm>
          <a:off x="541338" y="438222"/>
          <a:ext cx="8591859" cy="4255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999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1999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599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1" i="0" u="none" strike="noStrike" kern="1200" noProof="0" dirty="0">
                          <a:solidFill>
                            <a:srgbClr val="003CD2"/>
                          </a:solidFill>
                        </a:rPr>
                        <a:t>Which of the following statements describe key reasons for using an iterative approach in software architecture under uncertainty?</a:t>
                      </a:r>
                      <a:endParaRPr lang="en-US" b="1" i="0" u="none" strike="noStrike" noProof="0" dirty="0"/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3CD2"/>
                          </a:solidFill>
                          <a:latin typeface="Calibri Light"/>
                        </a:rPr>
                        <a:t>Select the three most correct answers.</a:t>
                      </a:r>
                      <a:endParaRPr lang="en-US" sz="1600" b="0" i="0" u="none" strike="noStrike" noProof="0" dirty="0">
                        <a:solidFill>
                          <a:srgbClr val="000000"/>
                        </a:solidFill>
                        <a:latin typeface="Calibri Light"/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>
                          <a:sym typeface="Wingdings" panose="05000000000000000000" pitchFamily="2" charset="2"/>
                        </a:rPr>
                        <a:t></a:t>
                      </a:r>
                      <a:endParaRPr lang="en-US" sz="18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dirty="0"/>
                        <a:t>Iterations allow architecture decisions to be finalized early and prevent later changes.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/>
                        <a:t>Feedback loops with stakeholders help clarify uncertain requirements and lead to better-informed architecture decisions.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dirty="0"/>
                        <a:t>Incremental progress helps reduce risks and validate assumptions before making important decisions.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dirty="0"/>
                        <a:t>Iterative work automatically prevents any technical debt.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dirty="0"/>
                        <a:t>Iteration supports adaptability of the architecture when conditions change.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23BCA573-C79B-AF6A-67D9-B1AB866C4C37}"/>
              </a:ext>
            </a:extLst>
          </p:cNvPr>
          <p:cNvGrpSpPr/>
          <p:nvPr/>
        </p:nvGrpSpPr>
        <p:grpSpPr>
          <a:xfrm>
            <a:off x="566061" y="2180914"/>
            <a:ext cx="466489" cy="1386868"/>
            <a:chOff x="566061" y="2180914"/>
            <a:chExt cx="466489" cy="138686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A3BB89C-C1AC-BF05-55BB-10367DB90CF3}"/>
                </a:ext>
              </a:extLst>
            </p:cNvPr>
            <p:cNvSpPr/>
            <p:nvPr/>
          </p:nvSpPr>
          <p:spPr>
            <a:xfrm>
              <a:off x="588518" y="2180914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4400" noProof="0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 noProof="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F3588F2-DA07-0F2E-0C47-B84E0341CA6A}"/>
                </a:ext>
              </a:extLst>
            </p:cNvPr>
            <p:cNvSpPr/>
            <p:nvPr/>
          </p:nvSpPr>
          <p:spPr>
            <a:xfrm>
              <a:off x="566061" y="2890674"/>
              <a:ext cx="444032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4400" noProof="0" dirty="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Wingdings" panose="05000000000000000000" pitchFamily="2" charset="2"/>
                </a:rPr>
                <a:t></a:t>
              </a:r>
              <a:endParaRPr lang="en-US" sz="4400" noProof="0" dirty="0">
                <a:solidFill>
                  <a:srgbClr val="00B050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3F4D076D-3752-6846-ED69-47A216D78000}"/>
              </a:ext>
            </a:extLst>
          </p:cNvPr>
          <p:cNvSpPr/>
          <p:nvPr/>
        </p:nvSpPr>
        <p:spPr>
          <a:xfrm>
            <a:off x="568085" y="4076542"/>
            <a:ext cx="444032" cy="677108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/>
          <a:p>
            <a:r>
              <a:rPr lang="en-US" sz="4400" noProof="0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</a:t>
            </a:r>
            <a:endParaRPr lang="en-US" sz="4400" noProof="0" dirty="0">
              <a:solidFill>
                <a:srgbClr val="00B05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88845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September 17,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39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8591862" cy="2892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What does the “Information Hiding” principle describe?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single most correct answer.</a:t>
                      </a: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The use of the component is hidden. It cannot be used universally.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Communication with the component must be encrypted.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The functionality of the component is not documented to protect the implementation.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Internal building blocks of a component are not visible from outside.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E90A58A-A9DA-45FD-9836-6EAE71BBA554}"/>
              </a:ext>
            </a:extLst>
          </p:cNvPr>
          <p:cNvSpPr/>
          <p:nvPr/>
        </p:nvSpPr>
        <p:spPr>
          <a:xfrm>
            <a:off x="579120" y="2675692"/>
            <a:ext cx="444032" cy="677108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rtl="0"/>
            <a:r>
              <a: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en-US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376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September 17,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40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9059862" cy="3025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What applies to the coupling of building blocks?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rtl="0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Mark the answers with Yes [Y] or No [N]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Y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N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308301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Similar components should be as closely coupled as possible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Building blocks with tight coupling are harder to test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High cohesion generally benefits loose coupling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Coupling must not cross business domains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B211F19F-6E67-45C7-9BE4-077F4194B5A6}"/>
              </a:ext>
            </a:extLst>
          </p:cNvPr>
          <p:cNvGrpSpPr/>
          <p:nvPr/>
        </p:nvGrpSpPr>
        <p:grpSpPr>
          <a:xfrm>
            <a:off x="575591" y="1542824"/>
            <a:ext cx="774082" cy="1972508"/>
            <a:chOff x="575591" y="1151692"/>
            <a:chExt cx="774082" cy="197250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568982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12E6B7-D7A4-478F-B214-7E7429CDC48E}"/>
                </a:ext>
              </a:extLst>
            </p:cNvPr>
            <p:cNvSpPr/>
            <p:nvPr/>
          </p:nvSpPr>
          <p:spPr>
            <a:xfrm>
              <a:off x="979321" y="1151692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E5CBCCF-0F14-4CEE-9D46-C63482D1499A}"/>
                </a:ext>
              </a:extLst>
            </p:cNvPr>
            <p:cNvSpPr/>
            <p:nvPr/>
          </p:nvSpPr>
          <p:spPr>
            <a:xfrm>
              <a:off x="990600" y="2447092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719DF18-19E3-48AC-8264-49179B203D51}"/>
                </a:ext>
              </a:extLst>
            </p:cNvPr>
            <p:cNvSpPr/>
            <p:nvPr/>
          </p:nvSpPr>
          <p:spPr>
            <a:xfrm>
              <a:off x="575591" y="1995716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2730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17.09.2020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41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8591862" cy="2892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870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378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What applies to the “Proxy” architecture pattern?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Select the two most correct answers.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Functions essentially the same as the Proximity pattern.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Forward proxies accept access from the internet to private networks and reverse proxies provide access to public networks from private networks.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Provides a substitute or placeholder for another building block.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Can be used at the class, component, or system level.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13E0E761-C70C-FF8C-B3CF-053DB7A268F1}"/>
              </a:ext>
            </a:extLst>
          </p:cNvPr>
          <p:cNvGrpSpPr/>
          <p:nvPr/>
        </p:nvGrpSpPr>
        <p:grpSpPr>
          <a:xfrm>
            <a:off x="572868" y="2259066"/>
            <a:ext cx="450284" cy="1093734"/>
            <a:chOff x="572868" y="1989892"/>
            <a:chExt cx="450284" cy="109373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989892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693BE7E-CCD4-8056-6610-4E215332A4D4}"/>
                </a:ext>
              </a:extLst>
            </p:cNvPr>
            <p:cNvSpPr/>
            <p:nvPr/>
          </p:nvSpPr>
          <p:spPr>
            <a:xfrm>
              <a:off x="572868" y="2406518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6340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42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958085"/>
              </p:ext>
            </p:extLst>
          </p:nvPr>
        </p:nvGraphicFramePr>
        <p:xfrm>
          <a:off x="3420000" y="304800"/>
          <a:ext cx="6096000" cy="6228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rgbClr val="595959"/>
                          </a:solidFill>
                        </a:rPr>
                        <a:t>Prerequisites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concepts, benefits, and tasks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Stakeholder concerns and collaboration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Influencing factors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Documentation and communication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guidelines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noProof="0">
                          <a:solidFill>
                            <a:srgbClr val="003CD2"/>
                          </a:solidFill>
                        </a:rPr>
                        <a:t>Solution strategy and target architecture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Solution development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assessment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533400" y="1942041"/>
            <a:ext cx="2634060" cy="3140850"/>
            <a:chOff x="533400" y="1942041"/>
            <a:chExt cx="2634060" cy="31408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33400" y="1942041"/>
              <a:ext cx="2634060" cy="3140850"/>
              <a:chOff x="533400" y="1942041"/>
              <a:chExt cx="2634060" cy="314085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533400" y="1942041"/>
                <a:ext cx="218098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2400">
                    <a:latin typeface="Calibri" panose="020F0502020204030204" pitchFamily="34" charset="0"/>
                    <a:cs typeface="Calibri" panose="020F0502020204030204" pitchFamily="34" charset="0"/>
                  </a:rPr>
                  <a:t>Exam Questions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82824" cy="2679029"/>
              <a:chOff x="592730" y="2362200"/>
              <a:chExt cx="482824" cy="267902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82824" cy="646331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82824" cy="646331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646563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E17B1-A7AA-9B42-0F55-6B2A3B2F5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B21A5A-5D88-9A85-86AF-97014988E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7482B-0CD7-4121-A077-B175D13E46CA}" type="datetime1">
              <a:rPr lang="en-US" noProof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11.07.2025</a:t>
            </a:fld>
            <a:endParaRPr lang="en-US" noProof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F6D97D-197D-A22F-C76D-0F3C7238E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49ADB-D105-B65C-106B-9F1095024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en-US" noProof="0" smtClean="0">
                <a:solidFill>
                  <a:prstClr val="black"/>
                </a:solidFill>
              </a:rPr>
              <a:pPr/>
              <a:t>43</a:t>
            </a:fld>
            <a:endParaRPr lang="en-US" noProof="0" dirty="0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353ADD9-6D29-984D-FE64-05EC180F56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579728"/>
              </p:ext>
            </p:extLst>
          </p:nvPr>
        </p:nvGraphicFramePr>
        <p:xfrm>
          <a:off x="541338" y="438222"/>
          <a:ext cx="8591862" cy="2892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noProof="0" dirty="0">
                          <a:solidFill>
                            <a:srgbClr val="003CD2"/>
                          </a:solidFill>
                        </a:rPr>
                        <a:t>What best describes cross-cutting concerns in software architecture?</a:t>
                      </a:r>
                      <a:endParaRPr lang="en-US" b="1" noProof="0" dirty="0"/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</a:rPr>
                        <a:t>Select the one most appropriate answer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</a:rPr>
                        <a:t>.</a:t>
                      </a:r>
                      <a:endParaRPr lang="en-US" noProof="0" dirty="0"/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>
                          <a:sym typeface="Wingdings" panose="05000000000000000000" pitchFamily="2" charset="2"/>
                        </a:rPr>
                        <a:t></a:t>
                      </a:r>
                      <a:endParaRPr lang="en-US" sz="18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/>
                        <a:t>They define target environments such as cloud or on-premises.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/>
                        <a:t>They define the structure of the user interface.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/>
                        <a:t>They are technical concerns that affect multiple components, such as logging or security.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/>
                        <a:t>They are only relevant during the implementation phase.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4C637B45-937E-8A17-B7C6-C4B05A014D66}"/>
              </a:ext>
            </a:extLst>
          </p:cNvPr>
          <p:cNvGrpSpPr/>
          <p:nvPr/>
        </p:nvGrpSpPr>
        <p:grpSpPr>
          <a:xfrm>
            <a:off x="541526" y="1960369"/>
            <a:ext cx="444032" cy="1721164"/>
            <a:chOff x="541526" y="1960369"/>
            <a:chExt cx="444032" cy="172116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D70290E-59F6-8E06-8A53-799B22882111}"/>
                </a:ext>
              </a:extLst>
            </p:cNvPr>
            <p:cNvSpPr/>
            <p:nvPr/>
          </p:nvSpPr>
          <p:spPr>
            <a:xfrm>
              <a:off x="541526" y="1960369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4400" noProof="0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 noProof="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59380B0-90C7-46BD-7CC3-ACF9AE355980}"/>
                </a:ext>
              </a:extLst>
            </p:cNvPr>
            <p:cNvSpPr/>
            <p:nvPr/>
          </p:nvSpPr>
          <p:spPr>
            <a:xfrm>
              <a:off x="574770" y="3004425"/>
              <a:ext cx="65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endParaRPr lang="en-US" sz="4400" noProof="0" dirty="0">
                <a:solidFill>
                  <a:srgbClr val="00B05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Wingdings" panose="05000000000000000000" pitchFamily="2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5170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81028-9166-F01C-C875-8DF9FF92B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D53CB1-0FA0-F6AA-7376-58471CDBE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79E70-4531-4E81-94D2-94EDD3FCE6D7}" type="datetime1">
              <a:rPr lang="en-US" noProof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11.07.2025</a:t>
            </a:fld>
            <a:endParaRPr lang="en-US" noProof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E136F3-7E0F-4582-AD19-4E749ACD0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69ADE5-4910-F877-DD13-6434F81D5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en-US" noProof="0" smtClean="0">
                <a:solidFill>
                  <a:prstClr val="black"/>
                </a:solidFill>
              </a:rPr>
              <a:pPr/>
              <a:t>44</a:t>
            </a:fld>
            <a:endParaRPr lang="en-US" noProof="0" dirty="0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BDA4C17-7DAB-BE6B-F04C-A4AB49C4E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4183022"/>
              </p:ext>
            </p:extLst>
          </p:nvPr>
        </p:nvGraphicFramePr>
        <p:xfrm>
          <a:off x="541338" y="438222"/>
          <a:ext cx="8591859" cy="3416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999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1999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599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kern="1200" noProof="0" dirty="0">
                          <a:solidFill>
                            <a:srgbClr val="003CD2"/>
                          </a:solidFill>
                          <a:latin typeface="Calibri Light"/>
                        </a:rPr>
                        <a:t>Which statements describe the impact of data on software architecture decisions?</a:t>
                      </a:r>
                      <a:endParaRPr lang="en-US" b="1" noProof="0" dirty="0">
                        <a:latin typeface="Calibri Light"/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3CD2"/>
                          </a:solidFill>
                          <a:latin typeface="Calibri Light"/>
                        </a:rPr>
                        <a:t>Select three answers.</a:t>
                      </a:r>
                      <a:endParaRPr lang="en-US" b="0" i="0" u="none" strike="noStrike" noProof="0" dirty="0">
                        <a:latin typeface="Calibri Light"/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>
                          <a:sym typeface="Wingdings" panose="05000000000000000000" pitchFamily="2" charset="2"/>
                        </a:rPr>
                        <a:t></a:t>
                      </a:r>
                      <a:endParaRPr lang="en-US" sz="18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>
                          <a:latin typeface="Calibri Light"/>
                        </a:rPr>
                        <a:t>Data volume can influence the choice of storage technology.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>
                          <a:latin typeface="Calibri Light"/>
                        </a:rPr>
                        <a:t>The choice of programming language is independent of the data model.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>
                          <a:latin typeface="Calibri Light"/>
                        </a:rPr>
                        <a:t>Frequent data changes require appropriate synchronization strategies.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>
                          <a:latin typeface="Calibri Light"/>
                        </a:rPr>
                        <a:t>Confidential data influences security and access concepts.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>
                          <a:latin typeface="Calibri Light"/>
                        </a:rPr>
                        <a:t>Data models are only relevant in database architecture.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538A47AD-845F-BFB6-AA53-E100DCEDF458}"/>
              </a:ext>
            </a:extLst>
          </p:cNvPr>
          <p:cNvGrpSpPr/>
          <p:nvPr/>
        </p:nvGrpSpPr>
        <p:grpSpPr>
          <a:xfrm>
            <a:off x="566061" y="1429746"/>
            <a:ext cx="457091" cy="1574904"/>
            <a:chOff x="566061" y="1504509"/>
            <a:chExt cx="457091" cy="157490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3CED1C1-6747-A429-47F5-688CE39AE1E8}"/>
                </a:ext>
              </a:extLst>
            </p:cNvPr>
            <p:cNvSpPr/>
            <p:nvPr/>
          </p:nvSpPr>
          <p:spPr>
            <a:xfrm>
              <a:off x="579120" y="1504509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4400" noProof="0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 noProof="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0BD38E1-C729-AF54-A332-7DA3EC153EA7}"/>
                </a:ext>
              </a:extLst>
            </p:cNvPr>
            <p:cNvSpPr/>
            <p:nvPr/>
          </p:nvSpPr>
          <p:spPr>
            <a:xfrm>
              <a:off x="566061" y="2402305"/>
              <a:ext cx="444032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4400" noProof="0" dirty="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Wingdings" panose="05000000000000000000" pitchFamily="2" charset="2"/>
                </a:rPr>
                <a:t></a:t>
              </a:r>
              <a:endParaRPr lang="en-US" sz="4400" noProof="0" dirty="0">
                <a:solidFill>
                  <a:srgbClr val="00B050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F053AD14-74E9-3FCD-4C12-51A27D176C8E}"/>
              </a:ext>
            </a:extLst>
          </p:cNvPr>
          <p:cNvSpPr/>
          <p:nvPr/>
        </p:nvSpPr>
        <p:spPr>
          <a:xfrm>
            <a:off x="568085" y="2780567"/>
            <a:ext cx="444032" cy="677108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/>
          <a:p>
            <a:r>
              <a:rPr lang="en-US" sz="4400" noProof="0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</a:t>
            </a:r>
            <a:endParaRPr lang="en-US" sz="4400" noProof="0" dirty="0">
              <a:solidFill>
                <a:srgbClr val="00B05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4281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AFE2D-8E9A-EDAF-8435-A10E0074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CEDE85-DBCE-056A-03F3-F5D4162B3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79E70-4531-4E81-94D2-94EDD3FCE6D7}" type="datetime1">
              <a:rPr lang="en-US" noProof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11.07.2025</a:t>
            </a:fld>
            <a:endParaRPr lang="en-US" noProof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245652-BC6D-5524-0D04-69C212DD0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936B5-07E2-46DB-B84A-574394954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en-US" noProof="0" smtClean="0">
                <a:solidFill>
                  <a:prstClr val="black"/>
                </a:solidFill>
              </a:rPr>
              <a:pPr/>
              <a:t>45</a:t>
            </a:fld>
            <a:endParaRPr lang="en-US" noProof="0" dirty="0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91C26F-F0D1-8A14-AE40-8099E51733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851106"/>
              </p:ext>
            </p:extLst>
          </p:nvPr>
        </p:nvGraphicFramePr>
        <p:xfrm>
          <a:off x="541338" y="438222"/>
          <a:ext cx="8591859" cy="3330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999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1999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599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kern="1200" noProof="0" dirty="0">
                          <a:solidFill>
                            <a:srgbClr val="003CD2"/>
                          </a:solidFill>
                        </a:rPr>
                        <a:t>What distinguishes a product type from a sum type in data modeling?</a:t>
                      </a:r>
                      <a:endParaRPr lang="en-US" b="0" noProof="0" dirty="0"/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3CD2"/>
                          </a:solidFill>
                          <a:latin typeface="Calibri Light"/>
                        </a:rPr>
                        <a:t>Select </a:t>
                      </a:r>
                      <a:r>
                        <a:rPr lang="en-US" sz="1600" b="1" i="0" u="none" strike="noStrike" noProof="0" dirty="0">
                          <a:solidFill>
                            <a:srgbClr val="003CD2"/>
                          </a:solidFill>
                          <a:latin typeface="Calibri Light"/>
                        </a:rPr>
                        <a:t>two </a:t>
                      </a:r>
                      <a:r>
                        <a:rPr lang="en-US" sz="1600" b="0" i="0" u="none" strike="noStrike" noProof="0" dirty="0">
                          <a:solidFill>
                            <a:srgbClr val="003CD2"/>
                          </a:solidFill>
                          <a:latin typeface="Calibri Light"/>
                        </a:rPr>
                        <a:t>answers.</a:t>
                      </a:r>
                      <a:endParaRPr lang="en-US" b="0" i="0" u="none" strike="noStrike" noProof="0" dirty="0">
                        <a:latin typeface="Calibri Light"/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>
                          <a:sym typeface="Wingdings" panose="05000000000000000000" pitchFamily="2" charset="2"/>
                        </a:rPr>
                        <a:t></a:t>
                      </a:r>
                      <a:endParaRPr lang="en-US" sz="18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/>
                        <a:t>A sum type means that all variants occur simultaneously.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/>
                        <a:t>A product type represents a combination of multiple mandatory pieces of information.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noProof="0" dirty="0"/>
                        <a:t>Product types only occur in functional programming languages.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/>
                        <a:t>Product and sum types play no role in software architecture.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noProof="0" dirty="0"/>
                        <a:t>A sum type represents a choice between alternatives.</a:t>
                      </a:r>
                      <a:endParaRPr lang="en-US" sz="20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64A54901-C55D-399A-E31C-65FFDC635AEB}"/>
              </a:ext>
            </a:extLst>
          </p:cNvPr>
          <p:cNvGrpSpPr/>
          <p:nvPr/>
        </p:nvGrpSpPr>
        <p:grpSpPr>
          <a:xfrm>
            <a:off x="566061" y="1521761"/>
            <a:ext cx="457091" cy="2282273"/>
            <a:chOff x="566061" y="1521761"/>
            <a:chExt cx="457091" cy="228227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FBAF801-8125-DCB9-6D20-BC9687E2C383}"/>
                </a:ext>
              </a:extLst>
            </p:cNvPr>
            <p:cNvSpPr/>
            <p:nvPr/>
          </p:nvSpPr>
          <p:spPr>
            <a:xfrm>
              <a:off x="579120" y="1521761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4400" noProof="0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 noProof="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41625ED-F6A0-17B7-85DF-69854761E775}"/>
                </a:ext>
              </a:extLst>
            </p:cNvPr>
            <p:cNvSpPr/>
            <p:nvPr/>
          </p:nvSpPr>
          <p:spPr>
            <a:xfrm>
              <a:off x="566061" y="3126926"/>
              <a:ext cx="444032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4400" noProof="0" dirty="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Wingdings" panose="05000000000000000000" pitchFamily="2" charset="2"/>
                </a:rPr>
                <a:t></a:t>
              </a:r>
              <a:endParaRPr lang="en-US" sz="4400" noProof="0" dirty="0">
                <a:solidFill>
                  <a:srgbClr val="00B050"/>
                </a:solidFill>
                <a:latin typeface="Calibri"/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7890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46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79760"/>
              </p:ext>
            </p:extLst>
          </p:nvPr>
        </p:nvGraphicFramePr>
        <p:xfrm>
          <a:off x="3420000" y="304800"/>
          <a:ext cx="6096000" cy="6228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rgbClr val="595959"/>
                          </a:solidFill>
                        </a:rPr>
                        <a:t>Prerequisites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concepts, benefits, and tasks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Stakeholder concerns and collaboration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Influencing factors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Documentation and communication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guidelines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Solution strategy and target architecture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noProof="0">
                          <a:solidFill>
                            <a:srgbClr val="003CD2"/>
                          </a:solidFill>
                        </a:rPr>
                        <a:t>Solution development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assessment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512330" y="1942041"/>
            <a:ext cx="2655130" cy="3140850"/>
            <a:chOff x="512330" y="1942041"/>
            <a:chExt cx="2655130" cy="31408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12330" y="1942041"/>
              <a:ext cx="2655130" cy="3140850"/>
              <a:chOff x="512330" y="1942041"/>
              <a:chExt cx="2655130" cy="314085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512330" y="1942041"/>
                <a:ext cx="218098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2400">
                    <a:latin typeface="Calibri" panose="020F0502020204030204" pitchFamily="34" charset="0"/>
                    <a:cs typeface="Calibri" panose="020F0502020204030204" pitchFamily="34" charset="0"/>
                  </a:rPr>
                  <a:t>Exam Questions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82824" cy="2679029"/>
              <a:chOff x="592730" y="2362200"/>
              <a:chExt cx="482824" cy="267902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82824" cy="646331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82824" cy="646331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377069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47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796706"/>
              </p:ext>
            </p:extLst>
          </p:nvPr>
        </p:nvGraphicFramePr>
        <p:xfrm>
          <a:off x="541338" y="438222"/>
          <a:ext cx="9059862" cy="3842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316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of the following statements best applies to the concept of interfaces?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two most correct answers.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Interfaces increase the maintainability and adaptability of the system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Building blocks should completely avoid interfaces with other building blocks, since they are dependencies and therefore reduce the flexibility of the system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Interfaces require the use of an object-oriented programming language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Accessing data from another building block through an interface may be less efficient than directly accessing the requested resources that are used by that building block.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C4382DCD-9D17-4FF5-8D6D-93A4A99C2880}"/>
              </a:ext>
            </a:extLst>
          </p:cNvPr>
          <p:cNvGrpSpPr/>
          <p:nvPr/>
        </p:nvGrpSpPr>
        <p:grpSpPr>
          <a:xfrm>
            <a:off x="571594" y="1451789"/>
            <a:ext cx="444408" cy="2285129"/>
            <a:chOff x="571594" y="1451789"/>
            <a:chExt cx="444408" cy="228512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4A5BCB7-477B-4323-A65D-7547C94CD912}"/>
                </a:ext>
              </a:extLst>
            </p:cNvPr>
            <p:cNvSpPr/>
            <p:nvPr/>
          </p:nvSpPr>
          <p:spPr>
            <a:xfrm>
              <a:off x="571594" y="1451789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2321E77-FBC9-4DB0-AA34-9D34D8EC8D2E}"/>
                </a:ext>
              </a:extLst>
            </p:cNvPr>
            <p:cNvSpPr/>
            <p:nvPr/>
          </p:nvSpPr>
          <p:spPr>
            <a:xfrm>
              <a:off x="571970" y="3059810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66099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September 17,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48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029433"/>
              </p:ext>
            </p:extLst>
          </p:nvPr>
        </p:nvGraphicFramePr>
        <p:xfrm>
          <a:off x="541338" y="438222"/>
          <a:ext cx="9059862" cy="4338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of the following terms should be kept separate in the architecture?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rtl="0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Mark the answers with Yes [Y] or No [N]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Y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N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9478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Logical data model and physical database model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View and controller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Left and right text direction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User interface and business logic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Documentation and communication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Business and technical building blocks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G.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Read and write access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7964879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B84E5018-1D0F-43F1-990E-42872343DDBC}"/>
              </a:ext>
            </a:extLst>
          </p:cNvPr>
          <p:cNvGrpSpPr/>
          <p:nvPr/>
        </p:nvGrpSpPr>
        <p:grpSpPr>
          <a:xfrm>
            <a:off x="571453" y="1504266"/>
            <a:ext cx="760363" cy="3341816"/>
            <a:chOff x="578031" y="1066800"/>
            <a:chExt cx="760363" cy="334181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066800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12E6B7-D7A4-478F-B214-7E7429CDC48E}"/>
                </a:ext>
              </a:extLst>
            </p:cNvPr>
            <p:cNvSpPr/>
            <p:nvPr/>
          </p:nvSpPr>
          <p:spPr>
            <a:xfrm>
              <a:off x="979321" y="1989892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8384D3C-A17E-4CAD-A7CB-CC28DE4E4F5A}"/>
                </a:ext>
              </a:extLst>
            </p:cNvPr>
            <p:cNvSpPr/>
            <p:nvPr/>
          </p:nvSpPr>
          <p:spPr>
            <a:xfrm>
              <a:off x="974886" y="2869362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2C6778-0E49-426B-945F-78D76697E626}"/>
                </a:ext>
              </a:extLst>
            </p:cNvPr>
            <p:cNvSpPr/>
            <p:nvPr/>
          </p:nvSpPr>
          <p:spPr>
            <a:xfrm>
              <a:off x="582849" y="1510918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43BF567-FA49-4D21-ABEA-AA668DF3FB7A}"/>
                </a:ext>
              </a:extLst>
            </p:cNvPr>
            <p:cNvSpPr/>
            <p:nvPr/>
          </p:nvSpPr>
          <p:spPr>
            <a:xfrm>
              <a:off x="590307" y="2399154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A14BE6-142F-42AE-81F6-D96F952D55C0}"/>
                </a:ext>
              </a:extLst>
            </p:cNvPr>
            <p:cNvSpPr/>
            <p:nvPr/>
          </p:nvSpPr>
          <p:spPr>
            <a:xfrm>
              <a:off x="578031" y="3287390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7023062-3549-4B39-9A92-69A806667869}"/>
                </a:ext>
              </a:extLst>
            </p:cNvPr>
            <p:cNvSpPr/>
            <p:nvPr/>
          </p:nvSpPr>
          <p:spPr>
            <a:xfrm>
              <a:off x="581760" y="3731508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6915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September 17,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49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9059862" cy="3025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What should a software architect do regarding architecture decisions?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rtl="0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Mark the answers with Yes [Y] or No [N]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Y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N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2997477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Justify them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Document related assumptions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Document them only after the implementation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Use a systematic decision-making approach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5E65BFE3-63D2-47F3-8E41-91DAC696E80D}"/>
              </a:ext>
            </a:extLst>
          </p:cNvPr>
          <p:cNvGrpSpPr/>
          <p:nvPr/>
        </p:nvGrpSpPr>
        <p:grpSpPr>
          <a:xfrm>
            <a:off x="546786" y="1506625"/>
            <a:ext cx="791608" cy="1998575"/>
            <a:chOff x="546786" y="1066800"/>
            <a:chExt cx="791608" cy="199857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066800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12E6B7-D7A4-478F-B214-7E7429CDC48E}"/>
                </a:ext>
              </a:extLst>
            </p:cNvPr>
            <p:cNvSpPr/>
            <p:nvPr/>
          </p:nvSpPr>
          <p:spPr>
            <a:xfrm>
              <a:off x="979321" y="1989892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FEE5D88-8E4A-4778-84A3-126BDB5C74A2}"/>
                </a:ext>
              </a:extLst>
            </p:cNvPr>
            <p:cNvSpPr/>
            <p:nvPr/>
          </p:nvSpPr>
          <p:spPr>
            <a:xfrm>
              <a:off x="568342" y="1507289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850DA77-2F48-4579-94D0-1E132638761E}"/>
                </a:ext>
              </a:extLst>
            </p:cNvPr>
            <p:cNvSpPr/>
            <p:nvPr/>
          </p:nvSpPr>
          <p:spPr>
            <a:xfrm>
              <a:off x="546786" y="2388267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4530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September 17,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50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8591862" cy="3853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of the following properties are desirable when designing interfaces between architectural building blocks?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four most correct answers.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Functionally complete from the consumer’s perspective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Functionally complete from the provider’s perspective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Enables private services to be called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Difficult to abuse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Easy to use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Easy to extend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52DF64C7-7CD5-44A1-9A23-113A001BDC43}"/>
              </a:ext>
            </a:extLst>
          </p:cNvPr>
          <p:cNvGrpSpPr/>
          <p:nvPr/>
        </p:nvGrpSpPr>
        <p:grpSpPr>
          <a:xfrm>
            <a:off x="579120" y="1447800"/>
            <a:ext cx="444432" cy="2872392"/>
            <a:chOff x="579120" y="1447800"/>
            <a:chExt cx="444432" cy="287239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447800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9880FB9-7941-468D-B127-0B20ACA17FEA}"/>
                </a:ext>
              </a:extLst>
            </p:cNvPr>
            <p:cNvSpPr/>
            <p:nvPr/>
          </p:nvSpPr>
          <p:spPr>
            <a:xfrm>
              <a:off x="579320" y="3214164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D2E3CB5-C9A9-4561-A011-83ACA1F38853}"/>
                </a:ext>
              </a:extLst>
            </p:cNvPr>
            <p:cNvSpPr/>
            <p:nvPr/>
          </p:nvSpPr>
          <p:spPr>
            <a:xfrm>
              <a:off x="579420" y="3643084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68B65A-FBA5-4F88-BB9A-6EC0055F63EB}"/>
                </a:ext>
              </a:extLst>
            </p:cNvPr>
            <p:cNvSpPr/>
            <p:nvPr/>
          </p:nvSpPr>
          <p:spPr>
            <a:xfrm>
              <a:off x="579520" y="2764974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2695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094DD-EEE5-53EA-5FCD-F45A3CAA5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70BD82-11A6-DE06-41D8-E65934CC3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F6CC7-D71F-4ABC-9331-4C4680BFB200}" type="datetime1">
              <a:rPr lang="en-US" noProof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11.07.2025</a:t>
            </a:fld>
            <a:endParaRPr lang="en-US" noProof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9AF5D-58A4-E08A-C409-63944B900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FCAE4-492A-EA40-EB7C-990CE8624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en-US" noProof="0" smtClean="0">
                <a:solidFill>
                  <a:prstClr val="black"/>
                </a:solidFill>
              </a:rPr>
              <a:pPr/>
              <a:t>51</a:t>
            </a:fld>
            <a:endParaRPr lang="en-US" noProof="0" dirty="0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AD5815E-2079-17D4-8DEF-CC0AACEDC6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399165"/>
              </p:ext>
            </p:extLst>
          </p:nvPr>
        </p:nvGraphicFramePr>
        <p:xfrm>
          <a:off x="541338" y="438222"/>
          <a:ext cx="8591862" cy="3416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noProof="0" dirty="0">
                          <a:solidFill>
                            <a:srgbClr val="003CD2"/>
                          </a:solidFill>
                        </a:rPr>
                        <a:t>Which statements best describe the purpose of design principles in software architecture?</a:t>
                      </a:r>
                      <a:endParaRPr lang="en-US" b="0" noProof="0" dirty="0"/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3CD2"/>
                          </a:solidFill>
                          <a:latin typeface="Calibri Light"/>
                        </a:rPr>
                        <a:t>Select the two most appropriate answers.</a:t>
                      </a:r>
                      <a:endParaRPr lang="en-US" b="0" i="0" u="none" strike="noStrike" noProof="0" dirty="0">
                        <a:latin typeface="Calibri Light"/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>
                          <a:sym typeface="Wingdings" panose="05000000000000000000" pitchFamily="2" charset="2"/>
                        </a:rPr>
                        <a:t></a:t>
                      </a:r>
                      <a:endParaRPr lang="en-US" sz="18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/>
                        <a:t>They influence the decisions and behavior of stakeholders.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/>
                        <a:t>They replace the need for architecture documentation.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/>
                        <a:t>They help with the selection of database technology.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/>
                        <a:t>They support the structuring and quality of software architecture.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/>
                        <a:t>They prevent all runtime errors.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3B697190-1E96-8E73-9AB2-D7987CDE304F}"/>
              </a:ext>
            </a:extLst>
          </p:cNvPr>
          <p:cNvGrpSpPr/>
          <p:nvPr/>
        </p:nvGrpSpPr>
        <p:grpSpPr>
          <a:xfrm>
            <a:off x="579120" y="1447800"/>
            <a:ext cx="444432" cy="2872392"/>
            <a:chOff x="579120" y="1447800"/>
            <a:chExt cx="444432" cy="287239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099024F-79CB-F663-76AF-E52D3D839B4D}"/>
                </a:ext>
              </a:extLst>
            </p:cNvPr>
            <p:cNvSpPr/>
            <p:nvPr/>
          </p:nvSpPr>
          <p:spPr>
            <a:xfrm>
              <a:off x="579120" y="144780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4400" noProof="0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 noProof="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CA155F5-7586-1E31-ED6E-265CEBF7CE1B}"/>
                </a:ext>
              </a:extLst>
            </p:cNvPr>
            <p:cNvSpPr/>
            <p:nvPr/>
          </p:nvSpPr>
          <p:spPr>
            <a:xfrm>
              <a:off x="579320" y="3214164"/>
              <a:ext cx="65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endParaRPr lang="en-US" sz="4400" noProof="0" dirty="0">
                <a:solidFill>
                  <a:srgbClr val="00B05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D5F3FF-0E4D-EFFB-45F0-5DB0B87AC1F2}"/>
                </a:ext>
              </a:extLst>
            </p:cNvPr>
            <p:cNvSpPr/>
            <p:nvPr/>
          </p:nvSpPr>
          <p:spPr>
            <a:xfrm>
              <a:off x="579420" y="3643084"/>
              <a:ext cx="65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endParaRPr lang="en-US" sz="4400" noProof="0" dirty="0">
                <a:solidFill>
                  <a:srgbClr val="00B05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5313BB7-3706-CC90-ED17-3099C8D00263}"/>
                </a:ext>
              </a:extLst>
            </p:cNvPr>
            <p:cNvSpPr/>
            <p:nvPr/>
          </p:nvSpPr>
          <p:spPr>
            <a:xfrm>
              <a:off x="579520" y="2764974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4400" noProof="0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 noProof="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0628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September 17,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52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545310"/>
              </p:ext>
            </p:extLst>
          </p:nvPr>
        </p:nvGraphicFramePr>
        <p:xfrm>
          <a:off x="541338" y="438222"/>
          <a:ext cx="8591862" cy="310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What are the possibilities for reducing or eliminating the coupling between two building blocks?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two most correct answers.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Divide one of the components into two sub-components, with a coupled and a decoupled part.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Introduce interfaces between the components.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Move common functionality to a third component and call this functionality from both components (Separation of Concerns).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583DFCAA-D213-4A7B-B2D8-5D48FE0D935A}"/>
              </a:ext>
            </a:extLst>
          </p:cNvPr>
          <p:cNvGrpSpPr/>
          <p:nvPr/>
        </p:nvGrpSpPr>
        <p:grpSpPr>
          <a:xfrm>
            <a:off x="569681" y="2171324"/>
            <a:ext cx="453471" cy="1111100"/>
            <a:chOff x="569681" y="2171324"/>
            <a:chExt cx="453471" cy="11111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2171324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A6A6FDA-1DA7-487B-98B6-666709327493}"/>
                </a:ext>
              </a:extLst>
            </p:cNvPr>
            <p:cNvSpPr/>
            <p:nvPr/>
          </p:nvSpPr>
          <p:spPr>
            <a:xfrm>
              <a:off x="569681" y="2605316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5279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September 17,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53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9059862" cy="3900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of the following terms are cross-cutting concerns in architecture?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rtl="0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Mark the answers with Yes [Y] or No [N]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Y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N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7383893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Persistence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Inter-process Communication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Domain model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Concurrency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Shopping cart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Modernization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8DEF1B1E-0C2C-455F-A387-B1FCAAE20D24}"/>
              </a:ext>
            </a:extLst>
          </p:cNvPr>
          <p:cNvGrpSpPr/>
          <p:nvPr/>
        </p:nvGrpSpPr>
        <p:grpSpPr>
          <a:xfrm>
            <a:off x="579120" y="1508796"/>
            <a:ext cx="759274" cy="2891980"/>
            <a:chOff x="579120" y="1121235"/>
            <a:chExt cx="759274" cy="289198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121235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12E6B7-D7A4-478F-B214-7E7429CDC48E}"/>
                </a:ext>
              </a:extLst>
            </p:cNvPr>
            <p:cNvSpPr/>
            <p:nvPr/>
          </p:nvSpPr>
          <p:spPr>
            <a:xfrm>
              <a:off x="979321" y="2040689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589AF65-D21B-49A8-B94C-309AC743A2FB}"/>
                </a:ext>
              </a:extLst>
            </p:cNvPr>
            <p:cNvSpPr/>
            <p:nvPr/>
          </p:nvSpPr>
          <p:spPr>
            <a:xfrm>
              <a:off x="580568" y="1550837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0832CAB-064E-4A8D-BDCD-BF70292B5A40}"/>
                </a:ext>
              </a:extLst>
            </p:cNvPr>
            <p:cNvSpPr/>
            <p:nvPr/>
          </p:nvSpPr>
          <p:spPr>
            <a:xfrm>
              <a:off x="583464" y="2410041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F5BDFA8-6CBE-4E87-A808-3B8C4B0A8D55}"/>
                </a:ext>
              </a:extLst>
            </p:cNvPr>
            <p:cNvSpPr/>
            <p:nvPr/>
          </p:nvSpPr>
          <p:spPr>
            <a:xfrm>
              <a:off x="965589" y="2904301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5E8F7A7-5692-43C7-8CF6-8D318E8964B8}"/>
                </a:ext>
              </a:extLst>
            </p:cNvPr>
            <p:cNvSpPr/>
            <p:nvPr/>
          </p:nvSpPr>
          <p:spPr>
            <a:xfrm>
              <a:off x="958723" y="3336107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9130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54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862086"/>
              </p:ext>
            </p:extLst>
          </p:nvPr>
        </p:nvGraphicFramePr>
        <p:xfrm>
          <a:off x="3420000" y="304800"/>
          <a:ext cx="6096000" cy="6228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rgbClr val="595959"/>
                          </a:solidFill>
                        </a:rPr>
                        <a:t>Prerequisites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concepts, benefits, and tasks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Stakeholder concerns and collaboration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Influencing factors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Documentation and communication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guidelines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Solution strategy and target architecture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Solution development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noProof="0">
                          <a:solidFill>
                            <a:srgbClr val="003CD2"/>
                          </a:solidFill>
                        </a:rPr>
                        <a:t>Architecture assessment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533400" y="1942041"/>
            <a:ext cx="2634060" cy="3140850"/>
            <a:chOff x="533400" y="1942041"/>
            <a:chExt cx="2634060" cy="31408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33400" y="1942041"/>
              <a:ext cx="2634060" cy="3140850"/>
              <a:chOff x="533400" y="1942041"/>
              <a:chExt cx="2634060" cy="314085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533400" y="1942041"/>
                <a:ext cx="218098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2400">
                    <a:latin typeface="Calibri" panose="020F0502020204030204" pitchFamily="34" charset="0"/>
                    <a:cs typeface="Calibri" panose="020F0502020204030204" pitchFamily="34" charset="0"/>
                  </a:rPr>
                  <a:t>Exam Questions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82824" cy="2679029"/>
              <a:chOff x="592730" y="2362200"/>
              <a:chExt cx="482824" cy="267902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82824" cy="646331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82824" cy="646331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942339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September 17,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55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8591862" cy="3853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of the following are the minimum requirements for an architecture evaluation?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two most correct answers.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Implementation status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Analysis result regarding system complexity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Test results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List of errors in development and production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Requirements and architecture documentation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Subject matter expert or product owner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2725464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1BF059AF-FBA4-441F-9122-FB7578F5AE40}"/>
              </a:ext>
            </a:extLst>
          </p:cNvPr>
          <p:cNvGrpSpPr/>
          <p:nvPr/>
        </p:nvGrpSpPr>
        <p:grpSpPr>
          <a:xfrm>
            <a:off x="580568" y="3202514"/>
            <a:ext cx="445480" cy="1110732"/>
            <a:chOff x="580568" y="3202514"/>
            <a:chExt cx="445480" cy="111073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D053B30-45AC-499B-A774-1495FF473D29}"/>
                </a:ext>
              </a:extLst>
            </p:cNvPr>
            <p:cNvSpPr/>
            <p:nvPr/>
          </p:nvSpPr>
          <p:spPr>
            <a:xfrm>
              <a:off x="580568" y="3202514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FEEE356-DEEA-44EF-A2FB-505A052C71A2}"/>
                </a:ext>
              </a:extLst>
            </p:cNvPr>
            <p:cNvSpPr/>
            <p:nvPr/>
          </p:nvSpPr>
          <p:spPr>
            <a:xfrm>
              <a:off x="582016" y="3636138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4982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56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8591862" cy="3416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of the following aspects are possible objectives for the use of dynamic code-analysis tools by a software architect?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three most correct answers.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Determining the Lines of Code (LOC) of a building block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Discovering dependencies to improve the architecture structure 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Identify violations of coding conventions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To help determine if performance and load requirements are met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Measuring memory usage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46FEA8E6-FFAF-4C71-9669-808CF1B02209}"/>
              </a:ext>
            </a:extLst>
          </p:cNvPr>
          <p:cNvGrpSpPr/>
          <p:nvPr/>
        </p:nvGrpSpPr>
        <p:grpSpPr>
          <a:xfrm>
            <a:off x="556019" y="1890174"/>
            <a:ext cx="467509" cy="2001599"/>
            <a:chOff x="556019" y="1890174"/>
            <a:chExt cx="467509" cy="200159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52592DE-E09D-4CD9-B9E7-4B04888D7814}"/>
                </a:ext>
              </a:extLst>
            </p:cNvPr>
            <p:cNvSpPr/>
            <p:nvPr/>
          </p:nvSpPr>
          <p:spPr>
            <a:xfrm>
              <a:off x="579120" y="1890174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F17203F-71DA-4743-9EEE-29679877A0FE}"/>
                </a:ext>
              </a:extLst>
            </p:cNvPr>
            <p:cNvSpPr/>
            <p:nvPr/>
          </p:nvSpPr>
          <p:spPr>
            <a:xfrm>
              <a:off x="579496" y="2766944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CC37F40-1A57-4176-BC5A-C1FB42420FA3}"/>
                </a:ext>
              </a:extLst>
            </p:cNvPr>
            <p:cNvSpPr/>
            <p:nvPr/>
          </p:nvSpPr>
          <p:spPr>
            <a:xfrm>
              <a:off x="556019" y="3214665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4725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7C6C4-C386-1045-A821-BFA3AFFC0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C16A51-6B7F-4C2C-A667-AA1F29342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C2A03-9DD3-49ED-8218-5778784F9DFD}" type="datetime1">
              <a:rPr lang="en-US" noProof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11.07.2025</a:t>
            </a:fld>
            <a:endParaRPr lang="en-US" noProof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D516E7-3402-F484-02DE-13F4D278A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F5CA0-97DE-A89D-4B71-A960465AB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en-US" noProof="0" smtClean="0">
                <a:solidFill>
                  <a:prstClr val="black"/>
                </a:solidFill>
              </a:rPr>
              <a:pPr/>
              <a:t>57</a:t>
            </a:fld>
            <a:endParaRPr lang="en-US" noProof="0" dirty="0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9BA5137-8BE1-E8D7-8888-F70520A9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63380"/>
              </p:ext>
            </p:extLst>
          </p:nvPr>
        </p:nvGraphicFramePr>
        <p:xfrm>
          <a:off x="541338" y="438222"/>
          <a:ext cx="8591862" cy="3416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noProof="0" dirty="0">
                          <a:solidFill>
                            <a:srgbClr val="003CD2"/>
                          </a:solidFill>
                        </a:rPr>
                        <a:t>Which analysis methods are suitable for evaluating quality requirements such as performance or security?</a:t>
                      </a:r>
                      <a:endParaRPr lang="en-US" b="1" noProof="0" dirty="0"/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3CD2"/>
                          </a:solidFill>
                          <a:latin typeface="Calibri Light"/>
                        </a:rPr>
                        <a:t>Select two of the following most appropriate answers:</a:t>
                      </a:r>
                      <a:endParaRPr lang="en-US" noProof="0" dirty="0"/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>
                          <a:sym typeface="Wingdings" panose="05000000000000000000" pitchFamily="2" charset="2"/>
                        </a:rPr>
                        <a:t></a:t>
                      </a:r>
                      <a:endParaRPr lang="en-US" sz="18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/>
                        <a:t>Interview with stakeholders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/>
                        <a:t>Daily stand-ups in the Scrum process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/>
                        <a:t>Analysis of acceptance test results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/>
                        <a:t>Cost comparison of different hardware providers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/>
                        <a:t>Use of architectural metrics such as afferent/efferent coupling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8CD7ECB0-5AAF-9AAE-40C8-28CC291C055E}"/>
              </a:ext>
            </a:extLst>
          </p:cNvPr>
          <p:cNvGrpSpPr/>
          <p:nvPr/>
        </p:nvGrpSpPr>
        <p:grpSpPr>
          <a:xfrm>
            <a:off x="579120" y="1476815"/>
            <a:ext cx="444408" cy="2686678"/>
            <a:chOff x="579120" y="1476815"/>
            <a:chExt cx="444408" cy="268667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FA5BE1F-2062-C4FE-AC2A-F24008C67038}"/>
                </a:ext>
              </a:extLst>
            </p:cNvPr>
            <p:cNvSpPr/>
            <p:nvPr/>
          </p:nvSpPr>
          <p:spPr>
            <a:xfrm>
              <a:off x="579120" y="1476815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4400" noProof="0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 noProof="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C8536B8-A677-AB5E-93DD-D8E35B51ACC5}"/>
                </a:ext>
              </a:extLst>
            </p:cNvPr>
            <p:cNvSpPr/>
            <p:nvPr/>
          </p:nvSpPr>
          <p:spPr>
            <a:xfrm>
              <a:off x="579496" y="2353585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4400" noProof="0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 noProof="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58565E-2818-990E-FE07-0BA9533E7FA0}"/>
                </a:ext>
              </a:extLst>
            </p:cNvPr>
            <p:cNvSpPr/>
            <p:nvPr/>
          </p:nvSpPr>
          <p:spPr>
            <a:xfrm>
              <a:off x="579872" y="3486385"/>
              <a:ext cx="65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endParaRPr lang="en-US" sz="4400" noProof="0" dirty="0">
                <a:solidFill>
                  <a:srgbClr val="00B05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Wingdings" panose="05000000000000000000" pitchFamily="2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5328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BD6EF-A607-A9CB-1972-360F33D5A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F65712-D913-317A-6133-946D717DE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C2A03-9DD3-49ED-8218-5778784F9DFD}" type="datetime1">
              <a:rPr lang="en-US" noProof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11.07.2025</a:t>
            </a:fld>
            <a:endParaRPr lang="en-US" noProof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AEE746-C851-313D-E432-20CDE5D5B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977FB-1036-5F45-73FF-E7DFB2B0D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en-US" noProof="0" smtClean="0">
                <a:solidFill>
                  <a:prstClr val="black"/>
                </a:solidFill>
              </a:rPr>
              <a:pPr/>
              <a:t>58</a:t>
            </a:fld>
            <a:endParaRPr lang="en-US" noProof="0" dirty="0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76D48C0-9337-6183-496E-343D03A92D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458832"/>
              </p:ext>
            </p:extLst>
          </p:nvPr>
        </p:nvGraphicFramePr>
        <p:xfrm>
          <a:off x="541338" y="438222"/>
          <a:ext cx="8591862" cy="3258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noProof="0" dirty="0">
                          <a:solidFill>
                            <a:srgbClr val="003CD2"/>
                          </a:solidFill>
                        </a:rPr>
                        <a:t>What is a typical reason for conducting an architecture analysis during a project?</a:t>
                      </a:r>
                      <a:endParaRPr lang="en-US" b="1" noProof="0" dirty="0"/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3CD2"/>
                          </a:solidFill>
                          <a:latin typeface="Calibri Light"/>
                        </a:rPr>
                        <a:t>Select the one most appropriate answer from the following options.</a:t>
                      </a:r>
                      <a:endParaRPr lang="en-US" b="0" i="0" u="none" strike="noStrike" noProof="0" dirty="0">
                        <a:latin typeface="Calibri Light"/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>
                          <a:sym typeface="Wingdings" panose="05000000000000000000" pitchFamily="2" charset="2"/>
                        </a:rPr>
                        <a:t></a:t>
                      </a:r>
                      <a:endParaRPr lang="en-US" sz="18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/>
                        <a:t>To evaluate new programming languages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/>
                        <a:t>To determine whether the development team is adequately staffed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/>
                        <a:t>To verify whether the architecture meets the functional and quality requirements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/>
                        <a:t>To design a new user interface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B5FDBD30-711B-CD4E-F722-E697152C1AA4}"/>
              </a:ext>
            </a:extLst>
          </p:cNvPr>
          <p:cNvGrpSpPr/>
          <p:nvPr/>
        </p:nvGrpSpPr>
        <p:grpSpPr>
          <a:xfrm>
            <a:off x="579120" y="1890174"/>
            <a:ext cx="444408" cy="2273319"/>
            <a:chOff x="579120" y="1890174"/>
            <a:chExt cx="444408" cy="22733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C36F5F0-0C8F-1EA6-914A-0991683C431E}"/>
                </a:ext>
              </a:extLst>
            </p:cNvPr>
            <p:cNvSpPr/>
            <p:nvPr/>
          </p:nvSpPr>
          <p:spPr>
            <a:xfrm>
              <a:off x="579120" y="1890174"/>
              <a:ext cx="65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endParaRPr lang="en-US" sz="4400" noProof="0" dirty="0">
                <a:solidFill>
                  <a:srgbClr val="00B05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836055D-A001-A16F-C3FC-48C3D4C80F03}"/>
                </a:ext>
              </a:extLst>
            </p:cNvPr>
            <p:cNvSpPr/>
            <p:nvPr/>
          </p:nvSpPr>
          <p:spPr>
            <a:xfrm>
              <a:off x="579496" y="2346648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4400" noProof="0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 noProof="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E7ABC7-78E0-AA86-1BBC-7E21948708C0}"/>
                </a:ext>
              </a:extLst>
            </p:cNvPr>
            <p:cNvSpPr/>
            <p:nvPr/>
          </p:nvSpPr>
          <p:spPr>
            <a:xfrm>
              <a:off x="579872" y="3486385"/>
              <a:ext cx="65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endParaRPr lang="en-US" sz="4400" noProof="0" dirty="0">
                <a:solidFill>
                  <a:srgbClr val="00B05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Wingdings" panose="05000000000000000000" pitchFamily="2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959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DCB0A-1092-BABF-3C03-15EF62AD0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D0DCE9-9F2B-C2C2-7CB2-1F15A98B0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C2A03-9DD3-49ED-8218-5778784F9DFD}" type="datetime1">
              <a:rPr lang="en-US" noProof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11.07.2025</a:t>
            </a:fld>
            <a:endParaRPr lang="en-US" noProof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4452A8-18A3-9C7B-2754-F2F310F39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0F2BC-7C2C-D4B7-3078-46F75934C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en-US" noProof="0" smtClean="0">
                <a:solidFill>
                  <a:prstClr val="black"/>
                </a:solidFill>
              </a:rPr>
              <a:pPr/>
              <a:t>59</a:t>
            </a:fld>
            <a:endParaRPr lang="en-US" noProof="0" dirty="0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8FBB924-A197-8B94-D532-C96CCA0F54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767865"/>
              </p:ext>
            </p:extLst>
          </p:nvPr>
        </p:nvGraphicFramePr>
        <p:xfrm>
          <a:off x="541338" y="438222"/>
          <a:ext cx="8591862" cy="3258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noProof="0" dirty="0">
                          <a:solidFill>
                            <a:srgbClr val="003CD2"/>
                          </a:solidFill>
                          <a:latin typeface="Calibri Light"/>
                        </a:rPr>
                        <a:t>What is a benefit of architecture analysis after implementation?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400" b="0" i="0" u="none" strike="noStrike" noProof="0" dirty="0">
                        <a:solidFill>
                          <a:srgbClr val="003CD2"/>
                        </a:solidFill>
                        <a:latin typeface="Calibri Light"/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3CD2"/>
                          </a:solidFill>
                          <a:latin typeface="Calibri Light"/>
                        </a:rPr>
                        <a:t>Select the one most appropriate answer from the following options.</a:t>
                      </a:r>
                      <a:endParaRPr lang="en-US" b="0" i="0" u="none" strike="noStrike" noProof="0" dirty="0">
                        <a:latin typeface="Calibri Light"/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>
                          <a:sym typeface="Wingdings" panose="05000000000000000000" pitchFamily="2" charset="2"/>
                        </a:rPr>
                        <a:t></a:t>
                      </a:r>
                      <a:endParaRPr lang="en-US" sz="18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>
                          <a:latin typeface="Calibri Light"/>
                        </a:rPr>
                        <a:t>Identification of deviations between the implemented solution and the planned architectural design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>
                          <a:latin typeface="Calibri Light"/>
                        </a:rPr>
                        <a:t>Conducting unit tests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>
                          <a:latin typeface="Calibri Light"/>
                        </a:rPr>
                        <a:t>Selection of the cloud provider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>
                          <a:latin typeface="Calibri Light"/>
                        </a:rPr>
                        <a:t>Introduction of new agile methods</a:t>
                      </a:r>
                      <a:endParaRPr lang="en-US" noProof="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9724F7AE-D008-E167-4600-96AED3C06454}"/>
              </a:ext>
            </a:extLst>
          </p:cNvPr>
          <p:cNvGrpSpPr/>
          <p:nvPr/>
        </p:nvGrpSpPr>
        <p:grpSpPr>
          <a:xfrm>
            <a:off x="579120" y="1475303"/>
            <a:ext cx="444408" cy="2688190"/>
            <a:chOff x="579120" y="1475303"/>
            <a:chExt cx="444408" cy="268819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66C1911-4DFA-EFEC-5567-95DD068A5EE5}"/>
                </a:ext>
              </a:extLst>
            </p:cNvPr>
            <p:cNvSpPr/>
            <p:nvPr/>
          </p:nvSpPr>
          <p:spPr>
            <a:xfrm>
              <a:off x="579120" y="1890174"/>
              <a:ext cx="65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endParaRPr lang="en-US" sz="4400" noProof="0" dirty="0">
                <a:solidFill>
                  <a:srgbClr val="00B05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049D675-4E98-DE84-3840-C0E744A66684}"/>
                </a:ext>
              </a:extLst>
            </p:cNvPr>
            <p:cNvSpPr/>
            <p:nvPr/>
          </p:nvSpPr>
          <p:spPr>
            <a:xfrm>
              <a:off x="579496" y="1475303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4400" noProof="0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 noProof="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2A82A32-3BDC-59ED-3A3C-F8DD7A3EAEF7}"/>
                </a:ext>
              </a:extLst>
            </p:cNvPr>
            <p:cNvSpPr/>
            <p:nvPr/>
          </p:nvSpPr>
          <p:spPr>
            <a:xfrm>
              <a:off x="579872" y="3486385"/>
              <a:ext cx="65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endParaRPr lang="en-US" sz="4400" noProof="0" dirty="0">
                <a:solidFill>
                  <a:srgbClr val="00B05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Wingdings" panose="05000000000000000000" pitchFamily="2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994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865527" y="381000"/>
            <a:ext cx="8815339" cy="7019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n-US" sz="3200">
                <a:latin typeface="Calibri Light" panose="020F0302020204030204" pitchFamily="34" charset="0"/>
              </a:rPr>
              <a:t>Thank you for your attention!</a:t>
            </a:r>
          </a:p>
        </p:txBody>
      </p:sp>
      <p:sp>
        <p:nvSpPr>
          <p:cNvPr id="8" name="Rechteck 7"/>
          <p:cNvSpPr/>
          <p:nvPr/>
        </p:nvSpPr>
        <p:spPr>
          <a:xfrm>
            <a:off x="865527" y="5809679"/>
            <a:ext cx="8815339" cy="7019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n-US" sz="3200">
                <a:latin typeface="Calibri Light" panose="020F0302020204030204" pitchFamily="34" charset="0"/>
              </a:rPr>
              <a:t>Questions?</a:t>
            </a:r>
          </a:p>
        </p:txBody>
      </p:sp>
      <p:pic>
        <p:nvPicPr>
          <p:cNvPr id="21" name="Grafik 20" descr="Question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00600" y="1828800"/>
            <a:ext cx="4783597" cy="3328416"/>
          </a:xfrm>
          <a:prstGeom prst="rect">
            <a:avLst/>
          </a:prstGeom>
        </p:spPr>
      </p:pic>
      <p:pic>
        <p:nvPicPr>
          <p:cNvPr id="23" name="Grafik 21">
            <a:extLst>
              <a:ext uri="{FF2B5EF4-FFF2-40B4-BE49-F238E27FC236}">
                <a16:creationId xmlns:a16="http://schemas.microsoft.com/office/drawing/2014/main" id="{DB944D35-8BF4-4343-A76E-9B0078BD322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19509" y="1802713"/>
            <a:ext cx="2427770" cy="940487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852D8FB4-5B5E-464D-BC02-2FB866717C43}"/>
              </a:ext>
            </a:extLst>
          </p:cNvPr>
          <p:cNvGrpSpPr/>
          <p:nvPr/>
        </p:nvGrpSpPr>
        <p:grpSpPr>
          <a:xfrm>
            <a:off x="1143000" y="3087293"/>
            <a:ext cx="3581401" cy="2107329"/>
            <a:chOff x="1143000" y="3200400"/>
            <a:chExt cx="3581401" cy="210732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FF327AA-690B-4A82-BD53-8A5FCFB7030B}"/>
                </a:ext>
              </a:extLst>
            </p:cNvPr>
            <p:cNvGrpSpPr/>
            <p:nvPr/>
          </p:nvGrpSpPr>
          <p:grpSpPr>
            <a:xfrm>
              <a:off x="1143000" y="3200400"/>
              <a:ext cx="3581401" cy="2107329"/>
              <a:chOff x="1169545" y="2540508"/>
              <a:chExt cx="3581401" cy="2107329"/>
            </a:xfrm>
          </p:grpSpPr>
          <p:sp>
            <p:nvSpPr>
              <p:cNvPr id="20" name="Rectangle 14">
                <a:extLst>
                  <a:ext uri="{FF2B5EF4-FFF2-40B4-BE49-F238E27FC236}">
                    <a16:creationId xmlns:a16="http://schemas.microsoft.com/office/drawing/2014/main" id="{1A9559CD-BA77-48D0-922B-D2BB346899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6360" y="2590261"/>
                <a:ext cx="3504586" cy="205757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rtlCol="0" anchor="ctr"/>
              <a:lstStyle/>
              <a:p>
                <a:pPr rtl="0"/>
                <a:endParaRPr lang="en-US" sz="1600">
                  <a:latin typeface="Calibri Light" panose="020F0302020204030204" pitchFamily="34" charset="0"/>
                </a:endParaRPr>
              </a:p>
            </p:txBody>
          </p:sp>
          <p:sp>
            <p:nvSpPr>
              <p:cNvPr id="22" name="Rectangle 15">
                <a:extLst>
                  <a:ext uri="{FF2B5EF4-FFF2-40B4-BE49-F238E27FC236}">
                    <a16:creationId xmlns:a16="http://schemas.microsoft.com/office/drawing/2014/main" id="{0F3976B2-66DF-42DA-8A59-D2D4D5CCB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9545" y="2540508"/>
                <a:ext cx="3504586" cy="203104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</p:spPr>
            <p:txBody>
              <a:bodyPr wrap="none" lIns="108000" tIns="0" rIns="0" bIns="0" rtlCol="0" anchor="ctr"/>
              <a:lstStyle/>
              <a:p>
                <a:pPr rtl="0"/>
                <a:r>
                  <a:rPr lang="en-US" sz="2000" b="1">
                    <a:solidFill>
                      <a:srgbClr val="003CD2"/>
                    </a:solidFill>
                  </a:rPr>
                  <a:t>Roger E. Rhoades</a:t>
                </a:r>
              </a:p>
              <a:p>
                <a:pPr rtl="0">
                  <a:spcAft>
                    <a:spcPts val="1200"/>
                  </a:spcAft>
                </a:pPr>
                <a:r>
                  <a:rPr lang="en-US" sz="1600"/>
                  <a:t>Owner and Trainer</a:t>
                </a:r>
                <a:endParaRPr lang="en-US"/>
              </a:p>
              <a:p>
                <a:pPr rtl="0"/>
                <a:r>
                  <a:rPr lang="en-US" sz="1600"/>
                  <a:t>+49 152 53 44 33 55</a:t>
                </a:r>
              </a:p>
              <a:p>
                <a:pPr rtl="0"/>
                <a:r>
                  <a:rPr lang="en-US" sz="1600"/>
                  <a:t>r.rhoades@albion.eu</a:t>
                </a:r>
              </a:p>
              <a:p>
                <a:pPr rtl="0"/>
                <a:r>
                  <a:rPr lang="en-US" sz="1600"/>
                  <a:t>www.albion.eu</a:t>
                </a:r>
                <a:endParaRPr lang="en-US" sz="1600">
                  <a:latin typeface="Calibri Light" panose="020F0302020204030204" pitchFamily="34" charset="0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F817970-A4FA-4849-917B-2C3E655862F3}"/>
                </a:ext>
              </a:extLst>
            </p:cNvPr>
            <p:cNvGrpSpPr/>
            <p:nvPr/>
          </p:nvGrpSpPr>
          <p:grpSpPr>
            <a:xfrm>
              <a:off x="2907685" y="3295420"/>
              <a:ext cx="1469190" cy="1900871"/>
              <a:chOff x="2932061" y="3295420"/>
              <a:chExt cx="1469190" cy="1900871"/>
            </a:xfrm>
          </p:grpSpPr>
          <p:sp>
            <p:nvSpPr>
              <p:cNvPr id="31" name="Parallelogram 30">
                <a:extLst>
                  <a:ext uri="{FF2B5EF4-FFF2-40B4-BE49-F238E27FC236}">
                    <a16:creationId xmlns:a16="http://schemas.microsoft.com/office/drawing/2014/main" id="{B186EA33-8F15-4959-8D1F-4BD99C8CBFFA}"/>
                  </a:ext>
                </a:extLst>
              </p:cNvPr>
              <p:cNvSpPr/>
              <p:nvPr/>
            </p:nvSpPr>
            <p:spPr>
              <a:xfrm>
                <a:off x="2932061" y="3440550"/>
                <a:ext cx="1469190" cy="1619307"/>
              </a:xfrm>
              <a:prstGeom prst="parallelogram">
                <a:avLst>
                  <a:gd name="adj" fmla="val 63736"/>
                </a:avLst>
              </a:prstGeom>
              <a:solidFill>
                <a:srgbClr val="DADADA"/>
              </a:solidFill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en-US" sz="1400"/>
              </a:p>
            </p:txBody>
          </p:sp>
          <p:sp>
            <p:nvSpPr>
              <p:cNvPr id="37" name="Parallelogram 36">
                <a:extLst>
                  <a:ext uri="{FF2B5EF4-FFF2-40B4-BE49-F238E27FC236}">
                    <a16:creationId xmlns:a16="http://schemas.microsoft.com/office/drawing/2014/main" id="{599CA6A4-69AA-4785-96DF-2742AF995D43}"/>
                  </a:ext>
                </a:extLst>
              </p:cNvPr>
              <p:cNvSpPr/>
              <p:nvPr/>
            </p:nvSpPr>
            <p:spPr>
              <a:xfrm rot="1806280">
                <a:off x="3301980" y="3295420"/>
                <a:ext cx="52437" cy="1900871"/>
              </a:xfrm>
              <a:custGeom>
                <a:avLst/>
                <a:gdLst>
                  <a:gd name="connsiteX0" fmla="*/ 0 w 50502"/>
                  <a:gd name="connsiteY0" fmla="*/ 1852216 h 1852216"/>
                  <a:gd name="connsiteX1" fmla="*/ 0 w 50502"/>
                  <a:gd name="connsiteY1" fmla="*/ 0 h 1852216"/>
                  <a:gd name="connsiteX2" fmla="*/ 50502 w 50502"/>
                  <a:gd name="connsiteY2" fmla="*/ 0 h 1852216"/>
                  <a:gd name="connsiteX3" fmla="*/ 50502 w 50502"/>
                  <a:gd name="connsiteY3" fmla="*/ 1852216 h 1852216"/>
                  <a:gd name="connsiteX4" fmla="*/ 0 w 50502"/>
                  <a:gd name="connsiteY4" fmla="*/ 1852216 h 1852216"/>
                  <a:gd name="connsiteX0" fmla="*/ 1935 w 52437"/>
                  <a:gd name="connsiteY0" fmla="*/ 1852216 h 1852216"/>
                  <a:gd name="connsiteX1" fmla="*/ 0 w 52437"/>
                  <a:gd name="connsiteY1" fmla="*/ 25684 h 1852216"/>
                  <a:gd name="connsiteX2" fmla="*/ 52437 w 52437"/>
                  <a:gd name="connsiteY2" fmla="*/ 0 h 1852216"/>
                  <a:gd name="connsiteX3" fmla="*/ 52437 w 52437"/>
                  <a:gd name="connsiteY3" fmla="*/ 1852216 h 1852216"/>
                  <a:gd name="connsiteX4" fmla="*/ 1935 w 52437"/>
                  <a:gd name="connsiteY4" fmla="*/ 1852216 h 1852216"/>
                  <a:gd name="connsiteX0" fmla="*/ 2335 w 52437"/>
                  <a:gd name="connsiteY0" fmla="*/ 1882050 h 1882050"/>
                  <a:gd name="connsiteX1" fmla="*/ 0 w 52437"/>
                  <a:gd name="connsiteY1" fmla="*/ 25684 h 1882050"/>
                  <a:gd name="connsiteX2" fmla="*/ 52437 w 52437"/>
                  <a:gd name="connsiteY2" fmla="*/ 0 h 1882050"/>
                  <a:gd name="connsiteX3" fmla="*/ 52437 w 52437"/>
                  <a:gd name="connsiteY3" fmla="*/ 1852216 h 1882050"/>
                  <a:gd name="connsiteX4" fmla="*/ 2335 w 52437"/>
                  <a:gd name="connsiteY4" fmla="*/ 1882050 h 1882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437" h="1882050">
                    <a:moveTo>
                      <a:pt x="2335" y="1882050"/>
                    </a:moveTo>
                    <a:cubicBezTo>
                      <a:pt x="1557" y="1263261"/>
                      <a:pt x="778" y="644473"/>
                      <a:pt x="0" y="25684"/>
                    </a:cubicBezTo>
                    <a:lnTo>
                      <a:pt x="52437" y="0"/>
                    </a:lnTo>
                    <a:lnTo>
                      <a:pt x="52437" y="1852216"/>
                    </a:lnTo>
                    <a:lnTo>
                      <a:pt x="2335" y="1882050"/>
                    </a:lnTo>
                    <a:close/>
                  </a:path>
                </a:pathLst>
              </a:custGeom>
              <a:solidFill>
                <a:srgbClr val="DADADA"/>
              </a:solidFill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en-US" sz="1400"/>
              </a:p>
            </p:txBody>
          </p:sp>
        </p:grpSp>
        <p:pic>
          <p:nvPicPr>
            <p:cNvPr id="39" name="Picture 38" descr="A person wearing a suit and tie smiling at the camera&#10;&#10;Description automatically generated">
              <a:extLst>
                <a:ext uri="{FF2B5EF4-FFF2-40B4-BE49-F238E27FC236}">
                  <a16:creationId xmlns:a16="http://schemas.microsoft.com/office/drawing/2014/main" id="{9A3C3EB6-1EBD-4FD0-A135-40F3405089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62" t="240" r="37207" b="-240"/>
            <a:stretch/>
          </p:blipFill>
          <p:spPr>
            <a:xfrm>
              <a:off x="3424814" y="3302721"/>
              <a:ext cx="1111428" cy="18263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72355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748369"/>
              </p:ext>
            </p:extLst>
          </p:nvPr>
        </p:nvGraphicFramePr>
        <p:xfrm>
          <a:off x="541338" y="438222"/>
          <a:ext cx="9059862" cy="4776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Question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Explanation Text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 b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18628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Answer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Answer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Answer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Answer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Answer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Answer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G.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Answer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7964879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H.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Answer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4242658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3BCB195-4CAF-E82E-4EB4-276BB77BECB9}"/>
              </a:ext>
            </a:extLst>
          </p:cNvPr>
          <p:cNvSpPr/>
          <p:nvPr/>
        </p:nvSpPr>
        <p:spPr>
          <a:xfrm>
            <a:off x="541338" y="1539025"/>
            <a:ext cx="444032" cy="677108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rtl="0"/>
            <a:r>
              <a: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en-US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431562-1DAC-4879-234E-1A46EB4C2814}"/>
              </a:ext>
            </a:extLst>
          </p:cNvPr>
          <p:cNvSpPr/>
          <p:nvPr/>
        </p:nvSpPr>
        <p:spPr>
          <a:xfrm>
            <a:off x="985370" y="1524000"/>
            <a:ext cx="359073" cy="677108"/>
          </a:xfrm>
          <a:prstGeom prst="rect">
            <a:avLst/>
          </a:prstGeom>
        </p:spPr>
        <p:txBody>
          <a:bodyPr wrap="none" lIns="0" tIns="0" rIns="0" bIns="0" rtlCol="0" anchor="ctr">
            <a:spAutoFit/>
          </a:bodyPr>
          <a:lstStyle/>
          <a:p>
            <a:pPr algn="ctr" rtl="0"/>
            <a:r>
              <a: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</a:t>
            </a:r>
            <a:endParaRPr lang="en-US" sz="440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776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121059"/>
              </p:ext>
            </p:extLst>
          </p:nvPr>
        </p:nvGraphicFramePr>
        <p:xfrm>
          <a:off x="541338" y="438222"/>
          <a:ext cx="8627862" cy="4363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Question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Explanation Text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Answer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Answer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Answer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Answer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Answer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Answer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G.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Answer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7964879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H.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Answer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4242658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3BCB195-4CAF-E82E-4EB4-276BB77BECB9}"/>
              </a:ext>
            </a:extLst>
          </p:cNvPr>
          <p:cNvSpPr/>
          <p:nvPr/>
        </p:nvSpPr>
        <p:spPr>
          <a:xfrm>
            <a:off x="579972" y="1110805"/>
            <a:ext cx="444032" cy="677108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rtl="0"/>
            <a:r>
              <a: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en-US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929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_AUDIO_DECODED" val="1"/>
  <p:tag name="ARTICULATE_PRESENTATION_ID" val="12180"/>
  <p:tag name="ENGAGE_TAB_COUNT" val="1"/>
  <p:tag name="ARTICULATE_REFERENCE_COUNT" val="2"/>
  <p:tag name="ARTICULATE_REFERENCE_TYPE_1" val="0"/>
  <p:tag name="ARTICULATE_REFERENCE_TITLE_1" val="IASA - IT Architecture Glossary"/>
  <p:tag name="ARTICULATE_REFERENCE_1" val="http://www.iasahome.org/web/home/ITarchitecture/Glossary"/>
  <p:tag name="ARTICULATE_REFERENCE_TYPE_2" val="0"/>
  <p:tag name="ARTICULATE_REFERENCE_TITLE_2" val="IASA - IT Architect Skills Library"/>
  <p:tag name="ARTICULATE_REFERENCE_2" val="http://www.iasahome.org/web/home/skillset"/>
  <p:tag name="ART_ENCODE_TYPE" val="2"/>
  <p:tag name="ART_ENCODE_INDEX" val="1"/>
  <p:tag name="PLAYERLOGOHEIGHT" val="70"/>
  <p:tag name="PLAYERLOGOWIDTH" val="244"/>
  <p:tag name="PUBLISH_TITLE" val="RAS_Module1_Intro"/>
  <p:tag name="ARTICULATE_PUBLISH_PATH" val="C:\Users\ellenb\Documents\Articulate Presenter"/>
  <p:tag name="ARTICULATE_LOGO" val="logopanel.swf"/>
  <p:tag name="ARTICULATE_PRESENTER" val="(Use slide-level presenters)"/>
  <p:tag name="ARTICULATE_PRESENTER_GUID" val="-1"/>
  <p:tag name="ARTICULATE_LMS" val="0"/>
  <p:tag name="LAUNCHINNEWWINDOW" val="0"/>
  <p:tag name="LASTPUBLISHED" val="C:\Users\ellenb\Documents\Articulate Presenter\RAS_Module1_Intro\player.html"/>
  <p:tag name="ENGAGE_INTERACTION_TITLE_1" val="About The Course"/>
  <p:tag name="ENGAGE_INTERACTION_FILENAME_1" val="C:\Documents and Settings\Colin\My Documents\My Articulate Projects\IASA\Prototype\About This Course.intr"/>
  <p:tag name="ENGAGE_INTERACTION_PAUSE_1" val="1"/>
  <p:tag name="ENGAGE_INTERACTION_ID_1" val="56142"/>
  <p:tag name="ENGAGE_INTERACTION_TABNAME_1" val="ABOUT THE COURSE"/>
  <p:tag name="ENGAGE_LAST_MODIFY_DATE_1" val="39436.7253587963"/>
  <p:tag name="LMS_PUBLISH" val="No"/>
  <p:tag name="ARTICULATE_TEMPLATE" val="Corporate Communications"/>
  <p:tag name="ENGAGE_INTERACTION_GUID_1" val="c136f20a-976f-4194-a0fe-05e6fa88e8bc"/>
  <p:tag name="PRESENTER_PREVIEW_MODE" val="0"/>
  <p:tag name="ARTICULATE_PROJECT_CHECK" val="0"/>
  <p:tag name="PRESENTATION_PLAYLIST_COUNT" val="0"/>
  <p:tag name="PRESENTATION_PRESENTER_SLIDE_LEVEL" val="0"/>
  <p:tag name="ARTICULATE_PRESENTER_VERSION" val="6"/>
  <p:tag name="ARTICULATE_PROJECT_OPEN" val="0"/>
</p:tagLst>
</file>

<file path=ppt/theme/theme1.xml><?xml version="1.0" encoding="utf-8"?>
<a:theme xmlns:a="http://schemas.openxmlformats.org/drawingml/2006/main" name="Office Theme">
  <a:themeElements>
    <a:clrScheme name="Albion">
      <a:dk1>
        <a:sysClr val="windowText" lastClr="000000"/>
      </a:dk1>
      <a:lt1>
        <a:sysClr val="window" lastClr="FFFFFF"/>
      </a:lt1>
      <a:dk2>
        <a:srgbClr val="0055D2"/>
      </a:dk2>
      <a:lt2>
        <a:srgbClr val="9FE8FF"/>
      </a:lt2>
      <a:accent1>
        <a:srgbClr val="0016DC"/>
      </a:accent1>
      <a:accent2>
        <a:srgbClr val="00CCFF"/>
      </a:accent2>
      <a:accent3>
        <a:srgbClr val="FFFFF5"/>
      </a:accent3>
      <a:accent4>
        <a:srgbClr val="94F5FA"/>
      </a:accent4>
      <a:accent5>
        <a:srgbClr val="FFCCCC"/>
      </a:accent5>
      <a:accent6>
        <a:srgbClr val="CCFFCC"/>
      </a:accent6>
      <a:hlink>
        <a:srgbClr val="003CD2"/>
      </a:hlink>
      <a:folHlink>
        <a:srgbClr val="87A9F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Calibri Light"/>
        <a:font script="Hebr" typeface="Calibri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libri Light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>
          <a:solidFill>
            <a:schemeClr val="tx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Albion">
      <a:dk1>
        <a:sysClr val="windowText" lastClr="000000"/>
      </a:dk1>
      <a:lt1>
        <a:sysClr val="window" lastClr="FFFFFF"/>
      </a:lt1>
      <a:dk2>
        <a:srgbClr val="0055D2"/>
      </a:dk2>
      <a:lt2>
        <a:srgbClr val="9FE8FF"/>
      </a:lt2>
      <a:accent1>
        <a:srgbClr val="0016DC"/>
      </a:accent1>
      <a:accent2>
        <a:srgbClr val="00CCFF"/>
      </a:accent2>
      <a:accent3>
        <a:srgbClr val="FFFFCC"/>
      </a:accent3>
      <a:accent4>
        <a:srgbClr val="94F5FA"/>
      </a:accent4>
      <a:accent5>
        <a:srgbClr val="FFCCCC"/>
      </a:accent5>
      <a:accent6>
        <a:srgbClr val="CCFFCC"/>
      </a:accent6>
      <a:hlink>
        <a:srgbClr val="003CD2"/>
      </a:hlink>
      <a:folHlink>
        <a:srgbClr val="87A9F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Calibri Light"/>
        <a:font script="Hebr" typeface="Calibri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libri Light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>
          <a:solidFill>
            <a:schemeClr val="tx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Calibri Light"/>
        <a:font script="Hebr" typeface="Calibri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libri Light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Calibri Light"/>
        <a:font script="Hebr" typeface="Calibri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libri Light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4966</Words>
  <Application>Microsoft Office PowerPoint</Application>
  <PresentationFormat>A4 Paper (210x297 mm)</PresentationFormat>
  <Paragraphs>1609</Paragraphs>
  <Slides>62</Slides>
  <Notes>52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62</vt:i4>
      </vt:variant>
    </vt:vector>
  </HeadingPairs>
  <TitlesOfParts>
    <vt:vector size="70" baseType="lpstr">
      <vt:lpstr>Arial</vt:lpstr>
      <vt:lpstr>Calibri</vt:lpstr>
      <vt:lpstr>Calibri Light</vt:lpstr>
      <vt:lpstr>Wingdings</vt:lpstr>
      <vt:lpstr>Wingdings 2</vt:lpstr>
      <vt:lpstr>Office Theme</vt:lpstr>
      <vt:lpstr>1_Office Theme</vt:lpstr>
      <vt:lpstr>Custom Design</vt:lpstr>
      <vt:lpstr>iSAQB CPSA Foundation</vt:lpstr>
      <vt:lpstr>Agenda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Albion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Albion</dc:title>
  <dc:subject/>
  <dc:creator>Roger E. Rhoades</dc:creator>
  <cp:keywords/>
  <cp:lastModifiedBy>Roger Rhoades</cp:lastModifiedBy>
  <cp:revision>111</cp:revision>
  <cp:lastPrinted>2024-12-03T19:23:25Z</cp:lastPrinted>
  <dcterms:created xsi:type="dcterms:W3CDTF">2010-01-13T02:34:13Z</dcterms:created>
  <dcterms:modified xsi:type="dcterms:W3CDTF">2025-07-11T12:45:26Z</dcterms:modified>
  <cp:contentStatus>Final</cp:contentStatus>
</cp:coreProperties>
</file>