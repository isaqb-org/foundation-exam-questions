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71B_33FCF6FF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omments/modernComment_74A_105933C1.xml" ContentType="application/vnd.ms-powerpoint.comment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omments/modernComment_71F_92FDAF65.xml" ContentType="application/vnd.ms-powerpoint.comment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7410" r:id="rId1"/>
    <p:sldMasterId id="2147487430" r:id="rId2"/>
    <p:sldMasterId id="2147487435" r:id="rId3"/>
  </p:sldMasterIdLst>
  <p:notesMasterIdLst>
    <p:notesMasterId r:id="rId66"/>
  </p:notesMasterIdLst>
  <p:handoutMasterIdLst>
    <p:handoutMasterId r:id="rId67"/>
  </p:handoutMasterIdLst>
  <p:sldIdLst>
    <p:sldId id="1214" r:id="rId4"/>
    <p:sldId id="1778" r:id="rId5"/>
    <p:sldId id="1815" r:id="rId6"/>
    <p:sldId id="1840" r:id="rId7"/>
    <p:sldId id="1844" r:id="rId8"/>
    <p:sldId id="1816" r:id="rId9"/>
    <p:sldId id="1871" r:id="rId10"/>
    <p:sldId id="1817" r:id="rId11"/>
    <p:sldId id="1825" r:id="rId12"/>
    <p:sldId id="1826" r:id="rId13"/>
    <p:sldId id="1806" r:id="rId14"/>
    <p:sldId id="1807" r:id="rId15"/>
    <p:sldId id="1873" r:id="rId16"/>
    <p:sldId id="1808" r:id="rId17"/>
    <p:sldId id="1845" r:id="rId18"/>
    <p:sldId id="1819" r:id="rId19"/>
    <p:sldId id="1842" r:id="rId20"/>
    <p:sldId id="1853" r:id="rId21"/>
    <p:sldId id="1846" r:id="rId22"/>
    <p:sldId id="1818" r:id="rId23"/>
    <p:sldId id="1827" r:id="rId24"/>
    <p:sldId id="1828" r:id="rId25"/>
    <p:sldId id="1812" r:id="rId26"/>
    <p:sldId id="1852" r:id="rId27"/>
    <p:sldId id="1847" r:id="rId28"/>
    <p:sldId id="1855" r:id="rId29"/>
    <p:sldId id="1820" r:id="rId30"/>
    <p:sldId id="1829" r:id="rId31"/>
    <p:sldId id="1831" r:id="rId32"/>
    <p:sldId id="1830" r:id="rId33"/>
    <p:sldId id="1832" r:id="rId34"/>
    <p:sldId id="1833" r:id="rId35"/>
    <p:sldId id="1848" r:id="rId36"/>
    <p:sldId id="1821" r:id="rId37"/>
    <p:sldId id="1857" r:id="rId38"/>
    <p:sldId id="1835" r:id="rId39"/>
    <p:sldId id="1858" r:id="rId40"/>
    <p:sldId id="1870" r:id="rId41"/>
    <p:sldId id="1860" r:id="rId42"/>
    <p:sldId id="1861" r:id="rId43"/>
    <p:sldId id="1862" r:id="rId44"/>
    <p:sldId id="1849" r:id="rId45"/>
    <p:sldId id="1872" r:id="rId46"/>
    <p:sldId id="1866" r:id="rId47"/>
    <p:sldId id="1874" r:id="rId48"/>
    <p:sldId id="1850" r:id="rId49"/>
    <p:sldId id="1823" r:id="rId50"/>
    <p:sldId id="1836" r:id="rId51"/>
    <p:sldId id="1865" r:id="rId52"/>
    <p:sldId id="1869" r:id="rId53"/>
    <p:sldId id="1875" r:id="rId54"/>
    <p:sldId id="1867" r:id="rId55"/>
    <p:sldId id="1837" r:id="rId56"/>
    <p:sldId id="1851" r:id="rId57"/>
    <p:sldId id="1868" r:id="rId58"/>
    <p:sldId id="1824" r:id="rId59"/>
    <p:sldId id="1878" r:id="rId60"/>
    <p:sldId id="1876" r:id="rId61"/>
    <p:sldId id="1877" r:id="rId62"/>
    <p:sldId id="982" r:id="rId63"/>
    <p:sldId id="1804" r:id="rId64"/>
    <p:sldId id="1843" r:id="rId65"/>
  </p:sldIdLst>
  <p:sldSz cx="9906000" cy="6858000" type="A4"/>
  <p:notesSz cx="6858000" cy="9945688"/>
  <p:custDataLst>
    <p:tags r:id="rId68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89" userDrawn="1">
          <p15:clr>
            <a:srgbClr val="A4A3A4"/>
          </p15:clr>
        </p15:guide>
        <p15:guide id="4" pos="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42B87E-50DD-8E7C-8448-06778C78FC11}" name="Nico Lausterer" initials="NL" userId="S::n.lausterer97_gmail.com#ext#@albiontc.onmicrosoft.com::fa8e3c64-7a79-44a3-91b2-77218e1104b1" providerId="AD"/>
  <p188:author id="{B1FAE4CA-7850-AC30-F5CE-F740AD3897B8}" name="Nico Lausterer" initials="NL" userId="S::nico_laustererconsulting.de#ext#@albiontc.onmicrosoft.com::6b1b79a9-b335-49b4-b346-805f8cc55bc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 Ruth" initials="aer" lastIdx="3" clrIdx="0"/>
  <p:cmAuthor id="1" name="arlo" initials="a" lastIdx="3" clrIdx="1"/>
  <p:cmAuthor id="2" name="Andy" initials="A" lastIdx="6" clrIdx="2"/>
  <p:cmAuthor id="3" name="Gloria" initials="G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3CD2"/>
    <a:srgbClr val="595959"/>
    <a:srgbClr val="F2F2F2"/>
    <a:srgbClr val="E7FAFF"/>
    <a:srgbClr val="E1F9FF"/>
    <a:srgbClr val="DADADA"/>
    <a:srgbClr val="F8F8F8"/>
    <a:srgbClr val="E7FBFF"/>
    <a:srgbClr val="C5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3118F-60DD-1746-D0F1-E3F48157FCFB}" v="3" dt="2026-03-05T14:48:57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70" y="77"/>
      </p:cViewPr>
      <p:guideLst>
        <p:guide orient="horz" pos="274"/>
        <p:guide pos="3120"/>
        <p:guide pos="289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74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8/10/relationships/authors" Target="authors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 Lausterer" userId="S::nico_laustererconsulting.de#ext#@albiontc.onmicrosoft.com::6b1b79a9-b335-49b4-b346-805f8cc55bc1" providerId="AD" clId="Web-{909BF61F-DF53-7368-5F30-EAB932A04AE7}"/>
    <pc:docChg chg="modSld">
      <pc:chgData name="Nico Lausterer" userId="S::nico_laustererconsulting.de#ext#@albiontc.onmicrosoft.com::6b1b79a9-b335-49b4-b346-805f8cc55bc1" providerId="AD" clId="Web-{909BF61F-DF53-7368-5F30-EAB932A04AE7}" dt="2025-12-04T13:22:50.847" v="10"/>
      <pc:docMkLst>
        <pc:docMk/>
      </pc:docMkLst>
      <pc:sldChg chg="mod modShow">
        <pc:chgData name="Nico Lausterer" userId="S::nico_laustererconsulting.de#ext#@albiontc.onmicrosoft.com::6b1b79a9-b335-49b4-b346-805f8cc55bc1" providerId="AD" clId="Web-{909BF61F-DF53-7368-5F30-EAB932A04AE7}" dt="2025-12-04T13:02:47.599" v="0"/>
        <pc:sldMkLst>
          <pc:docMk/>
          <pc:sldMk cId="2430973246" sldId="1808"/>
        </pc:sldMkLst>
      </pc:sldChg>
      <pc:sldChg chg="modSp modCm">
        <pc:chgData name="Nico Lausterer" userId="S::nico_laustererconsulting.de#ext#@albiontc.onmicrosoft.com::6b1b79a9-b335-49b4-b346-805f8cc55bc1" providerId="AD" clId="Web-{909BF61F-DF53-7368-5F30-EAB932A04AE7}" dt="2025-12-04T13:22:50.847" v="10"/>
        <pc:sldMkLst>
          <pc:docMk/>
          <pc:sldMk cId="872216319" sldId="1819"/>
        </pc:sldMkLst>
        <pc:graphicFrameChg chg="mod modGraphic">
          <ac:chgData name="Nico Lausterer" userId="S::nico_laustererconsulting.de#ext#@albiontc.onmicrosoft.com::6b1b79a9-b335-49b4-b346-805f8cc55bc1" providerId="AD" clId="Web-{909BF61F-DF53-7368-5F30-EAB932A04AE7}" dt="2025-12-04T13:22:50.847" v="10"/>
          <ac:graphicFrameMkLst>
            <pc:docMk/>
            <pc:sldMk cId="872216319" sldId="1819"/>
            <ac:graphicFrameMk id="6" creationId="{31D0F302-4CBE-44F3-BE75-494B6D4317B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ico Lausterer" userId="S::nico_laustererconsulting.de#ext#@albiontc.onmicrosoft.com::6b1b79a9-b335-49b4-b346-805f8cc55bc1" providerId="AD" clId="Web-{909BF61F-DF53-7368-5F30-EAB932A04AE7}" dt="2025-12-04T13:22:50.831" v="9"/>
              <pc2:cmMkLst xmlns:pc2="http://schemas.microsoft.com/office/powerpoint/2019/9/main/command">
                <pc:docMk/>
                <pc:sldMk cId="872216319" sldId="1819"/>
                <pc2:cmMk id="{BD71ACA8-F360-4BB6-899A-69422800A98E}"/>
              </pc2:cmMkLst>
            </pc226:cmChg>
          </p:ext>
        </pc:extLst>
      </pc:sldChg>
    </pc:docChg>
  </pc:docChgLst>
  <pc:docChgLst>
    <pc:chgData name="Nico Lausterer" userId="S::nico_laustererconsulting.de#ext#@albiontc.onmicrosoft.com::6b1b79a9-b335-49b4-b346-805f8cc55bc1" providerId="AD" clId="Web-{C09971A1-F957-572F-5E7C-1E2A2C862509}"/>
    <pc:docChg chg="mod modSld">
      <pc:chgData name="Nico Lausterer" userId="S::nico_laustererconsulting.de#ext#@albiontc.onmicrosoft.com::6b1b79a9-b335-49b4-b346-805f8cc55bc1" providerId="AD" clId="Web-{C09971A1-F957-572F-5E7C-1E2A2C862509}" dt="2025-11-07T14:05:05.658" v="50"/>
      <pc:docMkLst>
        <pc:docMk/>
      </pc:docMkLst>
      <pc:sldChg chg="modSp">
        <pc:chgData name="Nico Lausterer" userId="S::nico_laustererconsulting.de#ext#@albiontc.onmicrosoft.com::6b1b79a9-b335-49b4-b346-805f8cc55bc1" providerId="AD" clId="Web-{C09971A1-F957-572F-5E7C-1E2A2C862509}" dt="2025-11-07T14:03:15.262" v="45"/>
        <pc:sldMkLst>
          <pc:docMk/>
          <pc:sldMk cId="872216319" sldId="1819"/>
        </pc:sldMkLst>
        <pc:graphicFrameChg chg="mod modGraphic">
          <ac:chgData name="Nico Lausterer" userId="S::nico_laustererconsulting.de#ext#@albiontc.onmicrosoft.com::6b1b79a9-b335-49b4-b346-805f8cc55bc1" providerId="AD" clId="Web-{C09971A1-F957-572F-5E7C-1E2A2C862509}" dt="2025-11-07T14:03:15.262" v="45"/>
          <ac:graphicFrameMkLst>
            <pc:docMk/>
            <pc:sldMk cId="872216319" sldId="1819"/>
            <ac:graphicFrameMk id="6" creationId="{31D0F302-4CBE-44F3-BE75-494B6D4317B7}"/>
          </ac:graphicFrameMkLst>
        </pc:graphicFrameChg>
      </pc:sldChg>
      <pc:sldChg chg="modSp">
        <pc:chgData name="Nico Lausterer" userId="S::nico_laustererconsulting.de#ext#@albiontc.onmicrosoft.com::6b1b79a9-b335-49b4-b346-805f8cc55bc1" providerId="AD" clId="Web-{C09971A1-F957-572F-5E7C-1E2A2C862509}" dt="2025-11-06T18:11:06.598" v="31"/>
        <pc:sldMkLst>
          <pc:docMk/>
          <pc:sldMk cId="2466099045" sldId="1823"/>
        </pc:sldMkLst>
        <pc:graphicFrameChg chg="mod modGraphic">
          <ac:chgData name="Nico Lausterer" userId="S::nico_laustererconsulting.de#ext#@albiontc.onmicrosoft.com::6b1b79a9-b335-49b4-b346-805f8cc55bc1" providerId="AD" clId="Web-{C09971A1-F957-572F-5E7C-1E2A2C862509}" dt="2025-11-06T18:11:06.598" v="31"/>
          <ac:graphicFrameMkLst>
            <pc:docMk/>
            <pc:sldMk cId="2466099045" sldId="1823"/>
            <ac:graphicFrameMk id="6" creationId="{31D0F302-4CBE-44F3-BE75-494B6D4317B7}"/>
          </ac:graphicFrameMkLst>
        </pc:graphicFrameChg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6T18:02:04.537" v="0"/>
        <pc:sldMkLst>
          <pc:docMk/>
          <pc:sldMk cId="421072462" sldId="1825"/>
        </pc:sldMkLst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7T14:02:50.366" v="32"/>
        <pc:sldMkLst>
          <pc:docMk/>
          <pc:sldMk cId="2759912050" sldId="1827"/>
        </pc:sldMkLst>
      </pc:sldChg>
      <pc:sldChg chg="modSp mod modShow">
        <pc:chgData name="Nico Lausterer" userId="S::nico_laustererconsulting.de#ext#@albiontc.onmicrosoft.com::6b1b79a9-b335-49b4-b346-805f8cc55bc1" providerId="AD" clId="Web-{C09971A1-F957-572F-5E7C-1E2A2C862509}" dt="2025-11-07T14:03:00.821" v="33"/>
        <pc:sldMkLst>
          <pc:docMk/>
          <pc:sldMk cId="1856516693" sldId="1828"/>
        </pc:sldMkLst>
        <pc:graphicFrameChg chg="mod modGraphic">
          <ac:chgData name="Nico Lausterer" userId="S::nico_laustererconsulting.de#ext#@albiontc.onmicrosoft.com::6b1b79a9-b335-49b4-b346-805f8cc55bc1" providerId="AD" clId="Web-{C09971A1-F957-572F-5E7C-1E2A2C862509}" dt="2025-11-06T18:08:01.576" v="11"/>
          <ac:graphicFrameMkLst>
            <pc:docMk/>
            <pc:sldMk cId="1856516693" sldId="1828"/>
            <ac:graphicFrameMk id="6" creationId="{31D0F302-4CBE-44F3-BE75-494B6D4317B7}"/>
          </ac:graphicFrameMkLst>
        </pc:graphicFrameChg>
      </pc:sldChg>
      <pc:sldChg chg="modSp">
        <pc:chgData name="Nico Lausterer" userId="S::nico_laustererconsulting.de#ext#@albiontc.onmicrosoft.com::6b1b79a9-b335-49b4-b346-805f8cc55bc1" providerId="AD" clId="Web-{C09971A1-F957-572F-5E7C-1E2A2C862509}" dt="2025-11-06T18:08:42.453" v="23"/>
        <pc:sldMkLst>
          <pc:docMk/>
          <pc:sldMk cId="1339750934" sldId="1829"/>
        </pc:sldMkLst>
        <pc:graphicFrameChg chg="mod modGraphic">
          <ac:chgData name="Nico Lausterer" userId="S::nico_laustererconsulting.de#ext#@albiontc.onmicrosoft.com::6b1b79a9-b335-49b4-b346-805f8cc55bc1" providerId="AD" clId="Web-{C09971A1-F957-572F-5E7C-1E2A2C862509}" dt="2025-11-06T18:08:42.453" v="23"/>
          <ac:graphicFrameMkLst>
            <pc:docMk/>
            <pc:sldMk cId="1339750934" sldId="1829"/>
            <ac:graphicFrameMk id="6" creationId="{31D0F302-4CBE-44F3-BE75-494B6D4317B7}"/>
          </ac:graphicFrameMkLst>
        </pc:graphicFrameChg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6T18:09:31.173" v="24"/>
        <pc:sldMkLst>
          <pc:docMk/>
          <pc:sldMk cId="1880851651" sldId="1835"/>
        </pc:sldMkLst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6T18:07:00.870" v="1"/>
        <pc:sldMkLst>
          <pc:docMk/>
          <pc:sldMk cId="1201027958" sldId="1842"/>
        </pc:sldMkLst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7T14:05:02.439" v="49"/>
        <pc:sldMkLst>
          <pc:docMk/>
          <pc:sldMk cId="2644982230" sldId="1868"/>
        </pc:sldMkLst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7T14:04:30.199" v="47"/>
        <pc:sldMkLst>
          <pc:docMk/>
          <pc:sldMk cId="3937890691" sldId="1874"/>
        </pc:sldMkLst>
      </pc:sldChg>
      <pc:sldChg chg="mod modShow">
        <pc:chgData name="Nico Lausterer" userId="S::nico_laustererconsulting.de#ext#@albiontc.onmicrosoft.com::6b1b79a9-b335-49b4-b346-805f8cc55bc1" providerId="AD" clId="Web-{C09971A1-F957-572F-5E7C-1E2A2C862509}" dt="2025-11-07T14:05:05.658" v="50"/>
        <pc:sldMkLst>
          <pc:docMk/>
          <pc:sldMk cId="344994097" sldId="1877"/>
        </pc:sldMkLst>
      </pc:sldChg>
    </pc:docChg>
  </pc:docChgLst>
  <pc:docChgLst>
    <pc:chgData name="Nico Lausterer" userId="S::nico_laustererconsulting.de#ext#@albiontc.onmicrosoft.com::6b1b79a9-b335-49b4-b346-805f8cc55bc1" providerId="AD" clId="Web-{5443118F-60DD-1746-D0F1-E3F48157FCFB}"/>
    <pc:docChg chg="modSld">
      <pc:chgData name="Nico Lausterer" userId="S::nico_laustererconsulting.de#ext#@albiontc.onmicrosoft.com::6b1b79a9-b335-49b4-b346-805f8cc55bc1" providerId="AD" clId="Web-{5443118F-60DD-1746-D0F1-E3F48157FCFB}" dt="2026-03-05T14:47:13.236" v="0"/>
      <pc:docMkLst>
        <pc:docMk/>
      </pc:docMkLst>
      <pc:sldChg chg="mod modShow">
        <pc:chgData name="Nico Lausterer" userId="S::nico_laustererconsulting.de#ext#@albiontc.onmicrosoft.com::6b1b79a9-b335-49b4-b346-805f8cc55bc1" providerId="AD" clId="Web-{5443118F-60DD-1746-D0F1-E3F48157FCFB}" dt="2026-03-05T14:47:13.236" v="0"/>
        <pc:sldMkLst>
          <pc:docMk/>
          <pc:sldMk cId="344994097" sldId="1877"/>
        </pc:sldMkLst>
      </pc:sldChg>
    </pc:docChg>
  </pc:docChgLst>
</pc:chgInfo>
</file>

<file path=ppt/comments/modernComment_71B_33FCF6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71ACA8-F360-4BB6-899A-69422800A98E}" authorId="{B1FAE4CA-7850-AC30-F5CE-F740AD3897B8}" created="2025-11-07T14:03:33.9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72216319" sldId="1819"/>
      <ac:graphicFrameMk id="6" creationId="{31D0F302-4CBE-44F3-BE75-494B6D4317B7}"/>
      <ac:tblMk/>
      <ac:tcMk rowId="2816082024" colId="295175293"/>
      <ac:txMk cp="14" len="9">
        <ac:context len="156" hash="1899068717"/>
      </ac:txMk>
    </ac:txMkLst>
    <p188:pos x="3064018" y="2563571"/>
    <p188:txBody>
      <a:bodyPr/>
      <a:lstStyle/>
      <a:p>
        <a:r>
          <a:rPr lang="en-US"/>
          <a:t>Can support?</a:t>
        </a:r>
      </a:p>
    </p188:txBody>
  </p188:cm>
</p188:cmLst>
</file>

<file path=ppt/comments/modernComment_71F_92FDAF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EE6944-D79A-422C-96AA-E00C11F6EAD7}" authorId="{B1FAE4CA-7850-AC30-F5CE-F740AD3897B8}" created="2026-03-05T14:48:57.6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66099045" sldId="1823"/>
      <ac:graphicFrameMk id="6" creationId="{31D0F302-4CBE-44F3-BE75-494B6D4317B7}"/>
      <ac:tblMk/>
      <ac:tcMk rowId="886508097" colId="460706613"/>
      <ac:txMk cp="39" len="8">
        <ac:context len="77" hash="2373523795"/>
      </ac:txMk>
    </ac:txMkLst>
    <p188:pos x="5835826" y="160555"/>
    <p188:txBody>
      <a:bodyPr/>
      <a:lstStyle/>
      <a:p>
        <a:r>
          <a:rPr lang="en-US"/>
          <a:t>apply</a:t>
        </a:r>
      </a:p>
    </p188:txBody>
  </p188:cm>
</p188:cmLst>
</file>

<file path=ppt/comments/modernComment_74A_105933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D2A177-3D03-4A0A-ACD0-D03C6AE3D573}" authorId="{B1FAE4CA-7850-AC30-F5CE-F740AD3897B8}" created="2026-03-05T14:44:44.7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281409" sldId="1866"/>
      <ac:graphicFrameMk id="6" creationId="{BBDA4C17-7DAB-BE6B-F04C-A4AB49C4E735}"/>
      <ac:tblMk/>
      <ac:tcMk rowId="4113919278" colId="295175293"/>
      <ac:txMk cp="0" len="72">
        <ac:context len="73" hash="1470569323"/>
      </ac:txMk>
    </ac:txMkLst>
    <p188:pos x="8518701" y="1829182"/>
    <p188:txBody>
      <a:bodyPr/>
      <a:lstStyle/>
      <a:p>
        <a:r>
          <a:rPr lang="en-US"/>
          <a:t>Is that right or wrong?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l">
              <a:defRPr sz="1200"/>
            </a:lvl1pPr>
          </a:lstStyle>
          <a:p>
            <a:pPr rtl="0"/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r">
              <a:defRPr sz="1200"/>
            </a:lvl1pPr>
          </a:lstStyle>
          <a:p>
            <a:pPr rtl="0"/>
            <a:fld id="{864AFED1-54D0-4FA0-B74A-5B0AAA66A316}" type="datetimeFigureOut">
              <a:rPr lang="en-US" smtClean="0">
                <a:latin typeface="Calibri Light" panose="020F0302020204030204" pitchFamily="34" charset="0"/>
              </a:rPr>
              <a:pPr rtl="0"/>
              <a:t>5/21/2026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l">
              <a:defRPr sz="1200"/>
            </a:lvl1pPr>
          </a:lstStyle>
          <a:p>
            <a:pPr rtl="0"/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r">
              <a:defRPr sz="1200"/>
            </a:lvl1pPr>
          </a:lstStyle>
          <a:p>
            <a:pPr rtl="0"/>
            <a:fld id="{BFF7E25C-F872-466E-9D3B-FD8AD27474DF}" type="slidenum">
              <a:rPr lang="en-US" smtClean="0">
                <a:latin typeface="Calibri Light" panose="020F0302020204030204" pitchFamily="34" charset="0"/>
              </a:rPr>
              <a:pPr rtl="0"/>
              <a:t>‹#›</a:t>
            </a:fld>
            <a:endParaRPr lang="en-US">
              <a:latin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599" y="9531284"/>
            <a:ext cx="2281947" cy="261887"/>
          </a:xfrm>
          <a:prstGeom prst="rect">
            <a:avLst/>
          </a:prstGeom>
          <a:noFill/>
        </p:spPr>
        <p:txBody>
          <a:bodyPr wrap="none" lIns="91714" tIns="45857" rIns="91714" bIns="45857" rtlCol="0">
            <a:spAutoFit/>
          </a:bodyPr>
          <a:lstStyle/>
          <a:p>
            <a:pPr rtl="0"/>
            <a:r>
              <a:rPr lang="en-us" sz="1100">
                <a:latin typeface="Calibri Light" panose="020F0302020204030204" pitchFamily="34" charset="0"/>
              </a:rPr>
              <a:t>Copyright Albion.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569762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6600" y="746125"/>
            <a:ext cx="53848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24203"/>
            <a:ext cx="5486400" cy="447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6678"/>
            <a:ext cx="2971801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rtlCol="0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46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2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50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7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7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0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12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25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2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55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69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08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75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44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19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73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39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08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92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92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54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84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75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9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6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87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30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76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20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35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26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535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5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573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19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177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501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474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031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819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581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952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971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884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692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41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112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6600" y="746125"/>
            <a:ext cx="53848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38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22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31517F5B-1651-4A58-8BC4-6FF6F20BB9E2}" type="slidenum">
              <a:rPr lang="en-US" smtClean="0"/>
              <a:pPr rtl="0"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5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0"/>
            <a:ext cx="8925320" cy="2852737"/>
          </a:xfrm>
        </p:spPr>
        <p:txBody>
          <a:bodyPr rtlCol="0" anchor="b"/>
          <a:lstStyle>
            <a:lvl1pPr>
              <a:defRPr sz="5999"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80" y="4589466"/>
            <a:ext cx="892532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7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658" y="1040921"/>
            <a:ext cx="9144001" cy="5536963"/>
          </a:xfrm>
        </p:spPr>
        <p:txBody>
          <a:bodyPr rtlCol="0"/>
          <a:lstStyle>
            <a:lvl1pPr marL="265102" indent="-265102">
              <a:defRPr/>
            </a:lvl1pPr>
            <a:lvl2pPr marL="538141" indent="-273038">
              <a:defRPr/>
            </a:lvl2pPr>
            <a:lvl3pPr marL="803241" indent="-265102">
              <a:defRPr/>
            </a:lvl3pPr>
            <a:lvl4pPr marL="1076280" indent="-273038">
              <a:defRPr/>
            </a:lvl4pPr>
            <a:lvl5pPr marL="1341382" indent="-265102">
              <a:defRPr/>
            </a:lvl5pPr>
          </a:lstStyle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0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5D3D-4BB2-4EAA-885A-4F53880C1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9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97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025E2-1887-4376-B84D-96842B30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79735-353A-492F-913A-C9F42B83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EC4BC-54C4-44C2-A53A-853840E4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036C3D-A85E-4C5F-AFE8-4CFCF52118E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658" y="228601"/>
            <a:ext cx="9144001" cy="63751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 rt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893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992074" cy="1325563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330" y="1681164"/>
            <a:ext cx="419070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330" y="2505075"/>
            <a:ext cx="4190702" cy="4098687"/>
          </a:xfrm>
        </p:spPr>
        <p:txBody>
          <a:bodyPr rtlCol="0"/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2" y="1681164"/>
            <a:ext cx="45862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1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4" indent="0">
              <a:buNone/>
              <a:defRPr sz="1600" b="1"/>
            </a:lvl6pPr>
            <a:lvl7pPr marL="2743085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7" indent="0">
              <a:buNone/>
              <a:defRPr sz="1600" b="1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14912" y="2505075"/>
            <a:ext cx="4586287" cy="4098687"/>
          </a:xfrm>
        </p:spPr>
        <p:txBody>
          <a:bodyPr rtlCol="0"/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0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4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11340" y="457201"/>
            <a:ext cx="5389861" cy="612947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1"/>
            <a:ext cx="3194944" cy="4529269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181" indent="0">
              <a:buNone/>
              <a:defRPr sz="1400"/>
            </a:lvl2pPr>
            <a:lvl3pPr marL="914361" indent="0">
              <a:buNone/>
              <a:defRPr sz="1200"/>
            </a:lvl3pPr>
            <a:lvl4pPr marL="1371543" indent="0">
              <a:buNone/>
              <a:defRPr sz="1000"/>
            </a:lvl4pPr>
            <a:lvl5pPr marL="1828724" indent="0">
              <a:buNone/>
              <a:defRPr sz="1000"/>
            </a:lvl5pPr>
            <a:lvl6pPr marL="2285904" indent="0">
              <a:buNone/>
              <a:defRPr sz="1000"/>
            </a:lvl6pPr>
            <a:lvl7pPr marL="2743085" indent="0">
              <a:buNone/>
              <a:defRPr sz="1000"/>
            </a:lvl7pPr>
            <a:lvl8pPr marL="3200266" indent="0">
              <a:buNone/>
              <a:defRPr sz="1000"/>
            </a:lvl8pPr>
            <a:lvl9pPr marL="3657447" indent="0">
              <a:buNone/>
              <a:defRPr sz="1000"/>
            </a:lvl9pPr>
          </a:lstStyle>
          <a:p>
            <a:pPr lvl="0" rt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defTabSz="457181"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defTabSz="457181" rtl="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A644-5ACF-4B7F-B7A3-D1137506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42996-55F8-49D2-9FB4-920CB594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13D49-5F77-4E4D-BB1E-600C4F1D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rtl="0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1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C1A6-CAF1-F029-C3F9-63BA03453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D2226-E176-8889-E44A-316B66A13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44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658" y="1036431"/>
            <a:ext cx="9144001" cy="55673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n-us" noProof="0"/>
              <a:t>Edit Master text styles</a:t>
            </a:r>
            <a:endParaRPr lang="de-DE" noProof="0"/>
          </a:p>
          <a:p>
            <a:pPr lvl="1" rtl="0"/>
            <a:r>
              <a:rPr lang="en-us" noProof="0"/>
              <a:t>Second level</a:t>
            </a:r>
            <a:endParaRPr lang="de-DE" noProof="0"/>
          </a:p>
          <a:p>
            <a:pPr lvl="2" rtl="0"/>
            <a:r>
              <a:rPr lang="en-us" noProof="0"/>
              <a:t>Third level</a:t>
            </a:r>
            <a:endParaRPr lang="de-DE" noProof="0"/>
          </a:p>
          <a:p>
            <a:pPr lvl="3" rtl="0"/>
            <a:r>
              <a:rPr lang="en-us" noProof="0"/>
              <a:t>Fourth level</a:t>
            </a:r>
            <a:endParaRPr lang="de-DE" noProof="0"/>
          </a:p>
          <a:p>
            <a:pPr lvl="4" rtl="0"/>
            <a:r>
              <a:rPr lang="en-us" noProof="0"/>
              <a:t>Fifth level</a:t>
            </a:r>
            <a:endParaRPr lang="de-DE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658" y="76201"/>
            <a:ext cx="9144001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2386" y="6579481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659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 noProof="0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3833" y="6579481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fld id="{DC65F2A6-DE86-5747-A2A3-FFB413B14C70}" type="slidenum">
              <a:rPr lang="de-DE" noProof="0" smtClean="0">
                <a:solidFill>
                  <a:prstClr val="black"/>
                </a:solidFill>
              </a:rPr>
              <a:pPr rtl="0"/>
              <a:t>‹#›</a:t>
            </a:fld>
            <a:endParaRPr lang="de-DE" noProof="0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EEE34B-1A4E-4EC2-9746-18133826D45B}"/>
              </a:ext>
            </a:extLst>
          </p:cNvPr>
          <p:cNvGrpSpPr/>
          <p:nvPr userDrawn="1"/>
        </p:nvGrpSpPr>
        <p:grpSpPr>
          <a:xfrm>
            <a:off x="2381" y="1"/>
            <a:ext cx="452439" cy="6855617"/>
            <a:chOff x="2381" y="1"/>
            <a:chExt cx="452439" cy="6855617"/>
          </a:xfrm>
        </p:grpSpPr>
        <p:sp>
          <p:nvSpPr>
            <p:cNvPr id="7" name="Rectangle 6"/>
            <p:cNvSpPr/>
            <p:nvPr userDrawn="1"/>
          </p:nvSpPr>
          <p:spPr>
            <a:xfrm>
              <a:off x="142876" y="1"/>
              <a:ext cx="180865" cy="6855617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39264B-7DC8-49F7-B0C6-13F339082012}"/>
                </a:ext>
              </a:extLst>
            </p:cNvPr>
            <p:cNvGrpSpPr/>
            <p:nvPr userDrawn="1"/>
          </p:nvGrpSpPr>
          <p:grpSpPr>
            <a:xfrm>
              <a:off x="2381" y="1071364"/>
              <a:ext cx="452439" cy="338716"/>
              <a:chOff x="2381" y="1071364"/>
              <a:chExt cx="452439" cy="338716"/>
            </a:xfrm>
          </p:grpSpPr>
          <p:sp>
            <p:nvSpPr>
              <p:cNvPr id="8" name="Rectangle 7"/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Freeform: Shape 8"/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Freeform: Shape 9"/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75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13" r:id="rId1"/>
    <p:sldLayoutId id="2147487412" r:id="rId2"/>
    <p:sldLayoutId id="2147487424" r:id="rId3"/>
    <p:sldLayoutId id="2147487425" r:id="rId4"/>
    <p:sldLayoutId id="2147487426" r:id="rId5"/>
    <p:sldLayoutId id="2147487415" r:id="rId6"/>
    <p:sldLayoutId id="2147487418" r:id="rId7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rgbClr val="003CD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rgbClr val="003CD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76201"/>
            <a:ext cx="9296400" cy="85407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74291"/>
            <a:ext cx="9296400" cy="55294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n-us"/>
              <a:t>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1" y="6586670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7926" y="6595216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  <a:endParaRPr lang="de-DE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95216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fld id="{DC65F2A6-DE86-5747-A2A3-FFB413B14C70}" type="slidenum">
              <a:rPr lang="de-DE" smtClean="0">
                <a:solidFill>
                  <a:prstClr val="black"/>
                </a:solidFill>
              </a:rPr>
              <a:pPr rtl="0"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4" r:id="rId1"/>
  </p:sldLayoutIdLst>
  <p:hf hdr="0"/>
  <p:txStyles>
    <p:titleStyle>
      <a:lvl1pPr algn="l" defTabSz="914361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2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69989" indent="-269989" algn="l" defTabSz="914361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Font typeface="Calibri Light" panose="020B0604020202020204" pitchFamily="34" charset="0"/>
        <a:buChar char="•"/>
        <a:defRPr sz="2000" b="1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38141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03241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76280" indent="-273038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1382" indent="-265102" algn="l" defTabSz="91436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Calibri Light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495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7" indent="-228591" algn="l" defTabSz="914361" rtl="0" eaLnBrk="1" latinLnBrk="0" hangingPunct="1">
        <a:lnSpc>
          <a:spcPct val="90000"/>
        </a:lnSpc>
        <a:spcBef>
          <a:spcPts val="500"/>
        </a:spcBef>
        <a:buFont typeface="Calibri Light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1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4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5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7" algn="l" defTabSz="9143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tical Title 1">
            <a:extLst>
              <a:ext uri="{FF2B5EF4-FFF2-40B4-BE49-F238E27FC236}">
                <a16:creationId xmlns:a16="http://schemas.microsoft.com/office/drawing/2014/main" id="{81AE10C9-FCDD-4115-89E6-2A3282A65625}"/>
              </a:ext>
            </a:extLst>
          </p:cNvPr>
          <p:cNvSpPr txBox="1">
            <a:spLocks/>
          </p:cNvSpPr>
          <p:nvPr userDrawn="1"/>
        </p:nvSpPr>
        <p:spPr>
          <a:xfrm>
            <a:off x="8305799" y="533399"/>
            <a:ext cx="1379858" cy="6164379"/>
          </a:xfrm>
          <a:prstGeom prst="rect">
            <a:avLst/>
          </a:prstGeom>
        </p:spPr>
        <p:txBody>
          <a:bodyPr vert="eaVert" lIns="0" tIns="0" rIns="0" bIns="0" rtlCol="0" anchor="ctr">
            <a:normAutofit/>
          </a:bodyPr>
          <a:lstStyle>
            <a:lvl1pPr algn="l" defTabSz="91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rgbClr val="003CD2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36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0" u="none" strike="noStrike" kern="1200" cap="none" spc="0" normalizeH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rPr>
              <a:t>Click to edit Master title style</a:t>
            </a:r>
            <a:endParaRPr kumimoji="0" lang="de-DE" sz="28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EB7566A0-BE4D-4F31-854E-66594CD61979}"/>
              </a:ext>
            </a:extLst>
          </p:cNvPr>
          <p:cNvSpPr txBox="1">
            <a:spLocks/>
          </p:cNvSpPr>
          <p:nvPr userDrawn="1"/>
        </p:nvSpPr>
        <p:spPr>
          <a:xfrm>
            <a:off x="541660" y="533399"/>
            <a:ext cx="7687941" cy="6164379"/>
          </a:xfrm>
          <a:prstGeom prst="rect">
            <a:avLst/>
          </a:prstGeom>
        </p:spPr>
        <p:txBody>
          <a:bodyPr vert="eaVert" lIns="0" tIns="0" rIns="0" bIns="0" rtlCol="0">
            <a:normAutofit/>
          </a:bodyPr>
          <a:lstStyle>
            <a:lvl1pPr marL="269989" indent="-269989" algn="l" defTabSz="914361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2000" b="1" kern="1200">
                <a:solidFill>
                  <a:srgbClr val="003CD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38141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03241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076280" indent="-273038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341382" indent="-265102" algn="l" defTabSz="91436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Calibri Light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495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76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5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7" indent="-228591" algn="l" defTabSz="914361" rtl="0" eaLnBrk="1" latinLnBrk="0" hangingPunct="1">
              <a:lnSpc>
                <a:spcPct val="90000"/>
              </a:lnSpc>
              <a:spcBef>
                <a:spcPts val="500"/>
              </a:spcBef>
              <a:buFont typeface="Calibri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989" marR="0" lvl="0" indent="-269989" algn="l" defTabSz="91436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2000" b="1" i="0" u="none" strike="noStrike" kern="1200" cap="none" spc="0" normalizeH="0" noProof="0">
                <a:ln>
                  <a:noFill/>
                </a:ln>
                <a:solidFill>
                  <a:srgbClr val="003CD2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Edit Master text styles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003CD2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538141" marR="0" lvl="1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8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803241" marR="0" lvl="2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076280" marR="0" lvl="3" indent="-273038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1341382" marR="0" lvl="4" indent="-265102" algn="l" defTabSz="91436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 Light" panose="020B0604020202020204" pitchFamily="34" charset="0"/>
              <a:buChar char="•"/>
              <a:tabLst/>
              <a:defRPr/>
            </a:pPr>
            <a:r>
              <a:rPr lang="en-us" sz="1600" b="0" i="0" u="none" strike="noStrike" kern="1200" cap="none" spc="0" normalizeH="0" noProof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BFDE2F6-587C-4FBA-9AF5-36833863A48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0125" y="153352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02.10.2020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D2BA7CC-8ED8-48B7-8B77-B5DC910BBC7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577096" y="4911840"/>
            <a:ext cx="334327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kern="1200" cap="none" spc="0" normalizeH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Albion Copyright 2019 ©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762760-DC30-4BBE-BC92-7D44B0BCB11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19884" y="3345984"/>
            <a:ext cx="222885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65F2A6-DE86-5747-A2A3-FFB413B14C7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ctr" defTabSz="4571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B3F318-D98C-4F04-A1ED-CE8D906E2490}"/>
              </a:ext>
            </a:extLst>
          </p:cNvPr>
          <p:cNvGrpSpPr/>
          <p:nvPr userDrawn="1"/>
        </p:nvGrpSpPr>
        <p:grpSpPr>
          <a:xfrm>
            <a:off x="-5416" y="19723"/>
            <a:ext cx="9911416" cy="452439"/>
            <a:chOff x="-5416" y="19723"/>
            <a:chExt cx="9911416" cy="4524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BDC79C-107E-4E80-9B5B-709D4630D413}"/>
                </a:ext>
              </a:extLst>
            </p:cNvPr>
            <p:cNvSpPr/>
            <p:nvPr userDrawn="1"/>
          </p:nvSpPr>
          <p:spPr>
            <a:xfrm rot="5400000">
              <a:off x="4859859" y="-4705054"/>
              <a:ext cx="180865" cy="9911416"/>
            </a:xfrm>
            <a:prstGeom prst="rect">
              <a:avLst/>
            </a:prstGeom>
            <a:solidFill>
              <a:srgbClr val="05C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sz="1800" noProof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40B7CFA-6305-4F74-B6DE-F3CDFFB26964}"/>
                </a:ext>
              </a:extLst>
            </p:cNvPr>
            <p:cNvGrpSpPr/>
            <p:nvPr userDrawn="1"/>
          </p:nvGrpSpPr>
          <p:grpSpPr>
            <a:xfrm rot="5400000">
              <a:off x="7818071" y="77037"/>
              <a:ext cx="452439" cy="337812"/>
              <a:chOff x="2381" y="1071364"/>
              <a:chExt cx="452439" cy="33871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5DA9F-4CBB-4F2C-8B78-7ABE75C03A07}"/>
                  </a:ext>
                </a:extLst>
              </p:cNvPr>
              <p:cNvSpPr/>
              <p:nvPr userDrawn="1"/>
            </p:nvSpPr>
            <p:spPr>
              <a:xfrm>
                <a:off x="2381" y="1074292"/>
                <a:ext cx="452439" cy="3357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3172CC7-C9AC-471E-B8C7-4066BF7D605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7989352">
                <a:off x="176966" y="1086965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B9F5"/>
              </a:solidFill>
              <a:ln>
                <a:noFill/>
              </a:ln>
              <a:scene3d>
                <a:camera prst="orthographicFront">
                  <a:rot lat="0" lon="0" rev="2154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D66F14F-B3A5-46C6-AE53-49BCE4EA619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0706" y="1134906"/>
                <a:ext cx="234001" cy="202800"/>
              </a:xfrm>
              <a:custGeom>
                <a:avLst/>
                <a:gdLst>
                  <a:gd name="connsiteX0" fmla="*/ 627505 w 1255010"/>
                  <a:gd name="connsiteY0" fmla="*/ 0 h 1080000"/>
                  <a:gd name="connsiteX1" fmla="*/ 1255010 w 1255010"/>
                  <a:gd name="connsiteY1" fmla="*/ 1080000 h 1080000"/>
                  <a:gd name="connsiteX2" fmla="*/ 945897 w 1255010"/>
                  <a:gd name="connsiteY2" fmla="*/ 1080000 h 1080000"/>
                  <a:gd name="connsiteX3" fmla="*/ 627505 w 1255010"/>
                  <a:gd name="connsiteY3" fmla="*/ 532015 h 1080000"/>
                  <a:gd name="connsiteX4" fmla="*/ 309113 w 1255010"/>
                  <a:gd name="connsiteY4" fmla="*/ 1080000 h 1080000"/>
                  <a:gd name="connsiteX5" fmla="*/ 0 w 1255010"/>
                  <a:gd name="connsiteY5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5010" h="1080000">
                    <a:moveTo>
                      <a:pt x="627505" y="0"/>
                    </a:moveTo>
                    <a:lnTo>
                      <a:pt x="1255010" y="1080000"/>
                    </a:lnTo>
                    <a:lnTo>
                      <a:pt x="945897" y="1080000"/>
                    </a:lnTo>
                    <a:lnTo>
                      <a:pt x="627505" y="532015"/>
                    </a:lnTo>
                    <a:lnTo>
                      <a:pt x="309113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003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de-DE" sz="1800" noProof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906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3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1B_33FCF6FF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4A_105933C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1F_92FDAF65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3754599"/>
            <a:ext cx="9077721" cy="774538"/>
          </a:xfrm>
        </p:spPr>
        <p:txBody>
          <a:bodyPr rtlCol="0">
            <a:normAutofit/>
          </a:bodyPr>
          <a:lstStyle/>
          <a:p>
            <a:pPr rtl="0"/>
            <a:r>
              <a:rPr lang="en-US" sz="4800"/>
              <a:t>iSAQB CPSA 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456113"/>
            <a:ext cx="8890145" cy="1085690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</a:pPr>
            <a:r>
              <a:rPr lang="en-US" sz="3200">
                <a:solidFill>
                  <a:schemeClr val="tx1">
                    <a:lumMod val="85000"/>
                    <a:lumOff val="15000"/>
                  </a:schemeClr>
                </a:solidFill>
              </a:rPr>
              <a:t>Mock-Exam Questions</a:t>
            </a:r>
          </a:p>
        </p:txBody>
      </p:sp>
      <p:pic>
        <p:nvPicPr>
          <p:cNvPr id="6" name="Bildplatzhalter 5" descr="Storebaelt Bridge - Design to Implementation.jpg"/>
          <p:cNvPicPr>
            <a:picLocks noChangeAspect="1"/>
          </p:cNvPicPr>
          <p:nvPr/>
        </p:nvPicPr>
        <p:blipFill>
          <a:blip r:embed="rId3" cstate="print"/>
          <a:srcRect l="12553" r="12553"/>
          <a:stretch>
            <a:fillRect/>
          </a:stretch>
        </p:blipFill>
        <p:spPr>
          <a:xfrm>
            <a:off x="533400" y="0"/>
            <a:ext cx="9372600" cy="36576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BA6505D-49C6-4837-AB70-9B658C969D0C}"/>
              </a:ext>
            </a:extLst>
          </p:cNvPr>
          <p:cNvSpPr/>
          <p:nvPr/>
        </p:nvSpPr>
        <p:spPr>
          <a:xfrm>
            <a:off x="519868" y="6573999"/>
            <a:ext cx="2063248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v1.0</a:t>
            </a:r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64B7ED4B-8651-47AE-A5E8-95B02D90052C}"/>
              </a:ext>
            </a:extLst>
          </p:cNvPr>
          <p:cNvSpPr/>
          <p:nvPr/>
        </p:nvSpPr>
        <p:spPr>
          <a:xfrm>
            <a:off x="7194332" y="5638801"/>
            <a:ext cx="2364558" cy="83099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Roger E. Rhoades</a:t>
            </a:r>
          </a:p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Albion Academy</a:t>
            </a:r>
          </a:p>
          <a:p>
            <a:pPr algn="r" rtl="0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www.albionacademy.com</a:t>
            </a:r>
          </a:p>
        </p:txBody>
      </p:sp>
      <p:sp>
        <p:nvSpPr>
          <p:cNvPr id="10" name="Rechteck 7">
            <a:extLst>
              <a:ext uri="{FF2B5EF4-FFF2-40B4-BE49-F238E27FC236}">
                <a16:creationId xmlns:a16="http://schemas.microsoft.com/office/drawing/2014/main" id="{135BD5C4-70AE-4B6C-88C5-FE20863BC825}"/>
              </a:ext>
            </a:extLst>
          </p:cNvPr>
          <p:cNvSpPr/>
          <p:nvPr/>
        </p:nvSpPr>
        <p:spPr>
          <a:xfrm>
            <a:off x="8077200" y="6558610"/>
            <a:ext cx="148882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rtl="0"/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Copyright 2019 ©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7C6BD-5870-4062-A13C-DE798066117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85800" y="5664191"/>
            <a:ext cx="2098181" cy="81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485B5A-C0FA-341E-5174-7F98D750DFEF}"/>
              </a:ext>
            </a:extLst>
          </p:cNvPr>
          <p:cNvSpPr txBox="1"/>
          <p:nvPr/>
        </p:nvSpPr>
        <p:spPr>
          <a:xfrm rot="20143040">
            <a:off x="3946893" y="5043102"/>
            <a:ext cx="408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distribute!!!</a:t>
            </a:r>
          </a:p>
        </p:txBody>
      </p:sp>
    </p:spTree>
    <p:extLst>
      <p:ext uri="{BB962C8B-B14F-4D97-AF65-F5344CB8AC3E}">
        <p14:creationId xmlns:p14="http://schemas.microsoft.com/office/powerpoint/2010/main" val="26686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99488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390000" y="1639594"/>
            <a:ext cx="2894596" cy="3558891"/>
            <a:chOff x="541660" y="1942041"/>
            <a:chExt cx="262580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41660" y="1942041"/>
              <a:ext cx="2625800" cy="3140850"/>
              <a:chOff x="541660" y="1942041"/>
              <a:chExt cx="262580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691172" y="1942041"/>
                <a:ext cx="1978453" cy="407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37989" cy="2613954"/>
              <a:chOff x="592730" y="2362200"/>
              <a:chExt cx="437989" cy="2613954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37989" cy="5704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28638" cy="48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37989" cy="57041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1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136062" cy="330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apply to a queue?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“enqueue” operation places a new element into the queue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646868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queue works according to the LIFO principle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517957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 stack and a queue use the same implementation approaches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38197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Many messaging systems are based on queues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2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17633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 queue is implemented using the SHA function</a:t>
                      </a:r>
                      <a:endParaRPr lang="en-US" sz="1800"/>
                    </a:p>
                  </a:txBody>
                  <a:tcPr marL="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F56DBBB-150A-4779-BA06-6A5125431B26}"/>
              </a:ext>
            </a:extLst>
          </p:cNvPr>
          <p:cNvGrpSpPr/>
          <p:nvPr/>
        </p:nvGrpSpPr>
        <p:grpSpPr>
          <a:xfrm>
            <a:off x="563566" y="1103532"/>
            <a:ext cx="444032" cy="2201108"/>
            <a:chOff x="563566" y="1103532"/>
            <a:chExt cx="444032" cy="22011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93E8A7-4AC3-49CC-AB79-71D17F44EFD6}"/>
                </a:ext>
              </a:extLst>
            </p:cNvPr>
            <p:cNvSpPr/>
            <p:nvPr/>
          </p:nvSpPr>
          <p:spPr>
            <a:xfrm>
              <a:off x="563566" y="110353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A9FEA8-CE12-4E38-BDF3-1844C584FA03}"/>
                </a:ext>
              </a:extLst>
            </p:cNvPr>
            <p:cNvSpPr/>
            <p:nvPr/>
          </p:nvSpPr>
          <p:spPr>
            <a:xfrm>
              <a:off x="563566" y="262753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2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807393"/>
              </p:ext>
            </p:extLst>
          </p:nvPr>
        </p:nvGraphicFramePr>
        <p:xfrm>
          <a:off x="541338" y="438222"/>
          <a:ext cx="9059862" cy="303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one of the following statements applies to testing?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17995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Testing proves that the system is error-free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aim of testing is to detect system incorrect behavior at an early stage</a:t>
                      </a:r>
                      <a:endParaRPr lang="en-US" sz="1800">
                        <a:highlight>
                          <a:srgbClr val="00FF00"/>
                        </a:highlight>
                      </a:endParaRP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Tests ensure the usability of the system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 contrast to functional requirements, quality requirements can’t be automatically tested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A494171-35F2-4CD9-A42F-68E6FD683A53}"/>
              </a:ext>
            </a:extLst>
          </p:cNvPr>
          <p:cNvSpPr/>
          <p:nvPr/>
        </p:nvSpPr>
        <p:spPr>
          <a:xfrm>
            <a:off x="579120" y="16850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52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46804"/>
              </p:ext>
            </p:extLst>
          </p:nvPr>
        </p:nvGraphicFramePr>
        <p:xfrm>
          <a:off x="3420000" y="111360"/>
          <a:ext cx="6096000" cy="6594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0043" y="1912203"/>
            <a:ext cx="2637417" cy="3170688"/>
            <a:chOff x="530043" y="1912203"/>
            <a:chExt cx="2637417" cy="317068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0043" y="1912203"/>
              <a:ext cx="2637417" cy="3170688"/>
              <a:chOff x="530043" y="1912203"/>
              <a:chExt cx="2637417" cy="317068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0043" y="1912203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762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908086"/>
              </p:ext>
            </p:extLst>
          </p:nvPr>
        </p:nvGraphicFramePr>
        <p:xfrm>
          <a:off x="541338" y="438222"/>
          <a:ext cx="9136062" cy="463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about software architecture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Design decisions that impact multiple components are an essential part of software architecture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Quality requirements are a major part of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There is no common or standard definition of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includes the building blocks and their source code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comprises the fundamental concepts of a system, including building blocks / components, dependencies / interfaces, and crosscutting concerns (concepts).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architecture is a description of the implementation details of the business functions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84B2867-AA3C-45FA-8EC0-32E92CD6B98F}"/>
              </a:ext>
            </a:extLst>
          </p:cNvPr>
          <p:cNvGrpSpPr/>
          <p:nvPr/>
        </p:nvGrpSpPr>
        <p:grpSpPr>
          <a:xfrm>
            <a:off x="573496" y="1124842"/>
            <a:ext cx="449656" cy="2676466"/>
            <a:chOff x="573496" y="1124842"/>
            <a:chExt cx="449656" cy="26764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14F875-CBDB-4133-B34D-D1182B33DDB9}"/>
                </a:ext>
              </a:extLst>
            </p:cNvPr>
            <p:cNvSpPr/>
            <p:nvPr/>
          </p:nvSpPr>
          <p:spPr>
            <a:xfrm>
              <a:off x="579120" y="112484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FCE42-1000-4A33-9EA5-4C5ABFDFE4DC}"/>
                </a:ext>
              </a:extLst>
            </p:cNvPr>
            <p:cNvSpPr/>
            <p:nvPr/>
          </p:nvSpPr>
          <p:spPr>
            <a:xfrm>
              <a:off x="573496" y="22473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471897-6219-416F-B7F7-665EB4A822D5}"/>
                </a:ext>
              </a:extLst>
            </p:cNvPr>
            <p:cNvSpPr/>
            <p:nvPr/>
          </p:nvSpPr>
          <p:spPr>
            <a:xfrm>
              <a:off x="573496" y="31242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69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372D-3EA3-FAD3-26F4-69862BE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301E6-F256-8C76-5253-1207BC78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DD0F-AB65-448B-A273-6C6F0B2AD6D5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0557-8BBE-0BF9-19D5-5FC0FE98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47A8-5EC4-A299-13A6-CDBE7950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7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8BEF08-1206-C25B-BD30-1B9815E03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58439"/>
              </p:ext>
            </p:extLst>
          </p:nvPr>
        </p:nvGraphicFramePr>
        <p:xfrm>
          <a:off x="541338" y="438222"/>
          <a:ext cx="9136062" cy="305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</a:rPr>
                        <a:t>Which elements are found in most definitions of software architecture?</a:t>
                      </a:r>
                      <a:endParaRPr lang="en-US" b="1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two of the following most appropriate answers.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 use of specific programming languages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Components and their relationships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Design principles of the user interface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Architectural decisions and their impact on the overall system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Test coverage and code quality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6C0BC77-2C60-56BE-E139-9A0FBBEC60CF}"/>
              </a:ext>
            </a:extLst>
          </p:cNvPr>
          <p:cNvGrpSpPr/>
          <p:nvPr/>
        </p:nvGrpSpPr>
        <p:grpSpPr>
          <a:xfrm>
            <a:off x="538511" y="1516418"/>
            <a:ext cx="472227" cy="1680219"/>
            <a:chOff x="538511" y="1516418"/>
            <a:chExt cx="472227" cy="16802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319F0C-6EE6-ABD5-87E6-707ABD1CB359}"/>
                </a:ext>
              </a:extLst>
            </p:cNvPr>
            <p:cNvSpPr/>
            <p:nvPr/>
          </p:nvSpPr>
          <p:spPr>
            <a:xfrm>
              <a:off x="560323" y="151641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BAEC23-C203-7390-BC09-3DB7D2EAFAF1}"/>
                </a:ext>
              </a:extLst>
            </p:cNvPr>
            <p:cNvSpPr/>
            <p:nvPr/>
          </p:nvSpPr>
          <p:spPr>
            <a:xfrm>
              <a:off x="577612" y="2519529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17797D-0EC6-BC25-2C64-E019EE962ADB}"/>
                </a:ext>
              </a:extLst>
            </p:cNvPr>
            <p:cNvSpPr/>
            <p:nvPr/>
          </p:nvSpPr>
          <p:spPr>
            <a:xfrm>
              <a:off x="538511" y="2420792"/>
              <a:ext cx="472227" cy="6771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13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5908"/>
              </p:ext>
            </p:extLst>
          </p:nvPr>
        </p:nvGraphicFramePr>
        <p:xfrm>
          <a:off x="541338" y="438222"/>
          <a:ext cx="9059862" cy="430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858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primary goals of software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89064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To document and communicate the system components and implementation decisions, and generally make these understandable for the stakeholders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design innovative technical solutions to ensure the system is future-proof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explain how the software system will achieve the required quality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define design guidelines for those implementing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Ensure that the effort for the implementation, operation, and extension of the system is reduced throughout the system's entire lifecycle.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56918B2-C694-4AEA-8E67-50F63ACA5612}"/>
              </a:ext>
            </a:extLst>
          </p:cNvPr>
          <p:cNvGrpSpPr/>
          <p:nvPr/>
        </p:nvGrpSpPr>
        <p:grpSpPr>
          <a:xfrm>
            <a:off x="560130" y="1525592"/>
            <a:ext cx="778264" cy="2966594"/>
            <a:chOff x="560130" y="1083018"/>
            <a:chExt cx="778264" cy="29665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5EC75C-6C45-4F6B-BF43-325A4EBB6344}"/>
                </a:ext>
              </a:extLst>
            </p:cNvPr>
            <p:cNvSpPr/>
            <p:nvPr/>
          </p:nvSpPr>
          <p:spPr>
            <a:xfrm>
              <a:off x="579120" y="10830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226C81-7DF5-42C5-9916-01B97610ECEF}"/>
                </a:ext>
              </a:extLst>
            </p:cNvPr>
            <p:cNvSpPr/>
            <p:nvPr/>
          </p:nvSpPr>
          <p:spPr>
            <a:xfrm>
              <a:off x="979321" y="184342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557F7A-83F7-4675-A7F1-E8E649D496CF}"/>
                </a:ext>
              </a:extLst>
            </p:cNvPr>
            <p:cNvSpPr/>
            <p:nvPr/>
          </p:nvSpPr>
          <p:spPr>
            <a:xfrm>
              <a:off x="579120" y="222748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2E97AD-3A02-4D35-A9A0-AAF8BE69D7F8}"/>
                </a:ext>
              </a:extLst>
            </p:cNvPr>
            <p:cNvSpPr/>
            <p:nvPr/>
          </p:nvSpPr>
          <p:spPr>
            <a:xfrm>
              <a:off x="579872" y="2971800"/>
              <a:ext cx="65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9FB016-CC8C-431B-8EFF-19357EA5B3EC}"/>
                </a:ext>
              </a:extLst>
            </p:cNvPr>
            <p:cNvSpPr/>
            <p:nvPr/>
          </p:nvSpPr>
          <p:spPr>
            <a:xfrm>
              <a:off x="560130" y="294164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848AAB-BF87-44BF-938B-94BB825E7CF7}"/>
                </a:ext>
              </a:extLst>
            </p:cNvPr>
            <p:cNvSpPr/>
            <p:nvPr/>
          </p:nvSpPr>
          <p:spPr>
            <a:xfrm>
              <a:off x="577074" y="337250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9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24446"/>
              </p:ext>
            </p:extLst>
          </p:nvPr>
        </p:nvGraphicFramePr>
        <p:xfrm>
          <a:off x="541338" y="438222"/>
          <a:ext cx="9059862" cy="386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responsibilities does the architect have regarding requirements?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740519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clarify requirements regarding their clarity, feasibility, etc. from the architect’s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define, prioritize, and document quality requirements and scenarios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Ensure that the functional requirements can be fulfilled by designing a suitable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Ensure that the quality requirements can be fulfilled by designing a suitable software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9507776-F28F-484A-ACB7-57DBFAA80963}"/>
              </a:ext>
            </a:extLst>
          </p:cNvPr>
          <p:cNvGrpSpPr/>
          <p:nvPr/>
        </p:nvGrpSpPr>
        <p:grpSpPr>
          <a:xfrm>
            <a:off x="555108" y="1504726"/>
            <a:ext cx="783286" cy="2559630"/>
            <a:chOff x="555108" y="1456492"/>
            <a:chExt cx="783286" cy="255963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29B19C-D4CC-4E87-9F3D-4B149B475733}"/>
                </a:ext>
              </a:extLst>
            </p:cNvPr>
            <p:cNvSpPr/>
            <p:nvPr/>
          </p:nvSpPr>
          <p:spPr>
            <a:xfrm>
              <a:off x="579120" y="14564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E8D9DF-516E-49FE-9A78-0675FF2478D7}"/>
                </a:ext>
              </a:extLst>
            </p:cNvPr>
            <p:cNvSpPr/>
            <p:nvPr/>
          </p:nvSpPr>
          <p:spPr>
            <a:xfrm>
              <a:off x="979321" y="2215088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2FE69C-C6E3-41D4-A429-6A34B8B8D98F}"/>
                </a:ext>
              </a:extLst>
            </p:cNvPr>
            <p:cNvSpPr/>
            <p:nvPr/>
          </p:nvSpPr>
          <p:spPr>
            <a:xfrm>
              <a:off x="555108" y="333901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F43012-1F43-4FDC-BA0C-0FC07A3ED12B}"/>
                </a:ext>
              </a:extLst>
            </p:cNvPr>
            <p:cNvSpPr/>
            <p:nvPr/>
          </p:nvSpPr>
          <p:spPr>
            <a:xfrm>
              <a:off x="555108" y="260814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FD398-E26F-9CF7-986A-2A99FE9D4482}"/>
              </a:ext>
            </a:extLst>
          </p:cNvPr>
          <p:cNvGrpSpPr/>
          <p:nvPr/>
        </p:nvGrpSpPr>
        <p:grpSpPr>
          <a:xfrm>
            <a:off x="568337" y="2396503"/>
            <a:ext cx="8884057" cy="2847927"/>
            <a:chOff x="568337" y="2396503"/>
            <a:chExt cx="8884057" cy="28479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484073-D434-B9F6-F52F-D9A10931F8D2}"/>
                </a:ext>
              </a:extLst>
            </p:cNvPr>
            <p:cNvSpPr/>
            <p:nvPr/>
          </p:nvSpPr>
          <p:spPr>
            <a:xfrm>
              <a:off x="568337" y="4589972"/>
              <a:ext cx="8884057" cy="65445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b="1" err="1"/>
                <a:t>According</a:t>
              </a:r>
              <a:r>
                <a:rPr lang="de-DE" b="1"/>
                <a:t> </a:t>
              </a:r>
              <a:r>
                <a:rPr lang="de-DE" b="1" err="1"/>
                <a:t>to</a:t>
              </a:r>
              <a:r>
                <a:rPr lang="de-DE" b="1"/>
                <a:t> </a:t>
              </a:r>
              <a:r>
                <a:rPr lang="de-DE" b="1" err="1"/>
                <a:t>the</a:t>
              </a:r>
              <a:r>
                <a:rPr lang="de-DE" b="1"/>
                <a:t> </a:t>
              </a:r>
              <a:r>
                <a:rPr lang="de-DE" b="1" err="1"/>
                <a:t>curriculum</a:t>
              </a:r>
              <a:r>
                <a:rPr lang="de-DE" b="1"/>
                <a:t>, </a:t>
              </a:r>
              <a:r>
                <a:rPr lang="de-DE" b="1" err="1">
                  <a:ea typeface="+mn-lt"/>
                  <a:cs typeface="+mn-lt"/>
                </a:rPr>
                <a:t>coordinate</a:t>
              </a:r>
              <a:r>
                <a:rPr lang="de-DE" b="1">
                  <a:ea typeface="+mn-lt"/>
                  <a:cs typeface="+mn-lt"/>
                </a:rPr>
                <a:t> and </a:t>
              </a:r>
              <a:r>
                <a:rPr lang="de-DE" b="1" err="1">
                  <a:ea typeface="+mn-lt"/>
                  <a:cs typeface="+mn-lt"/>
                </a:rPr>
                <a:t>agree</a:t>
              </a:r>
              <a:r>
                <a:rPr lang="de-DE" b="1">
                  <a:ea typeface="+mn-lt"/>
                  <a:cs typeface="+mn-lt"/>
                </a:rPr>
                <a:t> on </a:t>
              </a:r>
              <a:r>
                <a:rPr lang="de-DE" b="1" err="1">
                  <a:ea typeface="+mn-lt"/>
                  <a:cs typeface="+mn-lt"/>
                </a:rPr>
                <a:t>any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necessary</a:t>
              </a:r>
              <a:endParaRPr lang="en-US" b="1">
                <a:ea typeface="Calibri Light"/>
                <a:cs typeface="Calibri Light"/>
              </a:endParaRPr>
            </a:p>
            <a:p>
              <a:pPr algn="ctr"/>
              <a:r>
                <a:rPr lang="de-DE" b="1" err="1">
                  <a:ea typeface="+mn-lt"/>
                  <a:cs typeface="+mn-lt"/>
                </a:rPr>
                <a:t>refinements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with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the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corresponding</a:t>
              </a:r>
              <a:r>
                <a:rPr lang="de-DE" b="1">
                  <a:ea typeface="+mn-lt"/>
                  <a:cs typeface="+mn-lt"/>
                </a:rPr>
                <a:t> </a:t>
              </a:r>
              <a:r>
                <a:rPr lang="de-DE" b="1" err="1">
                  <a:ea typeface="+mn-lt"/>
                  <a:cs typeface="+mn-lt"/>
                </a:rPr>
                <a:t>stakeholders</a:t>
              </a:r>
              <a:r>
                <a:rPr lang="de-DE" b="1">
                  <a:ea typeface="+mn-lt"/>
                  <a:cs typeface="+mn-lt"/>
                </a:rPr>
                <a:t>.</a:t>
              </a:r>
              <a:endParaRPr lang="de-DE" b="1">
                <a:ea typeface="Calibri Light"/>
                <a:cs typeface="Calibri Light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C743B65-366D-C251-50A7-7EC0BA179B39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568337" y="2396503"/>
              <a:ext cx="754344" cy="25206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07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30389"/>
              </p:ext>
            </p:extLst>
          </p:nvPr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responsibilities does the software architect have? 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37274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Select and apply applicable architectural patterns in the architectural design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Define architecturally relevant integration tests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 cross-cutting concerns such as logging and persistence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Define interfaces between significant internal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Maintain the continuous integration environment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Select the programming language for the system, if not prespecified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BA8B8CF-5404-4828-96E3-D5E76D037229}"/>
              </a:ext>
            </a:extLst>
          </p:cNvPr>
          <p:cNvGrpSpPr/>
          <p:nvPr/>
        </p:nvGrpSpPr>
        <p:grpSpPr>
          <a:xfrm>
            <a:off x="557294" y="1499482"/>
            <a:ext cx="773574" cy="2876393"/>
            <a:chOff x="557294" y="1083449"/>
            <a:chExt cx="773574" cy="28763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3FE3AB-E3C7-437F-B862-934B8F12F0A1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79599-73DD-4587-8394-621BBF364363}"/>
                </a:ext>
              </a:extLst>
            </p:cNvPr>
            <p:cNvSpPr/>
            <p:nvPr/>
          </p:nvSpPr>
          <p:spPr>
            <a:xfrm>
              <a:off x="971795" y="156749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CDA7E8-F661-49AF-86C0-680AFA1EF0B1}"/>
                </a:ext>
              </a:extLst>
            </p:cNvPr>
            <p:cNvSpPr/>
            <p:nvPr/>
          </p:nvSpPr>
          <p:spPr>
            <a:xfrm>
              <a:off x="568207" y="240336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61815C-3BEB-4835-8474-A2148754A344}"/>
                </a:ext>
              </a:extLst>
            </p:cNvPr>
            <p:cNvSpPr/>
            <p:nvPr/>
          </p:nvSpPr>
          <p:spPr>
            <a:xfrm>
              <a:off x="557294" y="328273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F503BD-E557-4828-85F3-C2A4723FB655}"/>
                </a:ext>
              </a:extLst>
            </p:cNvPr>
            <p:cNvSpPr/>
            <p:nvPr/>
          </p:nvSpPr>
          <p:spPr>
            <a:xfrm>
              <a:off x="963608" y="2004944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F9F580-41BA-41CC-B200-4BEDB8DCB342}"/>
                </a:ext>
              </a:extLst>
            </p:cNvPr>
            <p:cNvSpPr/>
            <p:nvPr/>
          </p:nvSpPr>
          <p:spPr>
            <a:xfrm>
              <a:off x="966710" y="289161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78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In which phase of the software development lifecycle should software architecture work be started?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phase (possibly earlier)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Architecture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Design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Development phase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Maintenance phase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7429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447800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4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966"/>
              </p:ext>
            </p:extLst>
          </p:nvPr>
        </p:nvGraphicFramePr>
        <p:xfrm>
          <a:off x="533400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is the architect’s responsibility regarding requirements for the software architecture or the software?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contradict the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 identify inconsistencies in the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clarify the requirements, e.g., relating to implied consequences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supplement the requirements where necessary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A392297-860C-49C8-B9A6-E6B1AD4C999A}"/>
              </a:ext>
            </a:extLst>
          </p:cNvPr>
          <p:cNvGrpSpPr/>
          <p:nvPr/>
        </p:nvGrpSpPr>
        <p:grpSpPr>
          <a:xfrm>
            <a:off x="578299" y="1902879"/>
            <a:ext cx="444853" cy="1602321"/>
            <a:chOff x="578299" y="1524000"/>
            <a:chExt cx="444853" cy="16023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240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47D7B7-81B7-4A5A-A7DC-738091052D2D}"/>
                </a:ext>
              </a:extLst>
            </p:cNvPr>
            <p:cNvSpPr/>
            <p:nvPr/>
          </p:nvSpPr>
          <p:spPr>
            <a:xfrm>
              <a:off x="578299" y="19487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491398-A33D-B9FE-BB0E-12EBDDF97D05}"/>
                </a:ext>
              </a:extLst>
            </p:cNvPr>
            <p:cNvSpPr/>
            <p:nvPr/>
          </p:nvSpPr>
          <p:spPr>
            <a:xfrm>
              <a:off x="580416" y="2449213"/>
              <a:ext cx="65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4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D8E5-38FE-9229-DF3D-C71A2747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C595A-95E1-5C26-95C6-2B88D753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3-2EAA-4DAC-A3CE-D6D8171BF813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A041B-0FBD-000E-28B1-3048FE53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D4CB-D722-25B0-C0B5-EAFE42BC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13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5F8148-CB23-3D8B-88C6-00A6D38E7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30067"/>
              </p:ext>
            </p:extLst>
          </p:nvPr>
        </p:nvGraphicFramePr>
        <p:xfrm>
          <a:off x="533400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</a:rPr>
                        <a:t>What is a key benefit of software architecture for stakeholders?</a:t>
                      </a:r>
                      <a:endParaRPr lang="en-US" b="1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It defines which programming language must be used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It automatically minimizes the energy consumption of applications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It ensures that all stakeholders can understand the structure and concepts of the system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It eliminates the need for project management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FA922B4-00F3-92A3-38B6-42C5B6B0E4BE}"/>
              </a:ext>
            </a:extLst>
          </p:cNvPr>
          <p:cNvGrpSpPr/>
          <p:nvPr/>
        </p:nvGrpSpPr>
        <p:grpSpPr>
          <a:xfrm>
            <a:off x="578393" y="1913692"/>
            <a:ext cx="444032" cy="700983"/>
            <a:chOff x="578393" y="1913692"/>
            <a:chExt cx="444032" cy="7009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16511B-5377-5C32-C628-632A371DC33E}"/>
                </a:ext>
              </a:extLst>
            </p:cNvPr>
            <p:cNvSpPr/>
            <p:nvPr/>
          </p:nvSpPr>
          <p:spPr>
            <a:xfrm>
              <a:off x="579120" y="1913692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A5A8C4-A9A0-6E56-665A-3CCEADD8108B}"/>
                </a:ext>
              </a:extLst>
            </p:cNvPr>
            <p:cNvSpPr/>
            <p:nvPr/>
          </p:nvSpPr>
          <p:spPr>
            <a:xfrm>
              <a:off x="578393" y="1937567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67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337104"/>
              </p:ext>
            </p:extLst>
          </p:nvPr>
        </p:nvGraphicFramePr>
        <p:xfrm>
          <a:off x="541337" y="438222"/>
          <a:ext cx="9144324" cy="3080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148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663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50177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11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5326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software architect’s responsibilities?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Define requirements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Lead the development team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Support the implementation of the architecture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 all cross-cutting concerns (e.g., logging, monitoring, security)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Define test cases for architecture-related topics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19898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7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20897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7246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514908"/>
              </p:ext>
            </p:extLst>
          </p:nvPr>
        </p:nvGraphicFramePr>
        <p:xfrm>
          <a:off x="457200" y="428803"/>
          <a:ext cx="9059862" cy="38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describe the working relationship between the architect and management?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is responsible for estimating the development effort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architect defines work packages (tasks to be done) based on the architecture structure, for example for each microservice or architecture layer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supports the project manager with the definition of work packages (tasks to be done) and determining the corresponding implementation effort.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Architectural decisions can have a significant influence on the project, for example the organization of the project team, work packages, deadlines, etc.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5D5F302-EB26-4F80-A1D9-F2FE62F06EB5}"/>
              </a:ext>
            </a:extLst>
          </p:cNvPr>
          <p:cNvGrpSpPr/>
          <p:nvPr/>
        </p:nvGrpSpPr>
        <p:grpSpPr>
          <a:xfrm>
            <a:off x="470078" y="2590800"/>
            <a:ext cx="507354" cy="1422546"/>
            <a:chOff x="483246" y="2609615"/>
            <a:chExt cx="507354" cy="142254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D63492-0AA1-416B-A239-CCDE451E9CD1}"/>
                </a:ext>
              </a:extLst>
            </p:cNvPr>
            <p:cNvSpPr/>
            <p:nvPr/>
          </p:nvSpPr>
          <p:spPr>
            <a:xfrm>
              <a:off x="546568" y="260961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47A52D-E979-4B5B-BFB8-411B90DFD757}"/>
                </a:ext>
              </a:extLst>
            </p:cNvPr>
            <p:cNvSpPr/>
            <p:nvPr/>
          </p:nvSpPr>
          <p:spPr>
            <a:xfrm>
              <a:off x="483246" y="335505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2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28803"/>
          <a:ext cx="9059862" cy="33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best describe the working relationship between the architect and management?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is responsible for the management of architecture-related risks, including the planning and implementation of the countermeasures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 identifies the architecture-related risks and negotiates with the project manager accordingly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marL="0" marR="0" lvl="0" indent="0" algn="ctr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architecture-related risks are managed and maintained by the architect and the project-related risks are managed and maintained by the project manager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73887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0D63492-0AA1-416B-A239-CCDE451E9CD1}"/>
              </a:ext>
            </a:extLst>
          </p:cNvPr>
          <p:cNvSpPr/>
          <p:nvPr/>
        </p:nvSpPr>
        <p:spPr>
          <a:xfrm>
            <a:off x="492730" y="216022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02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482774"/>
              </p:ext>
            </p:extLst>
          </p:nvPr>
        </p:nvGraphicFramePr>
        <p:xfrm>
          <a:off x="541338" y="438222"/>
          <a:ext cx="9059862" cy="333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are the responsibility of the architect?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517096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Lead the developers.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Identify and communicate technical risks.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Specify how teams should be distributed to optimize the implementation.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/>
                        <a:t>Support the project manager in the formation and distribution of </a:t>
                      </a:r>
                      <a:r>
                        <a:rPr lang="en-US" sz="2000" dirty="0"/>
                        <a:t>work packages (project tasks) based on the architecture.</a:t>
                      </a:r>
                      <a:endParaRPr lang="en-US" sz="1800" dirty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677D473-82FB-46C1-A3C6-6017AA429EA0}"/>
              </a:ext>
            </a:extLst>
          </p:cNvPr>
          <p:cNvGrpSpPr/>
          <p:nvPr/>
        </p:nvGrpSpPr>
        <p:grpSpPr>
          <a:xfrm>
            <a:off x="572407" y="1543450"/>
            <a:ext cx="765987" cy="1972508"/>
            <a:chOff x="572407" y="1151692"/>
            <a:chExt cx="765987" cy="19725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6D7746-5DA8-46DC-811E-9D4CF70A7FE9}"/>
                </a:ext>
              </a:extLst>
            </p:cNvPr>
            <p:cNvSpPr/>
            <p:nvPr/>
          </p:nvSpPr>
          <p:spPr>
            <a:xfrm>
              <a:off x="572407" y="24470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E52D3-328F-4FAA-87C5-4F5F4C2E4C24}"/>
                </a:ext>
              </a:extLst>
            </p:cNvPr>
            <p:cNvSpPr/>
            <p:nvPr/>
          </p:nvSpPr>
          <p:spPr>
            <a:xfrm>
              <a:off x="972608" y="203563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3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51649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5069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139324"/>
              </p:ext>
            </p:extLst>
          </p:nvPr>
        </p:nvGraphicFramePr>
        <p:xfrm>
          <a:off x="541338" y="438222"/>
          <a:ext cx="9059862" cy="404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consequences of Conway’s law?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Complex organizations tend to create complex software architectures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Everything that can go wrong will go wrong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barriers between teams can influence the software architecture solution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complexity of integrated circuits doubles every 24 months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Three teams are necessary to create the architecture of a three-pass compiler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Software systems tend to reflect the internal communication structure of the company rather than the needs of the  system’s users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6B63AD3-1908-4DB6-B59C-3E60EEBA50A7}"/>
              </a:ext>
            </a:extLst>
          </p:cNvPr>
          <p:cNvGrpSpPr/>
          <p:nvPr/>
        </p:nvGrpSpPr>
        <p:grpSpPr>
          <a:xfrm>
            <a:off x="562940" y="1083449"/>
            <a:ext cx="460212" cy="3175059"/>
            <a:chOff x="562940" y="1083449"/>
            <a:chExt cx="460212" cy="31750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B2C24D1-2C71-4379-A8D0-3F318F5524D4}"/>
                </a:ext>
              </a:extLst>
            </p:cNvPr>
            <p:cNvSpPr/>
            <p:nvPr/>
          </p:nvSpPr>
          <p:spPr>
            <a:xfrm>
              <a:off x="579120" y="108344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9C0BB4-FE77-408C-80C4-97431AB486C6}"/>
                </a:ext>
              </a:extLst>
            </p:cNvPr>
            <p:cNvSpPr/>
            <p:nvPr/>
          </p:nvSpPr>
          <p:spPr>
            <a:xfrm>
              <a:off x="571030" y="196991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457E25-B940-4CE5-96F5-69B0060159B5}"/>
                </a:ext>
              </a:extLst>
            </p:cNvPr>
            <p:cNvSpPr/>
            <p:nvPr/>
          </p:nvSpPr>
          <p:spPr>
            <a:xfrm>
              <a:off x="562940" y="35814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22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88532"/>
              </p:ext>
            </p:extLst>
          </p:nvPr>
        </p:nvGraphicFramePr>
        <p:xfrm>
          <a:off x="541338" y="438222"/>
          <a:ext cx="9059862" cy="410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answers regarding quality requirements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17174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implementation of requirements for high performance typically leads to higher project costs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highly configurable system increases security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availability increases the functional correctness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performance can contribute to better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performance leads to better maintainability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920C9BD-6A60-4C50-BBBB-8DE0AAC5A521}"/>
              </a:ext>
            </a:extLst>
          </p:cNvPr>
          <p:cNvGrpSpPr/>
          <p:nvPr/>
        </p:nvGrpSpPr>
        <p:grpSpPr>
          <a:xfrm>
            <a:off x="568634" y="1859376"/>
            <a:ext cx="744288" cy="2788824"/>
            <a:chOff x="568634" y="1420051"/>
            <a:chExt cx="744288" cy="27888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249070-E306-4F6F-B688-203714A0B81C}"/>
                </a:ext>
              </a:extLst>
            </p:cNvPr>
            <p:cNvSpPr/>
            <p:nvPr/>
          </p:nvSpPr>
          <p:spPr>
            <a:xfrm>
              <a:off x="568634" y="142005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17E7F6-A85F-4134-8F69-1593B6D1C58D}"/>
                </a:ext>
              </a:extLst>
            </p:cNvPr>
            <p:cNvSpPr/>
            <p:nvPr/>
          </p:nvSpPr>
          <p:spPr>
            <a:xfrm>
              <a:off x="950462" y="221430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83724D-CBB4-4899-9DCB-6FE98DD34167}"/>
                </a:ext>
              </a:extLst>
            </p:cNvPr>
            <p:cNvSpPr/>
            <p:nvPr/>
          </p:nvSpPr>
          <p:spPr>
            <a:xfrm>
              <a:off x="953849" y="265406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47F195-E25A-44F2-993A-E316A3FEDABF}"/>
                </a:ext>
              </a:extLst>
            </p:cNvPr>
            <p:cNvSpPr/>
            <p:nvPr/>
          </p:nvSpPr>
          <p:spPr>
            <a:xfrm>
              <a:off x="950462" y="353176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8E86A7-27D1-46B3-B83D-CFB2AFC87152}"/>
                </a:ext>
              </a:extLst>
            </p:cNvPr>
            <p:cNvSpPr/>
            <p:nvPr/>
          </p:nvSpPr>
          <p:spPr>
            <a:xfrm>
              <a:off x="568634" y="304231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991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045055"/>
              </p:ext>
            </p:extLst>
          </p:nvPr>
        </p:nvGraphicFramePr>
        <p:xfrm>
          <a:off x="541338" y="438222"/>
          <a:ext cx="9059862" cy="351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answers regarding quality requirements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240864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automatic provisioning of multiple server instances can increase both the scalability and the reliability of the system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 flexible, customizable system reduces the testing effort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implementation of high security requirements can generally reduce the performance efficiency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C54B4B0-B64E-4824-AD11-CEE4E9D3D2EF}"/>
              </a:ext>
            </a:extLst>
          </p:cNvPr>
          <p:cNvGrpSpPr/>
          <p:nvPr/>
        </p:nvGrpSpPr>
        <p:grpSpPr>
          <a:xfrm>
            <a:off x="543631" y="1866611"/>
            <a:ext cx="781292" cy="1867189"/>
            <a:chOff x="543631" y="1413837"/>
            <a:chExt cx="781292" cy="18671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414AA1-0A8B-4A8E-B0BC-58318C683755}"/>
                </a:ext>
              </a:extLst>
            </p:cNvPr>
            <p:cNvSpPr/>
            <p:nvPr/>
          </p:nvSpPr>
          <p:spPr>
            <a:xfrm>
              <a:off x="543631" y="141383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1C97F-8628-4249-A653-AC6E14910E79}"/>
                </a:ext>
              </a:extLst>
            </p:cNvPr>
            <p:cNvSpPr/>
            <p:nvPr/>
          </p:nvSpPr>
          <p:spPr>
            <a:xfrm>
              <a:off x="965850" y="220778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B0DF8C-11E6-4387-AEBF-528667B09591}"/>
                </a:ext>
              </a:extLst>
            </p:cNvPr>
            <p:cNvSpPr/>
            <p:nvPr/>
          </p:nvSpPr>
          <p:spPr>
            <a:xfrm>
              <a:off x="543631" y="26039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5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2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0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5922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4786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0351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276114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quality attributes typically have a positive impact on each other?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Security &amp;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Configurability &amp; Performance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Performance &amp; Usability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Reliability &amp; Scalability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4A4D6370-5075-2D9E-F13C-91DF9D535242}"/>
              </a:ext>
            </a:extLst>
          </p:cNvPr>
          <p:cNvGrpSpPr/>
          <p:nvPr/>
        </p:nvGrpSpPr>
        <p:grpSpPr>
          <a:xfrm>
            <a:off x="586036" y="1986050"/>
            <a:ext cx="445822" cy="1098240"/>
            <a:chOff x="586036" y="1986050"/>
            <a:chExt cx="445822" cy="10982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A6FDC2-4B10-4662-8B13-0D69ABFB2A01}"/>
                </a:ext>
              </a:extLst>
            </p:cNvPr>
            <p:cNvSpPr/>
            <p:nvPr/>
          </p:nvSpPr>
          <p:spPr>
            <a:xfrm>
              <a:off x="587826" y="24071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58A8C1-EE05-BD05-B59C-B620BDB023FA}"/>
                </a:ext>
              </a:extLst>
            </p:cNvPr>
            <p:cNvSpPr/>
            <p:nvPr/>
          </p:nvSpPr>
          <p:spPr>
            <a:xfrm>
              <a:off x="586036" y="198605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66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470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influences must be implemented, or complied with, in the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answers with Yes [Y] or No [N]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182688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Quality requirements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The architect’s own preferences for certain technologies or solutions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Legal factors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Stakeholder concerns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Enterprise architecture principles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latest technological trends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Budgetary constraints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2675465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74B4BE62-12BA-41D6-B29B-9B2F5D97A145}"/>
              </a:ext>
            </a:extLst>
          </p:cNvPr>
          <p:cNvGrpSpPr/>
          <p:nvPr/>
        </p:nvGrpSpPr>
        <p:grpSpPr>
          <a:xfrm>
            <a:off x="572880" y="1846730"/>
            <a:ext cx="830922" cy="3334870"/>
            <a:chOff x="572880" y="1450407"/>
            <a:chExt cx="830922" cy="33348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6BBA46-5636-4DE9-87D5-B6543B8E4DB8}"/>
                </a:ext>
              </a:extLst>
            </p:cNvPr>
            <p:cNvGrpSpPr/>
            <p:nvPr/>
          </p:nvGrpSpPr>
          <p:grpSpPr>
            <a:xfrm>
              <a:off x="572880" y="1450407"/>
              <a:ext cx="450490" cy="3334870"/>
              <a:chOff x="572880" y="1447800"/>
              <a:chExt cx="450490" cy="333487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90A58A-A9DA-45FD-9836-6EAE71BBA554}"/>
                  </a:ext>
                </a:extLst>
              </p:cNvPr>
              <p:cNvSpPr/>
              <p:nvPr/>
            </p:nvSpPr>
            <p:spPr>
              <a:xfrm>
                <a:off x="579120" y="1447800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BDF927-AEEE-40C4-AD1C-B68CFAB4E5BC}"/>
                  </a:ext>
                </a:extLst>
              </p:cNvPr>
              <p:cNvSpPr/>
              <p:nvPr/>
            </p:nvSpPr>
            <p:spPr>
              <a:xfrm>
                <a:off x="579229" y="233098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A02B23-1BC0-47A3-A2FA-F5A2DA298935}"/>
                  </a:ext>
                </a:extLst>
              </p:cNvPr>
              <p:cNvSpPr/>
              <p:nvPr/>
            </p:nvSpPr>
            <p:spPr>
              <a:xfrm>
                <a:off x="579338" y="321416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EA5AD2E-1DC3-4CC0-ABC9-FA105D5F05F6}"/>
                  </a:ext>
                </a:extLst>
              </p:cNvPr>
              <p:cNvSpPr/>
              <p:nvPr/>
            </p:nvSpPr>
            <p:spPr>
              <a:xfrm>
                <a:off x="572880" y="4105562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rtl="0"/>
                <a:r>
                  <a:rPr lang="en-US" sz="440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CD2B2-BCB8-4FB2-907E-68EB5B508403}"/>
                </a:ext>
              </a:extLst>
            </p:cNvPr>
            <p:cNvSpPr/>
            <p:nvPr/>
          </p:nvSpPr>
          <p:spPr>
            <a:xfrm>
              <a:off x="914400" y="1958133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4C6DCB-0274-4DFF-A125-613D74303C89}"/>
                </a:ext>
              </a:extLst>
            </p:cNvPr>
            <p:cNvSpPr/>
            <p:nvPr/>
          </p:nvSpPr>
          <p:spPr>
            <a:xfrm>
              <a:off x="914400" y="3733800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438A60-66D1-4277-B2A6-01CA1BDD3499}"/>
                </a:ext>
              </a:extLst>
            </p:cNvPr>
            <p:cNvSpPr/>
            <p:nvPr/>
          </p:nvSpPr>
          <p:spPr>
            <a:xfrm>
              <a:off x="920978" y="2856702"/>
              <a:ext cx="482824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rtl="0"/>
              <a:r>
                <a:rPr lang="en-US" sz="3600">
                  <a:solidFill>
                    <a:srgbClr val="FF0000"/>
                  </a:solidFill>
                  <a:sym typeface="Wingdings 2" panose="05020102010507070707" pitchFamily="18" charset="2"/>
                </a:rPr>
                <a:t></a:t>
              </a:r>
              <a:endParaRPr lang="en-US" sz="3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60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5211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055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Complete the phrase: Documentation and communication must …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correspond to a given form.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… be complete.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include </a:t>
                      </a:r>
                      <a:r>
                        <a:rPr lang="de-DE" sz="2000"/>
                        <a:t>Context, Building Block, Deployment, and </a:t>
                      </a:r>
                      <a:r>
                        <a:rPr lang="de-DE" sz="2000" err="1"/>
                        <a:t>Runtime</a:t>
                      </a:r>
                      <a:r>
                        <a:rPr lang="de-DE" sz="2000"/>
                        <a:t> </a:t>
                      </a:r>
                      <a:r>
                        <a:rPr lang="de-DE" sz="2000" err="1"/>
                        <a:t>views</a:t>
                      </a:r>
                      <a:r>
                        <a:rPr lang="de-DE" sz="2000"/>
                        <a:t>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 be adapted to address different stakeholders.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be confidential.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… strictly adhere to a given documentation template.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399924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17579"/>
              </p:ext>
            </p:extLst>
          </p:nvPr>
        </p:nvGraphicFramePr>
        <p:xfrm>
          <a:off x="541339" y="438222"/>
          <a:ext cx="9212261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055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3211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6055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9816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9016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7482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980626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can be described about blackboxes?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545460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Functionality that is implemented by the blackbox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Which quality requirements will be fulfilled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Purpose and responsibilities of the blackbox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Structure of the internal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with other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Implementation details, e.g., algorithms or source code for each building block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E7A6889-422C-40D5-8162-A83A27D290D8}"/>
              </a:ext>
            </a:extLst>
          </p:cNvPr>
          <p:cNvGrpSpPr/>
          <p:nvPr/>
        </p:nvGrpSpPr>
        <p:grpSpPr>
          <a:xfrm>
            <a:off x="565196" y="1518071"/>
            <a:ext cx="769435" cy="2901529"/>
            <a:chOff x="565196" y="1094738"/>
            <a:chExt cx="769435" cy="29015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C5ECEB-F4B9-4897-9B42-C7F53858274F}"/>
                </a:ext>
              </a:extLst>
            </p:cNvPr>
            <p:cNvSpPr/>
            <p:nvPr/>
          </p:nvSpPr>
          <p:spPr>
            <a:xfrm>
              <a:off x="575357" y="109473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E93F38-CC32-4B5A-BBCC-54CD2030F5A3}"/>
                </a:ext>
              </a:extLst>
            </p:cNvPr>
            <p:cNvSpPr/>
            <p:nvPr/>
          </p:nvSpPr>
          <p:spPr>
            <a:xfrm>
              <a:off x="975558" y="2439566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ADF32-4B1D-46D2-9A7E-8E2EC4633836}"/>
                </a:ext>
              </a:extLst>
            </p:cNvPr>
            <p:cNvSpPr/>
            <p:nvPr/>
          </p:nvSpPr>
          <p:spPr>
            <a:xfrm>
              <a:off x="971785" y="331915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722CC-DCBF-458E-97C7-E4BBB4B5DC40}"/>
                </a:ext>
              </a:extLst>
            </p:cNvPr>
            <p:cNvSpPr/>
            <p:nvPr/>
          </p:nvSpPr>
          <p:spPr>
            <a:xfrm>
              <a:off x="57197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1282E6-27AF-4687-87DB-5A32616B1BC6}"/>
                </a:ext>
              </a:extLst>
            </p:cNvPr>
            <p:cNvSpPr/>
            <p:nvPr/>
          </p:nvSpPr>
          <p:spPr>
            <a:xfrm>
              <a:off x="568583" y="197064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47659-A851-4C70-9388-6457FCFF220C}"/>
                </a:ext>
              </a:extLst>
            </p:cNvPr>
            <p:cNvSpPr/>
            <p:nvPr/>
          </p:nvSpPr>
          <p:spPr>
            <a:xfrm>
              <a:off x="565196" y="28356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221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403028"/>
              </p:ext>
            </p:extLst>
          </p:nvPr>
        </p:nvGraphicFramePr>
        <p:xfrm>
          <a:off x="533400" y="438222"/>
          <a:ext cx="9059862" cy="346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topics can be displayed in the context view?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82070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Conceptual overview of the system from an external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Relevant aspects of the target architecture from an external perspective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Users that interact with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External system interfaces, including the data that is transported over them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System responsibilities and boundaries with neighboring systems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81CE84F-01FE-40CE-B204-EC31656B2DA3}"/>
              </a:ext>
            </a:extLst>
          </p:cNvPr>
          <p:cNvGrpSpPr/>
          <p:nvPr/>
        </p:nvGrpSpPr>
        <p:grpSpPr>
          <a:xfrm>
            <a:off x="566139" y="1479501"/>
            <a:ext cx="457013" cy="2461329"/>
            <a:chOff x="566139" y="1079686"/>
            <a:chExt cx="457013" cy="24613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45F623-740E-479F-B6BA-1C74D805E092}"/>
                </a:ext>
              </a:extLst>
            </p:cNvPr>
            <p:cNvSpPr/>
            <p:nvPr/>
          </p:nvSpPr>
          <p:spPr>
            <a:xfrm>
              <a:off x="579120" y="107968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5CA177-12BB-4510-B8AE-206D42B7AED1}"/>
                </a:ext>
              </a:extLst>
            </p:cNvPr>
            <p:cNvSpPr/>
            <p:nvPr/>
          </p:nvSpPr>
          <p:spPr>
            <a:xfrm>
              <a:off x="567267" y="15251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16386F-BD8F-4EA5-BE76-E659BF0F0553}"/>
                </a:ext>
              </a:extLst>
            </p:cNvPr>
            <p:cNvSpPr/>
            <p:nvPr/>
          </p:nvSpPr>
          <p:spPr>
            <a:xfrm>
              <a:off x="570466" y="195935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28623A-5319-416F-B3F0-5B568E6F2664}"/>
                </a:ext>
              </a:extLst>
            </p:cNvPr>
            <p:cNvSpPr/>
            <p:nvPr/>
          </p:nvSpPr>
          <p:spPr>
            <a:xfrm>
              <a:off x="566139" y="24010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527AD1-9E39-487D-AD69-298BCD58D661}"/>
                </a:ext>
              </a:extLst>
            </p:cNvPr>
            <p:cNvSpPr/>
            <p:nvPr/>
          </p:nvSpPr>
          <p:spPr>
            <a:xfrm>
              <a:off x="573101" y="286390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75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29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19001"/>
              </p:ext>
            </p:extLst>
          </p:nvPr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UML diagram types are typically used to describe the building block view?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Component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Deployment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Class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State diagrams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5E43175-BBF7-4C65-8138-2E26BE5D5BD7}"/>
              </a:ext>
            </a:extLst>
          </p:cNvPr>
          <p:cNvGrpSpPr/>
          <p:nvPr/>
        </p:nvGrpSpPr>
        <p:grpSpPr>
          <a:xfrm>
            <a:off x="556918" y="1448026"/>
            <a:ext cx="447419" cy="1550115"/>
            <a:chOff x="556918" y="1448026"/>
            <a:chExt cx="447419" cy="1550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818527-8FE5-4B0B-BE54-6F454AECA884}"/>
                </a:ext>
              </a:extLst>
            </p:cNvPr>
            <p:cNvSpPr/>
            <p:nvPr/>
          </p:nvSpPr>
          <p:spPr>
            <a:xfrm>
              <a:off x="560305" y="144802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E03618-3264-4900-A6AA-B876F9C13D68}"/>
                </a:ext>
              </a:extLst>
            </p:cNvPr>
            <p:cNvSpPr/>
            <p:nvPr/>
          </p:nvSpPr>
          <p:spPr>
            <a:xfrm>
              <a:off x="556918" y="232103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65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UML diagram types can be used to depict the implementation of a use case?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 case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Sequence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Activity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Component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diagram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6040B36-44C6-4C3B-90BA-48B90955D055}"/>
              </a:ext>
            </a:extLst>
          </p:cNvPr>
          <p:cNvGrpSpPr/>
          <p:nvPr/>
        </p:nvGrpSpPr>
        <p:grpSpPr>
          <a:xfrm>
            <a:off x="570086" y="1886411"/>
            <a:ext cx="445540" cy="1104204"/>
            <a:chOff x="570086" y="1886411"/>
            <a:chExt cx="445540" cy="110420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01F7A4-95AA-469C-A394-298F1E449B6F}"/>
                </a:ext>
              </a:extLst>
            </p:cNvPr>
            <p:cNvSpPr/>
            <p:nvPr/>
          </p:nvSpPr>
          <p:spPr>
            <a:xfrm>
              <a:off x="571594" y="188641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621B0A-E7E8-49F5-BCC8-754707FD8A01}"/>
                </a:ext>
              </a:extLst>
            </p:cNvPr>
            <p:cNvSpPr/>
            <p:nvPr/>
          </p:nvSpPr>
          <p:spPr>
            <a:xfrm>
              <a:off x="570086" y="231350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1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514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are the most common view representations in software architecture (according to iSAQB)?</a:t>
                      </a: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Mark the following answers as “true” or “false”.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437570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Communication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Quality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Deployment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Context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Interview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Data view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9F2D754-5AB2-478A-A6E3-376C52793849}"/>
              </a:ext>
            </a:extLst>
          </p:cNvPr>
          <p:cNvGrpSpPr/>
          <p:nvPr/>
        </p:nvGrpSpPr>
        <p:grpSpPr>
          <a:xfrm>
            <a:off x="562940" y="1905000"/>
            <a:ext cx="771681" cy="3748400"/>
            <a:chOff x="562940" y="1497885"/>
            <a:chExt cx="771681" cy="3748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5AFF78-94FA-48F6-A6FE-DCFE9B9BD66A}"/>
                </a:ext>
              </a:extLst>
            </p:cNvPr>
            <p:cNvSpPr/>
            <p:nvPr/>
          </p:nvSpPr>
          <p:spPr>
            <a:xfrm>
              <a:off x="564068" y="188735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EF4261-7683-42FA-BF5E-30B41CEB3CFC}"/>
                </a:ext>
              </a:extLst>
            </p:cNvPr>
            <p:cNvSpPr/>
            <p:nvPr/>
          </p:nvSpPr>
          <p:spPr>
            <a:xfrm>
              <a:off x="971795" y="1497885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407048-14CF-41A6-94B3-5A5B96986B3E}"/>
                </a:ext>
              </a:extLst>
            </p:cNvPr>
            <p:cNvSpPr/>
            <p:nvPr/>
          </p:nvSpPr>
          <p:spPr>
            <a:xfrm>
              <a:off x="563504" y="31978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9E1B3C-F06E-4222-8009-2E91B6D74968}"/>
                </a:ext>
              </a:extLst>
            </p:cNvPr>
            <p:cNvSpPr/>
            <p:nvPr/>
          </p:nvSpPr>
          <p:spPr>
            <a:xfrm>
              <a:off x="562940" y="363502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E06C25-3F9E-40E2-B943-1D7505656006}"/>
                </a:ext>
              </a:extLst>
            </p:cNvPr>
            <p:cNvSpPr/>
            <p:nvPr/>
          </p:nvSpPr>
          <p:spPr>
            <a:xfrm>
              <a:off x="975548" y="2370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68E930-371E-4813-82C2-0657EB6465B8}"/>
                </a:ext>
              </a:extLst>
            </p:cNvPr>
            <p:cNvSpPr/>
            <p:nvPr/>
          </p:nvSpPr>
          <p:spPr>
            <a:xfrm>
              <a:off x="971775" y="280811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90070D-296E-42AC-B891-5626EA34AADD}"/>
                </a:ext>
              </a:extLst>
            </p:cNvPr>
            <p:cNvSpPr/>
            <p:nvPr/>
          </p:nvSpPr>
          <p:spPr>
            <a:xfrm>
              <a:off x="968002" y="41234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F999A1-0D0A-4B48-9B6A-8759DFD9B430}"/>
                </a:ext>
              </a:extLst>
            </p:cNvPr>
            <p:cNvSpPr/>
            <p:nvPr/>
          </p:nvSpPr>
          <p:spPr>
            <a:xfrm>
              <a:off x="964229" y="456917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43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describe software architecture document templates?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ISO 42010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arc42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UML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ITIL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49722B9-1A43-4C39-B0CF-DD5BD3379BA1}"/>
              </a:ext>
            </a:extLst>
          </p:cNvPr>
          <p:cNvGrpSpPr/>
          <p:nvPr/>
        </p:nvGrpSpPr>
        <p:grpSpPr>
          <a:xfrm>
            <a:off x="565383" y="1445203"/>
            <a:ext cx="457769" cy="1116433"/>
            <a:chOff x="565383" y="1445203"/>
            <a:chExt cx="457769" cy="1116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1B107F-8204-46EE-9A0C-01BCEFBF159B}"/>
                </a:ext>
              </a:extLst>
            </p:cNvPr>
            <p:cNvSpPr/>
            <p:nvPr/>
          </p:nvSpPr>
          <p:spPr>
            <a:xfrm>
              <a:off x="579120" y="144520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CFBFC1-CD67-48FD-9D76-94790B5B5868}"/>
                </a:ext>
              </a:extLst>
            </p:cNvPr>
            <p:cNvSpPr/>
            <p:nvPr/>
          </p:nvSpPr>
          <p:spPr>
            <a:xfrm>
              <a:off x="565383" y="188452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5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25272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6235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34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31137"/>
              </p:ext>
            </p:extLst>
          </p:nvPr>
        </p:nvGraphicFramePr>
        <p:xfrm>
          <a:off x="541338" y="438222"/>
          <a:ext cx="9136062" cy="345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design approach is best described by the following characteristics?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Working from the abstract to the details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Used if requirements are unclear or for strategic alignment</a:t>
                      </a:r>
                    </a:p>
                    <a:p>
                      <a:pPr marL="358775" indent="0" rtl="0"/>
                      <a:r>
                        <a:rPr lang="en-US" sz="2000" b="1">
                          <a:solidFill>
                            <a:srgbClr val="003CD2"/>
                          </a:solidFill>
                        </a:rPr>
                        <a:t>- Applying the approach could result in developing unrealistic solutions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correct answers.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Bottom-Up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Top-Down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Domain-Driven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Separation of Concerns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52CFDED-FB5A-47EA-AFF1-91298CDB5C28}"/>
              </a:ext>
            </a:extLst>
          </p:cNvPr>
          <p:cNvSpPr/>
          <p:nvPr/>
        </p:nvSpPr>
        <p:spPr>
          <a:xfrm>
            <a:off x="593497" y="2429773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8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659" y="6586670"/>
            <a:ext cx="2228850" cy="228600"/>
          </a:xfrm>
        </p:spPr>
        <p:txBody>
          <a:bodyPr rtlCol="0"/>
          <a:lstStyle/>
          <a:p>
            <a:r>
              <a:rPr lang="en-US"/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2386" y="6579481"/>
            <a:ext cx="3343275" cy="228600"/>
          </a:xfrm>
        </p:spPr>
        <p:txBody>
          <a:bodyPr rtlCol="0"/>
          <a:lstStyle/>
          <a:p>
            <a:r>
              <a:rPr lang="en-US"/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3833" y="6579481"/>
            <a:ext cx="2228850" cy="228600"/>
          </a:xfrm>
        </p:spPr>
        <p:txBody>
          <a:bodyPr rtlCol="0"/>
          <a:lstStyle/>
          <a:p>
            <a:fld id="{DC65F2A6-DE86-5747-A2A3-FFB413B14C70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43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common approaches to architectural development?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33781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Side-by-side method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Top-down and bottom-up approach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Domain-driven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View-based architectural development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User-driven architecture development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Iterative and incremental design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75B1435-1D2E-4432-ABC2-9F65B63D8358}"/>
              </a:ext>
            </a:extLst>
          </p:cNvPr>
          <p:cNvGrpSpPr/>
          <p:nvPr/>
        </p:nvGrpSpPr>
        <p:grpSpPr>
          <a:xfrm>
            <a:off x="579120" y="1527409"/>
            <a:ext cx="763295" cy="2841174"/>
            <a:chOff x="579120" y="1143000"/>
            <a:chExt cx="763295" cy="28411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544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43000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BB7C0B-632A-4A27-B629-82E355A41B5F}"/>
                </a:ext>
              </a:extLst>
            </p:cNvPr>
            <p:cNvSpPr/>
            <p:nvPr/>
          </p:nvSpPr>
          <p:spPr>
            <a:xfrm>
              <a:off x="579220" y="19812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52E307-EF49-4236-8960-C24A77DBF037}"/>
                </a:ext>
              </a:extLst>
            </p:cNvPr>
            <p:cNvSpPr/>
            <p:nvPr/>
          </p:nvSpPr>
          <p:spPr>
            <a:xfrm>
              <a:off x="579320" y="240793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739461-BD45-4E32-8578-3B312872D36E}"/>
                </a:ext>
              </a:extLst>
            </p:cNvPr>
            <p:cNvSpPr/>
            <p:nvPr/>
          </p:nvSpPr>
          <p:spPr>
            <a:xfrm>
              <a:off x="579420" y="330706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7A5BA-2259-49A3-BDEA-0FC4A9C52BFF}"/>
                </a:ext>
              </a:extLst>
            </p:cNvPr>
            <p:cNvSpPr/>
            <p:nvPr/>
          </p:nvSpPr>
          <p:spPr>
            <a:xfrm>
              <a:off x="983342" y="2900663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08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2260"/>
              </p:ext>
            </p:extLst>
          </p:nvPr>
        </p:nvGraphicFramePr>
        <p:xfrm>
          <a:off x="541338" y="438222"/>
          <a:ext cx="9136062" cy="425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92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statements applies to the dependency inversion principle?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Higher-level (abstract) building blocks should be dependent on lower-level (detailed)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Circular dependencies should be avoided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Abstractions (interfaces) are used to decouple the building block from the implementation of other building blocks.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interchangeability of “detailed” building blocks is made easier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Responsibility for the definition of the interface lies with the building block on the higher (abstract) level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CF3F56E-882C-45F1-8D61-B840098D34F5}"/>
              </a:ext>
            </a:extLst>
          </p:cNvPr>
          <p:cNvGrpSpPr/>
          <p:nvPr/>
        </p:nvGrpSpPr>
        <p:grpSpPr>
          <a:xfrm>
            <a:off x="564820" y="2590800"/>
            <a:ext cx="458332" cy="1838697"/>
            <a:chOff x="564820" y="2320093"/>
            <a:chExt cx="458332" cy="18386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B54B09-6AB9-44A5-A4F3-0D5A33ACD53A}"/>
                </a:ext>
              </a:extLst>
            </p:cNvPr>
            <p:cNvSpPr/>
            <p:nvPr/>
          </p:nvSpPr>
          <p:spPr>
            <a:xfrm>
              <a:off x="579120" y="2320093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17C868-46CA-4764-B822-622DC4E1A00B}"/>
                </a:ext>
              </a:extLst>
            </p:cNvPr>
            <p:cNvSpPr/>
            <p:nvPr/>
          </p:nvSpPr>
          <p:spPr>
            <a:xfrm>
              <a:off x="571970" y="304164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4E5686-2F07-43C3-8F91-26D7E171DD76}"/>
                </a:ext>
              </a:extLst>
            </p:cNvPr>
            <p:cNvSpPr/>
            <p:nvPr/>
          </p:nvSpPr>
          <p:spPr>
            <a:xfrm>
              <a:off x="564820" y="34816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8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983661" cy="33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16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5283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45781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9675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206506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statements regarding dependency inversion are correct?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With dependency inversion, the direction of method calls is reversed.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Dependency injection can be used in conjunction with dependency inversion.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With dependency inversion, implementation and interface are inverted.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Dependency inversion changes the responsibility of the called interface from the implementer to the caller.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Dependency inversion and dependency injection are the same.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5C1B2D7-EDB2-4BF1-A4CE-73C5FA37E9AD}"/>
              </a:ext>
            </a:extLst>
          </p:cNvPr>
          <p:cNvGrpSpPr/>
          <p:nvPr/>
        </p:nvGrpSpPr>
        <p:grpSpPr>
          <a:xfrm>
            <a:off x="566061" y="1532692"/>
            <a:ext cx="457091" cy="1515308"/>
            <a:chOff x="566061" y="1532692"/>
            <a:chExt cx="457091" cy="15153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326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8D21DD-D5F4-408A-950E-E1179AC2F2B8}"/>
                </a:ext>
              </a:extLst>
            </p:cNvPr>
            <p:cNvSpPr/>
            <p:nvPr/>
          </p:nvSpPr>
          <p:spPr>
            <a:xfrm>
              <a:off x="566061" y="23708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51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0B2A-46A0-C909-E207-64E891DA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6427-DE8C-2CD2-5724-B41DE3C8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C22EA-9661-C800-B5ED-F2111F6B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527-BF12-006B-B8ED-03868F25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38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C4267E-5979-566B-D4AA-7DEAA5768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78888"/>
              </p:ext>
            </p:extLst>
          </p:nvPr>
        </p:nvGraphicFramePr>
        <p:xfrm>
          <a:off x="541338" y="438222"/>
          <a:ext cx="8591859" cy="425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kern="1200" noProof="0">
                          <a:solidFill>
                            <a:srgbClr val="003CD2"/>
                          </a:solidFill>
                        </a:rPr>
                        <a:t>Which of the following statements describe key reasons for using an iterative approach in software architecture under uncertainty?</a:t>
                      </a:r>
                      <a:endParaRPr lang="en-US" b="1" i="0" u="none" strike="noStrike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three most correct answers.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Iterations allow architecture decisions to be finalized early and prevent later changes.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Feedback loops with stakeholders help clarify uncertain requirements and lead to better-informed architecture decisions.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Incremental progress helps reduce risks and validate assumptions before making important decisions.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Iterative work automatically prevents any technical debt.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/>
                        <a:t>Iteration supports adaptability of the architecture when conditions change.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9BE80D0-4BFB-F62F-5349-02BECECD9D04}"/>
              </a:ext>
            </a:extLst>
          </p:cNvPr>
          <p:cNvGrpSpPr/>
          <p:nvPr/>
        </p:nvGrpSpPr>
        <p:grpSpPr>
          <a:xfrm>
            <a:off x="566061" y="2180914"/>
            <a:ext cx="466489" cy="2572736"/>
            <a:chOff x="566061" y="2180914"/>
            <a:chExt cx="466489" cy="25727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3BCA573-C79B-AF6A-67D9-B1AB866C4C37}"/>
                </a:ext>
              </a:extLst>
            </p:cNvPr>
            <p:cNvGrpSpPr/>
            <p:nvPr/>
          </p:nvGrpSpPr>
          <p:grpSpPr>
            <a:xfrm>
              <a:off x="566061" y="2180914"/>
              <a:ext cx="466489" cy="1386868"/>
              <a:chOff x="566061" y="2180914"/>
              <a:chExt cx="466489" cy="138686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3BB89C-C1AC-BF05-55BB-10367DB90CF3}"/>
                  </a:ext>
                </a:extLst>
              </p:cNvPr>
              <p:cNvSpPr/>
              <p:nvPr/>
            </p:nvSpPr>
            <p:spPr>
              <a:xfrm>
                <a:off x="588518" y="218091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4400" noProof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</a:t>
                </a:r>
                <a:endPara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3588F2-DA07-0F2E-0C47-B84E0341CA6A}"/>
                  </a:ext>
                </a:extLst>
              </p:cNvPr>
              <p:cNvSpPr/>
              <p:nvPr/>
            </p:nvSpPr>
            <p:spPr>
              <a:xfrm>
                <a:off x="566061" y="2890674"/>
                <a:ext cx="444032" cy="677108"/>
              </a:xfrm>
              <a:prstGeom prst="rect">
                <a:avLst/>
              </a:prstGeom>
            </p:spPr>
            <p:txBody>
              <a:bodyPr wrap="none" lIns="0" tIns="0" rIns="0" bIns="0" anchor="t">
                <a:spAutoFit/>
              </a:bodyPr>
              <a:lstStyle/>
              <a:p>
                <a:r>
                  <a:rPr lang="en-US" sz="4400" noProof="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Wingdings" panose="05000000000000000000" pitchFamily="2" charset="2"/>
                  </a:rPr>
                  <a:t></a:t>
                </a:r>
                <a:endParaRPr lang="en-US" sz="4400" noProof="0">
                  <a:solidFill>
                    <a:srgbClr val="00B050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4D076D-3752-6846-ED69-47A216D78000}"/>
                </a:ext>
              </a:extLst>
            </p:cNvPr>
            <p:cNvSpPr/>
            <p:nvPr/>
          </p:nvSpPr>
          <p:spPr>
            <a:xfrm>
              <a:off x="568085" y="4076542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8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39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does the “Information Hiding” principle describe?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single most correct answer.</a:t>
                      </a: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use of the component is hidden. It cannot be used universally.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Communication with the component must be encrypted.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The functionality of the component is not documented to protect the implementation.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Internal building blocks of a component are not visible from outside.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90A58A-A9DA-45FD-9836-6EAE71BBA554}"/>
              </a:ext>
            </a:extLst>
          </p:cNvPr>
          <p:cNvSpPr/>
          <p:nvPr/>
        </p:nvSpPr>
        <p:spPr>
          <a:xfrm>
            <a:off x="579120" y="2675692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7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applies to the coupling of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308301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Similar components should be as closely coupled as possible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blocks with tight coupling are harder to test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High cohesion generally benefits loose coupling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Coupling must not cross business domains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211F19F-6E67-45C7-9BE4-077F4194B5A6}"/>
              </a:ext>
            </a:extLst>
          </p:cNvPr>
          <p:cNvGrpSpPr/>
          <p:nvPr/>
        </p:nvGrpSpPr>
        <p:grpSpPr>
          <a:xfrm>
            <a:off x="575591" y="1542824"/>
            <a:ext cx="774082" cy="1972508"/>
            <a:chOff x="575591" y="1151692"/>
            <a:chExt cx="774082" cy="19725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56898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1516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5CBCCF-0F14-4CEE-9D46-C63482D1499A}"/>
                </a:ext>
              </a:extLst>
            </p:cNvPr>
            <p:cNvSpPr/>
            <p:nvPr/>
          </p:nvSpPr>
          <p:spPr>
            <a:xfrm>
              <a:off x="990600" y="24470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19DF18-19E3-48AC-8264-49179B203D51}"/>
                </a:ext>
              </a:extLst>
            </p:cNvPr>
            <p:cNvSpPr/>
            <p:nvPr/>
          </p:nvSpPr>
          <p:spPr>
            <a:xfrm>
              <a:off x="575591" y="199571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17.09.2020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870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378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applies to the “Proxy” architecture pattern?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Functions essentially the same as the Proximity pattern.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Forward proxies accept access from the internet to private networks and reverse proxies provide access to public networks from private networks.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Provides a substitute or placeholder for another building block.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Can be used at the class, component, or system level.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3E0E761-C70C-FF8C-B3CF-053DB7A268F1}"/>
              </a:ext>
            </a:extLst>
          </p:cNvPr>
          <p:cNvGrpSpPr/>
          <p:nvPr/>
        </p:nvGrpSpPr>
        <p:grpSpPr>
          <a:xfrm>
            <a:off x="572868" y="2259066"/>
            <a:ext cx="450284" cy="1093734"/>
            <a:chOff x="572868" y="1989892"/>
            <a:chExt cx="450284" cy="10937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989892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3BE7E-CCD4-8056-6610-4E215332A4D4}"/>
                </a:ext>
              </a:extLst>
            </p:cNvPr>
            <p:cNvSpPr/>
            <p:nvPr/>
          </p:nvSpPr>
          <p:spPr>
            <a:xfrm>
              <a:off x="572868" y="24065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3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58085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4656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17B1-A7AA-9B42-0F55-6B2A3B2F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21A5A-5D88-9A85-86AF-97014988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482B-0CD7-4121-A077-B175D13E46CA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6D97D-197D-A22F-C76D-0F3C7238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9ADB-D105-B65C-106B-9F109502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43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53ADD9-6D29-984D-FE64-05EC180F5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79728"/>
              </p:ext>
            </p:extLst>
          </p:nvPr>
        </p:nvGraphicFramePr>
        <p:xfrm>
          <a:off x="541338" y="438222"/>
          <a:ext cx="8591862" cy="28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</a:rPr>
                        <a:t>What best describes cross-cutting concerns in software architecture?</a:t>
                      </a:r>
                      <a:endParaRPr lang="en-US" b="1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</a:rPr>
                        <a:t>Select the one most appropriate answer</a:t>
                      </a: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</a:rPr>
                        <a:t>.</a:t>
                      </a:r>
                      <a:endParaRPr lang="en-US" noProof="0"/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define target environments such as cloud or on-premises.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define the structure of the user interface.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are technical concerns that affect multiple components, such as logging or security.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are only relevant during the implementation phase.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C637B45-937E-8A17-B7C6-C4B05A014D66}"/>
              </a:ext>
            </a:extLst>
          </p:cNvPr>
          <p:cNvGrpSpPr/>
          <p:nvPr/>
        </p:nvGrpSpPr>
        <p:grpSpPr>
          <a:xfrm>
            <a:off x="541526" y="1960369"/>
            <a:ext cx="444032" cy="1721164"/>
            <a:chOff x="541526" y="1960369"/>
            <a:chExt cx="444032" cy="1721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70290E-59F6-8E06-8A53-799B22882111}"/>
                </a:ext>
              </a:extLst>
            </p:cNvPr>
            <p:cNvSpPr/>
            <p:nvPr/>
          </p:nvSpPr>
          <p:spPr>
            <a:xfrm>
              <a:off x="541526" y="1960369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9380B0-90C7-46BD-7CC3-ACF9AE355980}"/>
                </a:ext>
              </a:extLst>
            </p:cNvPr>
            <p:cNvSpPr/>
            <p:nvPr/>
          </p:nvSpPr>
          <p:spPr>
            <a:xfrm>
              <a:off x="574770" y="300442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17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1028-9166-F01C-C875-8DF9FF92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53CB1-0FA0-F6AA-7376-58471CDB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136F3-7E0F-4582-AD19-4E749ACD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9ADE5-4910-F877-DD13-6434F81D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44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DA4C17-7DAB-BE6B-F04C-A4AB49C4E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869315"/>
              </p:ext>
            </p:extLst>
          </p:nvPr>
        </p:nvGraphicFramePr>
        <p:xfrm>
          <a:off x="541338" y="438222"/>
          <a:ext cx="8591859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kern="1200" noProof="0">
                          <a:solidFill>
                            <a:srgbClr val="003CD2"/>
                          </a:solidFill>
                          <a:latin typeface="Calibri Light"/>
                        </a:rPr>
                        <a:t>Which statements describe the impact of data on software architecture decisions?</a:t>
                      </a:r>
                      <a:endParaRPr lang="en-US" b="1" noProof="0">
                        <a:latin typeface="Calibri Light"/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three answers.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Data volume can influence the choice of storage technology.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The choice of programming language can be independent of the data model.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Frequent data changes require appropriate synchronization strategies.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Confidential data influences security and access concepts.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Data models are only relevant in database architecture.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5D3FD5F-4DAE-0EB2-05AE-B4330AEE2186}"/>
              </a:ext>
            </a:extLst>
          </p:cNvPr>
          <p:cNvGrpSpPr/>
          <p:nvPr/>
        </p:nvGrpSpPr>
        <p:grpSpPr>
          <a:xfrm>
            <a:off x="566061" y="1429746"/>
            <a:ext cx="457091" cy="2027929"/>
            <a:chOff x="566061" y="1429746"/>
            <a:chExt cx="457091" cy="20279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CED1C1-6747-A429-47F5-688CE39AE1E8}"/>
                </a:ext>
              </a:extLst>
            </p:cNvPr>
            <p:cNvSpPr/>
            <p:nvPr/>
          </p:nvSpPr>
          <p:spPr>
            <a:xfrm>
              <a:off x="579120" y="1429746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BD38E1-C729-AF54-A332-7DA3EC153EA7}"/>
                </a:ext>
              </a:extLst>
            </p:cNvPr>
            <p:cNvSpPr/>
            <p:nvPr/>
          </p:nvSpPr>
          <p:spPr>
            <a:xfrm>
              <a:off x="566061" y="2327542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53AD14-74E9-3FCD-4C12-51A27D176C8E}"/>
                </a:ext>
              </a:extLst>
            </p:cNvPr>
            <p:cNvSpPr/>
            <p:nvPr/>
          </p:nvSpPr>
          <p:spPr>
            <a:xfrm>
              <a:off x="568085" y="2780567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8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AFE2D-8E9A-EDAF-8435-A10E0074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EDE85-DBCE-056A-03F3-F5D4162B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79E70-4531-4E81-94D2-94EDD3FCE6D7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45652-BC6D-5524-0D04-69C212DD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936B5-07E2-46DB-B84A-57439495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45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1C26F-F0D1-8A14-AE40-8099E5173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51106"/>
              </p:ext>
            </p:extLst>
          </p:nvPr>
        </p:nvGraphicFramePr>
        <p:xfrm>
          <a:off x="541338" y="438222"/>
          <a:ext cx="8591859" cy="33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99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1999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599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noProof="0">
                          <a:solidFill>
                            <a:srgbClr val="003CD2"/>
                          </a:solidFill>
                        </a:rPr>
                        <a:t>What distinguishes a product type from a sum type in data modeling?</a:t>
                      </a:r>
                      <a:endParaRPr lang="en-US" b="0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</a:t>
                      </a:r>
                      <a:r>
                        <a:rPr lang="en-US" sz="16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two </a:t>
                      </a: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answers.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A sum type means that all variants occur simultaneously.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A product type represents a combination of multiple mandatory pieces of information.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noProof="0"/>
                        <a:t>Product types only occur in functional programming languages.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Product and sum types play no role in software architecture.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noProof="0"/>
                        <a:t>A sum type represents a choice between alternatives.</a:t>
                      </a:r>
                      <a:endParaRPr lang="en-US" sz="20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64A54901-C55D-399A-E31C-65FFDC635AEB}"/>
              </a:ext>
            </a:extLst>
          </p:cNvPr>
          <p:cNvGrpSpPr/>
          <p:nvPr/>
        </p:nvGrpSpPr>
        <p:grpSpPr>
          <a:xfrm>
            <a:off x="566061" y="1521761"/>
            <a:ext cx="457091" cy="2282273"/>
            <a:chOff x="566061" y="1521761"/>
            <a:chExt cx="457091" cy="22822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BAF801-8125-DCB9-6D20-BC9687E2C383}"/>
                </a:ext>
              </a:extLst>
            </p:cNvPr>
            <p:cNvSpPr/>
            <p:nvPr/>
          </p:nvSpPr>
          <p:spPr>
            <a:xfrm>
              <a:off x="579120" y="1521761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1625ED-F6A0-17B7-85DF-69854761E775}"/>
                </a:ext>
              </a:extLst>
            </p:cNvPr>
            <p:cNvSpPr/>
            <p:nvPr/>
          </p:nvSpPr>
          <p:spPr>
            <a:xfrm>
              <a:off x="566061" y="3126926"/>
              <a:ext cx="444032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8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9760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12330" y="1942041"/>
            <a:ext cx="2655130" cy="3140850"/>
            <a:chOff x="512330" y="1942041"/>
            <a:chExt cx="265513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12330" y="1942041"/>
              <a:ext cx="2655130" cy="3140850"/>
              <a:chOff x="512330" y="1942041"/>
              <a:chExt cx="265513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1233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7706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09614"/>
              </p:ext>
            </p:extLst>
          </p:nvPr>
        </p:nvGraphicFramePr>
        <p:xfrm>
          <a:off x="541338" y="438222"/>
          <a:ext cx="9059862" cy="384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316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statements best applies to the concept of interfaces?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can increase the maintainability and adaptability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Building blocks should completely avoid interfaces with other building blocks, since they are dependencies and therefore reduce the flexibility of the system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Interfaces require the use of an object-oriented programming language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Accessing data from another building block through an interface may be less efficient than directly accessing the requested resources that are used by that building block.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4382DCD-9D17-4FF5-8D6D-93A4A99C2880}"/>
              </a:ext>
            </a:extLst>
          </p:cNvPr>
          <p:cNvGrpSpPr/>
          <p:nvPr/>
        </p:nvGrpSpPr>
        <p:grpSpPr>
          <a:xfrm>
            <a:off x="571594" y="1451789"/>
            <a:ext cx="444408" cy="2285129"/>
            <a:chOff x="571594" y="1451789"/>
            <a:chExt cx="444408" cy="22851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A5BCB7-477B-4323-A65D-7547C94CD912}"/>
                </a:ext>
              </a:extLst>
            </p:cNvPr>
            <p:cNvSpPr/>
            <p:nvPr/>
          </p:nvSpPr>
          <p:spPr>
            <a:xfrm>
              <a:off x="571594" y="145178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321E77-FBC9-4DB0-AA34-9D34D8EC8D2E}"/>
                </a:ext>
              </a:extLst>
            </p:cNvPr>
            <p:cNvSpPr/>
            <p:nvPr/>
          </p:nvSpPr>
          <p:spPr>
            <a:xfrm>
              <a:off x="571970" y="305981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609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69156"/>
              </p:ext>
            </p:extLst>
          </p:nvPr>
        </p:nvGraphicFramePr>
        <p:xfrm>
          <a:off x="541336" y="438222"/>
          <a:ext cx="9364662" cy="433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111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4422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72111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11634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42970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8763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8112651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are typically kept separate in the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9478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Logical data model and physical database model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View and controller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Left and right text direction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User interface and business logic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Documentation and communication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Business and technical building blocks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Read and write access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84E5018-1D0F-43F1-990E-42872343DDBC}"/>
              </a:ext>
            </a:extLst>
          </p:cNvPr>
          <p:cNvGrpSpPr/>
          <p:nvPr/>
        </p:nvGrpSpPr>
        <p:grpSpPr>
          <a:xfrm>
            <a:off x="571453" y="1504266"/>
            <a:ext cx="760363" cy="3341816"/>
            <a:chOff x="578031" y="1066800"/>
            <a:chExt cx="760363" cy="33418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84D3C-A17E-4CAD-A7CB-CC28DE4E4F5A}"/>
                </a:ext>
              </a:extLst>
            </p:cNvPr>
            <p:cNvSpPr/>
            <p:nvPr/>
          </p:nvSpPr>
          <p:spPr>
            <a:xfrm>
              <a:off x="974886" y="286936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C6778-0E49-426B-945F-78D76697E626}"/>
                </a:ext>
              </a:extLst>
            </p:cNvPr>
            <p:cNvSpPr/>
            <p:nvPr/>
          </p:nvSpPr>
          <p:spPr>
            <a:xfrm>
              <a:off x="582849" y="151091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3BF567-FA49-4D21-ABEA-AA668DF3FB7A}"/>
                </a:ext>
              </a:extLst>
            </p:cNvPr>
            <p:cNvSpPr/>
            <p:nvPr/>
          </p:nvSpPr>
          <p:spPr>
            <a:xfrm>
              <a:off x="590307" y="239915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A14BE6-142F-42AE-81F6-D96F952D55C0}"/>
                </a:ext>
              </a:extLst>
            </p:cNvPr>
            <p:cNvSpPr/>
            <p:nvPr/>
          </p:nvSpPr>
          <p:spPr>
            <a:xfrm>
              <a:off x="578031" y="328739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023062-3549-4B39-9A92-69A806667869}"/>
                </a:ext>
              </a:extLst>
            </p:cNvPr>
            <p:cNvSpPr/>
            <p:nvPr/>
          </p:nvSpPr>
          <p:spPr>
            <a:xfrm>
              <a:off x="581760" y="373150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9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49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0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should a software architect do regarding architecture decisions?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2997477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Justify them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Document related assumptions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Document them only after the implementation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Use a systematic decision-making approach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E65BFE3-63D2-47F3-8E41-91DAC696E80D}"/>
              </a:ext>
            </a:extLst>
          </p:cNvPr>
          <p:cNvGrpSpPr/>
          <p:nvPr/>
        </p:nvGrpSpPr>
        <p:grpSpPr>
          <a:xfrm>
            <a:off x="546786" y="1506625"/>
            <a:ext cx="791608" cy="1998575"/>
            <a:chOff x="546786" y="1066800"/>
            <a:chExt cx="791608" cy="19985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066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1989892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EE5D88-8E4A-4778-84A3-126BDB5C74A2}"/>
                </a:ext>
              </a:extLst>
            </p:cNvPr>
            <p:cNvSpPr/>
            <p:nvPr/>
          </p:nvSpPr>
          <p:spPr>
            <a:xfrm>
              <a:off x="568342" y="1507289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50DA77-2F48-4579-94D0-1E132638761E}"/>
                </a:ext>
              </a:extLst>
            </p:cNvPr>
            <p:cNvSpPr/>
            <p:nvPr/>
          </p:nvSpPr>
          <p:spPr>
            <a:xfrm>
              <a:off x="546786" y="238826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53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50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properties are desirable when designing interfaces between architectural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four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Functionally complete from the consumer’s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Functionally complete from the provider’s perspective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Enables private services to be called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Difficult to abuse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Easy to use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Easy to extend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2DF64C7-7CD5-44A1-9A23-113A001BDC43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880FB9-7941-468D-B127-0B20ACA17FEA}"/>
                </a:ext>
              </a:extLst>
            </p:cNvPr>
            <p:cNvSpPr/>
            <p:nvPr/>
          </p:nvSpPr>
          <p:spPr>
            <a:xfrm>
              <a:off x="579320" y="321416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2E3CB5-C9A9-4561-A011-83ACA1F38853}"/>
                </a:ext>
              </a:extLst>
            </p:cNvPr>
            <p:cNvSpPr/>
            <p:nvPr/>
          </p:nvSpPr>
          <p:spPr>
            <a:xfrm>
              <a:off x="579420" y="364308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B65A-FBA5-4F88-BB9A-6EC0055F63EB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69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7094DD-EEE5-53EA-5FCD-F45A3CAA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0BD82-11A6-DE06-41D8-E65934CC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6CC7-D71F-4ABC-9331-4C4680BFB200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9AF5D-58A4-E08A-C409-63944B90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FCAE4-492A-EA40-EB7C-990CE862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51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D5815E-2079-17D4-8DEF-CC0AACED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99165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3CD2"/>
                          </a:solidFill>
                        </a:rPr>
                        <a:t>Which statements best describe the purpose of design principles in software architecture?</a:t>
                      </a:r>
                      <a:endParaRPr lang="en-US" b="0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two most appropriate answers.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influence the decisions and behavior of stakeholders.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replace the need for architecture documentation.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help with the selection of database technology.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support the structuring and quality of software architecture.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They prevent all runtime errors.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B697190-1E96-8E73-9AB2-D7987CDE304F}"/>
              </a:ext>
            </a:extLst>
          </p:cNvPr>
          <p:cNvGrpSpPr/>
          <p:nvPr/>
        </p:nvGrpSpPr>
        <p:grpSpPr>
          <a:xfrm>
            <a:off x="579120" y="1447800"/>
            <a:ext cx="444432" cy="2872392"/>
            <a:chOff x="579120" y="1447800"/>
            <a:chExt cx="444432" cy="2872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99024F-79CB-F663-76AF-E52D3D839B4D}"/>
                </a:ext>
              </a:extLst>
            </p:cNvPr>
            <p:cNvSpPr/>
            <p:nvPr/>
          </p:nvSpPr>
          <p:spPr>
            <a:xfrm>
              <a:off x="579120" y="1447800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A155F5-7586-1E31-ED6E-265CEBF7CE1B}"/>
                </a:ext>
              </a:extLst>
            </p:cNvPr>
            <p:cNvSpPr/>
            <p:nvPr/>
          </p:nvSpPr>
          <p:spPr>
            <a:xfrm>
              <a:off x="579320" y="321416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5F3FF-0E4D-EFFB-45F0-5DB0B87AC1F2}"/>
                </a:ext>
              </a:extLst>
            </p:cNvPr>
            <p:cNvSpPr/>
            <p:nvPr/>
          </p:nvSpPr>
          <p:spPr>
            <a:xfrm>
              <a:off x="579420" y="364308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313BB7-3706-CC90-ED17-3099C8D00263}"/>
                </a:ext>
              </a:extLst>
            </p:cNvPr>
            <p:cNvSpPr/>
            <p:nvPr/>
          </p:nvSpPr>
          <p:spPr>
            <a:xfrm>
              <a:off x="579520" y="2764974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62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45310"/>
              </p:ext>
            </p:extLst>
          </p:nvPr>
        </p:nvGraphicFramePr>
        <p:xfrm>
          <a:off x="541338" y="438222"/>
          <a:ext cx="8591862" cy="310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What are the possibilities for reducing or eliminating the coupling between two building blocks?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Divide one of the components into two sub-components, with a coupled and a decoupled part.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Introduce interfaces between the components.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Move common functionality to a third component and call this functionality from both components (Separation of Concerns).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83DFCAA-D213-4A7B-B2D8-5D48FE0D935A}"/>
              </a:ext>
            </a:extLst>
          </p:cNvPr>
          <p:cNvGrpSpPr/>
          <p:nvPr/>
        </p:nvGrpSpPr>
        <p:grpSpPr>
          <a:xfrm>
            <a:off x="569681" y="2171324"/>
            <a:ext cx="453471" cy="1111100"/>
            <a:chOff x="569681" y="2171324"/>
            <a:chExt cx="453471" cy="11111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217132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6A6FDA-1DA7-487B-98B6-666709327493}"/>
                </a:ext>
              </a:extLst>
            </p:cNvPr>
            <p:cNvSpPr/>
            <p:nvPr/>
          </p:nvSpPr>
          <p:spPr>
            <a:xfrm>
              <a:off x="569681" y="2605316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27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9059862" cy="390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terms are cross-cutting concerns in architecture?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CD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the answers with Yes [Y] or No [N]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Y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/>
                        <a:t>N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7383893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Persistence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Inter-process Communication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Domain model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Concurrency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Shopping cart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Modernization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DEF1B1E-0C2C-455F-A387-B1FCAAE20D24}"/>
              </a:ext>
            </a:extLst>
          </p:cNvPr>
          <p:cNvGrpSpPr/>
          <p:nvPr/>
        </p:nvGrpSpPr>
        <p:grpSpPr>
          <a:xfrm>
            <a:off x="579120" y="1508796"/>
            <a:ext cx="759274" cy="2891980"/>
            <a:chOff x="579120" y="1121235"/>
            <a:chExt cx="759274" cy="28919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0A58A-A9DA-45FD-9836-6EAE71BBA554}"/>
                </a:ext>
              </a:extLst>
            </p:cNvPr>
            <p:cNvSpPr/>
            <p:nvPr/>
          </p:nvSpPr>
          <p:spPr>
            <a:xfrm>
              <a:off x="579120" y="112123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12E6B7-D7A4-478F-B214-7E7429CDC48E}"/>
                </a:ext>
              </a:extLst>
            </p:cNvPr>
            <p:cNvSpPr/>
            <p:nvPr/>
          </p:nvSpPr>
          <p:spPr>
            <a:xfrm>
              <a:off x="979321" y="2040689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89AF65-D21B-49A8-B94C-309AC743A2FB}"/>
                </a:ext>
              </a:extLst>
            </p:cNvPr>
            <p:cNvSpPr/>
            <p:nvPr/>
          </p:nvSpPr>
          <p:spPr>
            <a:xfrm>
              <a:off x="580568" y="1550837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832CAB-064E-4A8D-BDCD-BF70292B5A40}"/>
                </a:ext>
              </a:extLst>
            </p:cNvPr>
            <p:cNvSpPr/>
            <p:nvPr/>
          </p:nvSpPr>
          <p:spPr>
            <a:xfrm>
              <a:off x="583464" y="2410041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5BDFA8-6CBE-4E87-A808-3B8C4B0A8D55}"/>
                </a:ext>
              </a:extLst>
            </p:cNvPr>
            <p:cNvSpPr/>
            <p:nvPr/>
          </p:nvSpPr>
          <p:spPr>
            <a:xfrm>
              <a:off x="965589" y="2904301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E8F7A7-5692-43C7-8CF6-8D318E8964B8}"/>
                </a:ext>
              </a:extLst>
            </p:cNvPr>
            <p:cNvSpPr/>
            <p:nvPr/>
          </p:nvSpPr>
          <p:spPr>
            <a:xfrm>
              <a:off x="958723" y="3336107"/>
              <a:ext cx="359073" cy="677108"/>
            </a:xfrm>
            <a:prstGeom prst="rect">
              <a:avLst/>
            </a:prstGeom>
          </p:spPr>
          <p:txBody>
            <a:bodyPr wrap="none" lIns="0" tIns="0" rIns="0" bIns="0" rtlCol="0" anchor="ctr">
              <a:spAutoFit/>
            </a:bodyPr>
            <a:lstStyle/>
            <a:p>
              <a:pPr algn="ctr" rtl="0"/>
              <a:r>
                <a:rPr lang="en-US" sz="440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</a:t>
              </a:r>
              <a:endPara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91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066E-EA1A-4519-8D64-B566D8F7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C8B8A-BEFA-4F80-852C-D76DFE35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4293-3609-45D2-8344-EB707459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AAEF5-A903-46CF-8A75-8DCE15BF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graphicFrame>
        <p:nvGraphicFramePr>
          <p:cNvPr id="12" name="Tabelle 76">
            <a:extLst>
              <a:ext uri="{FF2B5EF4-FFF2-40B4-BE49-F238E27FC236}">
                <a16:creationId xmlns:a16="http://schemas.microsoft.com/office/drawing/2014/main" id="{7F6D9716-85AB-4D40-BE43-71B9FB108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62086"/>
              </p:ext>
            </p:extLst>
          </p:nvPr>
        </p:nvGraphicFramePr>
        <p:xfrm>
          <a:off x="3420000" y="304800"/>
          <a:ext cx="6096000" cy="6228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rgbClr val="595959"/>
                          </a:solidFill>
                        </a:rPr>
                        <a:t>Prerequisites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9617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concepts, benefits, and tasks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1082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Stakeholder concerns and collaboration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000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Influencing factors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1688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494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Documentation and communication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008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48223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Architecture guidelines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35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06349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strategy and target architecture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34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47275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noProof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Solution development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422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/>
                      <a:endParaRPr lang="en-US" sz="200" b="1" noProof="0">
                        <a:solidFill>
                          <a:schemeClr val="bg1"/>
                        </a:solidFill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" b="0" noProof="0"/>
                    </a:p>
                  </a:txBody>
                  <a:tcPr marL="90000" marR="90000" marT="46800" marB="4680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9332"/>
                  </a:ext>
                </a:extLst>
              </a:tr>
              <a:tr h="46974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>
                          <a:solidFill>
                            <a:srgbClr val="003CD2"/>
                          </a:solidFill>
                        </a:rPr>
                        <a:t>Architecture assessment</a:t>
                      </a:r>
                    </a:p>
                  </a:txBody>
                  <a:tcPr marL="90000" marR="90000" marT="108000" marB="108000" anchor="ctr">
                    <a:lnL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569464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D84B11BA-F4CF-4EF3-A5B9-C7D0539030EC}"/>
              </a:ext>
            </a:extLst>
          </p:cNvPr>
          <p:cNvGrpSpPr/>
          <p:nvPr/>
        </p:nvGrpSpPr>
        <p:grpSpPr>
          <a:xfrm>
            <a:off x="533400" y="1942041"/>
            <a:ext cx="2634060" cy="3140850"/>
            <a:chOff x="533400" y="1942041"/>
            <a:chExt cx="2634060" cy="31408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10CA810-FF2D-4DBB-B478-ECD774069238}"/>
                </a:ext>
              </a:extLst>
            </p:cNvPr>
            <p:cNvGrpSpPr/>
            <p:nvPr/>
          </p:nvGrpSpPr>
          <p:grpSpPr>
            <a:xfrm>
              <a:off x="533400" y="1942041"/>
              <a:ext cx="2634060" cy="3140850"/>
              <a:chOff x="533400" y="1942041"/>
              <a:chExt cx="2634060" cy="314085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8206844-F119-4EF5-B6FC-8FC5927E20AD}"/>
                  </a:ext>
                </a:extLst>
              </p:cNvPr>
              <p:cNvGrpSpPr/>
              <p:nvPr/>
            </p:nvGrpSpPr>
            <p:grpSpPr>
              <a:xfrm>
                <a:off x="541660" y="1947524"/>
                <a:ext cx="2625800" cy="3135367"/>
                <a:chOff x="5824521" y="3572457"/>
                <a:chExt cx="1203954" cy="138292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0A2CD6B-2160-478B-BA36-595FA13A21BC}"/>
                    </a:ext>
                  </a:extLst>
                </p:cNvPr>
                <p:cNvSpPr/>
                <p:nvPr/>
              </p:nvSpPr>
              <p:spPr>
                <a:xfrm rot="10800000">
                  <a:off x="5824521" y="3572457"/>
                  <a:ext cx="1203954" cy="1382924"/>
                </a:xfrm>
                <a:custGeom>
                  <a:avLst/>
                  <a:gdLst>
                    <a:gd name="connsiteX0" fmla="*/ 1203954 w 1203954"/>
                    <a:gd name="connsiteY0" fmla="*/ 1382924 h 1382924"/>
                    <a:gd name="connsiteX1" fmla="*/ 228007 w 1203954"/>
                    <a:gd name="connsiteY1" fmla="*/ 1382924 h 1382924"/>
                    <a:gd name="connsiteX2" fmla="*/ 0 w 1203954"/>
                    <a:gd name="connsiteY2" fmla="*/ 1162702 h 1382924"/>
                    <a:gd name="connsiteX3" fmla="*/ 0 w 1203954"/>
                    <a:gd name="connsiteY3" fmla="*/ 0 h 1382924"/>
                    <a:gd name="connsiteX4" fmla="*/ 1203954 w 1203954"/>
                    <a:gd name="connsiteY4" fmla="*/ 0 h 138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954" h="1382924">
                      <a:moveTo>
                        <a:pt x="1203954" y="1382924"/>
                      </a:moveTo>
                      <a:lnTo>
                        <a:pt x="228007" y="1382924"/>
                      </a:lnTo>
                      <a:lnTo>
                        <a:pt x="0" y="1162702"/>
                      </a:lnTo>
                      <a:lnTo>
                        <a:pt x="0" y="0"/>
                      </a:lnTo>
                      <a:lnTo>
                        <a:pt x="120395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1143A0-B4F0-42AB-B7C9-46F8B7AB3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244848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1A7253A-68D5-4B7E-A658-63224F182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768" y="4052259"/>
                  <a:ext cx="81306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8A21EBA-0EA1-4EA3-9715-A0B2E1C0B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241" y="3863281"/>
                  <a:ext cx="82900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00EDB9B-1A7E-48E1-BA1C-49E348EEE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621018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B65F842-A64D-47E6-AD9A-8500A4DD0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8965" y="4432046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4F9D58F-91B2-4E92-9C9C-23F497BD3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7263" y="4798550"/>
                  <a:ext cx="81198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C17AB094-5136-4A89-9A51-2B4108AB0927}"/>
                    </a:ext>
                  </a:extLst>
                </p:cNvPr>
                <p:cNvSpPr/>
                <p:nvPr/>
              </p:nvSpPr>
              <p:spPr>
                <a:xfrm>
                  <a:off x="6793372" y="3572457"/>
                  <a:ext cx="228161" cy="218999"/>
                </a:xfrm>
                <a:custGeom>
                  <a:avLst/>
                  <a:gdLst>
                    <a:gd name="connsiteX0" fmla="*/ 11841 w 273233"/>
                    <a:gd name="connsiteY0" fmla="*/ 0 h 250488"/>
                    <a:gd name="connsiteX1" fmla="*/ 273233 w 273233"/>
                    <a:gd name="connsiteY1" fmla="*/ 250488 h 250488"/>
                    <a:gd name="connsiteX2" fmla="*/ 44382 w 273233"/>
                    <a:gd name="connsiteY2" fmla="*/ 250488 h 250488"/>
                    <a:gd name="connsiteX3" fmla="*/ 0 w 273233"/>
                    <a:gd name="connsiteY3" fmla="*/ 206106 h 250488"/>
                    <a:gd name="connsiteX4" fmla="*/ 0 w 273233"/>
                    <a:gd name="connsiteY4" fmla="*/ 28585 h 250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233" h="250488">
                      <a:moveTo>
                        <a:pt x="11841" y="0"/>
                      </a:moveTo>
                      <a:lnTo>
                        <a:pt x="273233" y="250488"/>
                      </a:lnTo>
                      <a:lnTo>
                        <a:pt x="44382" y="250488"/>
                      </a:lnTo>
                      <a:cubicBezTo>
                        <a:pt x="19870" y="250488"/>
                        <a:pt x="0" y="230618"/>
                        <a:pt x="0" y="206106"/>
                      </a:cubicBezTo>
                      <a:lnTo>
                        <a:pt x="0" y="2858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rtl="0"/>
                  <a:endParaRPr lang="en-US" sz="14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F068DF-872C-4707-80E9-2F43037261E9}"/>
                  </a:ext>
                </a:extLst>
              </p:cNvPr>
              <p:cNvSpPr txBox="1"/>
              <p:nvPr/>
            </p:nvSpPr>
            <p:spPr>
              <a:xfrm>
                <a:off x="533400" y="1942041"/>
                <a:ext cx="21809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2400">
                    <a:latin typeface="Calibri" panose="020F0502020204030204" pitchFamily="34" charset="0"/>
                    <a:cs typeface="Calibri" panose="020F0502020204030204" pitchFamily="34" charset="0"/>
                  </a:rPr>
                  <a:t>Exam Questions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D0B6EB2-2CBD-468B-9E3E-23A356E6464B}"/>
                </a:ext>
              </a:extLst>
            </p:cNvPr>
            <p:cNvGrpSpPr/>
            <p:nvPr/>
          </p:nvGrpSpPr>
          <p:grpSpPr>
            <a:xfrm>
              <a:off x="592730" y="2362200"/>
              <a:ext cx="482824" cy="2679029"/>
              <a:chOff x="592730" y="2362200"/>
              <a:chExt cx="482824" cy="2679029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D4C4F-511C-414B-AA8E-5E6A3E02A257}"/>
                  </a:ext>
                </a:extLst>
              </p:cNvPr>
              <p:cNvSpPr txBox="1"/>
              <p:nvPr/>
            </p:nvSpPr>
            <p:spPr>
              <a:xfrm>
                <a:off x="653003" y="2362200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2247105-6FD8-49EF-B8F9-EF9D99AA651E}"/>
                  </a:ext>
                </a:extLst>
              </p:cNvPr>
              <p:cNvSpPr/>
              <p:nvPr/>
            </p:nvSpPr>
            <p:spPr>
              <a:xfrm>
                <a:off x="592730" y="2739318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0E82DC-BB02-498E-B670-8361D74D1B16}"/>
                  </a:ext>
                </a:extLst>
              </p:cNvPr>
              <p:cNvSpPr txBox="1"/>
              <p:nvPr/>
            </p:nvSpPr>
            <p:spPr>
              <a:xfrm>
                <a:off x="653003" y="325600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45EBBE-E795-4652-BF4D-3B4143A91371}"/>
                  </a:ext>
                </a:extLst>
              </p:cNvPr>
              <p:cNvSpPr txBox="1"/>
              <p:nvPr/>
            </p:nvSpPr>
            <p:spPr>
              <a:xfrm>
                <a:off x="653003" y="3680272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7E31DF3-1753-4E5C-AC73-3443DB47CCEA}"/>
                  </a:ext>
                </a:extLst>
              </p:cNvPr>
              <p:cNvSpPr txBox="1"/>
              <p:nvPr/>
            </p:nvSpPr>
            <p:spPr>
              <a:xfrm>
                <a:off x="653003" y="4487231"/>
                <a:ext cx="36227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rtl="0"/>
                <a:r>
                  <a:rPr lang="en-US" sz="360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</a:t>
                </a:r>
                <a:endParaRPr lang="en-US" sz="3600">
                  <a:solidFill>
                    <a:srgbClr val="00B050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EB2CDC5-1DCE-4BBB-9F4F-3D6D193B603B}"/>
                  </a:ext>
                </a:extLst>
              </p:cNvPr>
              <p:cNvSpPr/>
              <p:nvPr/>
            </p:nvSpPr>
            <p:spPr>
              <a:xfrm>
                <a:off x="592730" y="4030543"/>
                <a:ext cx="482824" cy="646331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sz="3600">
                    <a:solidFill>
                      <a:srgbClr val="FF0000"/>
                    </a:solidFill>
                    <a:sym typeface="Wingdings 2" panose="05020102010507070707" pitchFamily="18" charset="2"/>
                  </a:rPr>
                  <a:t>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4233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September 17,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2019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55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8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are the minimum requirements for an architecture evaluation?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two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Implementation status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Analysis result regarding system complexity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Test results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List of errors in development and production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Requirements and architecture documentation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Subject matter expert or product owner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272546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BF059AF-FBA4-441F-9122-FB7578F5AE40}"/>
              </a:ext>
            </a:extLst>
          </p:cNvPr>
          <p:cNvGrpSpPr/>
          <p:nvPr/>
        </p:nvGrpSpPr>
        <p:grpSpPr>
          <a:xfrm>
            <a:off x="580568" y="3202514"/>
            <a:ext cx="445480" cy="1110732"/>
            <a:chOff x="580568" y="3202514"/>
            <a:chExt cx="445480" cy="11107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053B30-45AC-499B-A774-1495FF473D29}"/>
                </a:ext>
              </a:extLst>
            </p:cNvPr>
            <p:cNvSpPr/>
            <p:nvPr/>
          </p:nvSpPr>
          <p:spPr>
            <a:xfrm>
              <a:off x="580568" y="320251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EEE356-DEEA-44EF-A2FB-505A052C71A2}"/>
                </a:ext>
              </a:extLst>
            </p:cNvPr>
            <p:cNvSpPr/>
            <p:nvPr/>
          </p:nvSpPr>
          <p:spPr>
            <a:xfrm>
              <a:off x="582016" y="3636138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9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2F4-D9CA-4E85-823F-725D924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-DE">
                <a:solidFill>
                  <a:prstClr val="black">
                    <a:lumMod val="65000"/>
                    <a:lumOff val="35000"/>
                  </a:prstClr>
                </a:solidFill>
              </a:rPr>
              <a:t>02.10.2020</a:t>
            </a:r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CD51-C890-4D44-83A1-8D84C939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E58F-E8B3-4924-9976-F93E0402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C65F2A6-DE86-5747-A2A3-FFB413B14C70}" type="slidenum">
              <a:rPr lang="en-US" smtClean="0">
                <a:solidFill>
                  <a:prstClr val="black"/>
                </a:solidFill>
              </a:rPr>
              <a:pPr rtl="0"/>
              <a:t>56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Which of the following aspects are possible objectives for the use of dynamic code-analysis tools by a software architect?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Select the three most correct answers.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Determining the Lines of Code (LOC) of a building block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Discovering dependencies to improve the architecture structure 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Identify violations of coding conventions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To help determine if performance and load requirements are met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Measuring memory usage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6FEA8E6-FFAF-4C71-9669-808CF1B02209}"/>
              </a:ext>
            </a:extLst>
          </p:cNvPr>
          <p:cNvGrpSpPr/>
          <p:nvPr/>
        </p:nvGrpSpPr>
        <p:grpSpPr>
          <a:xfrm>
            <a:off x="556019" y="1890174"/>
            <a:ext cx="467509" cy="2001599"/>
            <a:chOff x="556019" y="1890174"/>
            <a:chExt cx="467509" cy="20015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2592DE-E09D-4CD9-B9E7-4B04888D7814}"/>
                </a:ext>
              </a:extLst>
            </p:cNvPr>
            <p:cNvSpPr/>
            <p:nvPr/>
          </p:nvSpPr>
          <p:spPr>
            <a:xfrm>
              <a:off x="579120" y="189017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17203F-71DA-4743-9EEE-29679877A0FE}"/>
                </a:ext>
              </a:extLst>
            </p:cNvPr>
            <p:cNvSpPr/>
            <p:nvPr/>
          </p:nvSpPr>
          <p:spPr>
            <a:xfrm>
              <a:off x="579496" y="2766944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C37F40-1A57-4176-BC5A-C1FB42420FA3}"/>
                </a:ext>
              </a:extLst>
            </p:cNvPr>
            <p:cNvSpPr/>
            <p:nvPr/>
          </p:nvSpPr>
          <p:spPr>
            <a:xfrm>
              <a:off x="556019" y="3214665"/>
              <a:ext cx="444032" cy="677108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rtl="0"/>
              <a:r>
                <a:rPr lang="en-US" sz="44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72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E7C6C4-C386-1045-A821-BFA3AFFC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16A51-6B7F-4C2C-A667-AA1F2934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516E7-3402-F484-02DE-13F4D278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5CA0-97DE-A89D-4B71-A960465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57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BA5137-8BE1-E8D7-8888-F70520A9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871837"/>
              </p:ext>
            </p:extLst>
          </p:nvPr>
        </p:nvGraphicFramePr>
        <p:xfrm>
          <a:off x="541338" y="438222"/>
          <a:ext cx="8591862" cy="341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</a:rPr>
                        <a:t>Which analysis methods are suitable for evaluating security requirements?</a:t>
                      </a:r>
                      <a:endParaRPr lang="en-US" b="1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two of the following most appropriate answers:</a:t>
                      </a:r>
                      <a:endParaRPr lang="en-US" noProof="0"/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Interview with stakeholders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Daily stand-ups in the Scrum process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Analysis of acceptance test results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Cost comparison of different hardware providers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Afferent/efferent coupling metric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CD7ECB0-5AAF-9AAE-40C8-28CC291C055E}"/>
              </a:ext>
            </a:extLst>
          </p:cNvPr>
          <p:cNvGrpSpPr/>
          <p:nvPr/>
        </p:nvGrpSpPr>
        <p:grpSpPr>
          <a:xfrm>
            <a:off x="579120" y="1476815"/>
            <a:ext cx="444408" cy="2686678"/>
            <a:chOff x="579120" y="1476815"/>
            <a:chExt cx="444408" cy="268667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A5BE1F-2062-C4FE-AC2A-F24008C67038}"/>
                </a:ext>
              </a:extLst>
            </p:cNvPr>
            <p:cNvSpPr/>
            <p:nvPr/>
          </p:nvSpPr>
          <p:spPr>
            <a:xfrm>
              <a:off x="579120" y="147681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536B8-A677-AB5E-93DD-D8E35B51ACC5}"/>
                </a:ext>
              </a:extLst>
            </p:cNvPr>
            <p:cNvSpPr/>
            <p:nvPr/>
          </p:nvSpPr>
          <p:spPr>
            <a:xfrm>
              <a:off x="579496" y="2353585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8565E-2818-990E-FE07-0BA9533E7FA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32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D6EF-A607-A9CB-1972-360F33D5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65712-D913-317A-6133-946D717D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EE746-C851-313D-E432-20CDE5D5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977FB-1036-5F45-73FF-E7DFB2B0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58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6D48C0-9337-6183-496E-343D03A92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458832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</a:rPr>
                        <a:t>What is a typical reason for conducting an architecture analysis during a project?</a:t>
                      </a:r>
                      <a:endParaRPr lang="en-US" b="1" noProof="0"/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 from the following options.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To evaluate new programming languages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To determine whether the development team is adequately staffed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To verify whether the architecture meets the functional and quality requirements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/>
                        <a:t>To design a new user interface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5FDBD30-711B-CD4E-F722-E697152C1AA4}"/>
              </a:ext>
            </a:extLst>
          </p:cNvPr>
          <p:cNvGrpSpPr/>
          <p:nvPr/>
        </p:nvGrpSpPr>
        <p:grpSpPr>
          <a:xfrm>
            <a:off x="579120" y="1890174"/>
            <a:ext cx="444408" cy="2273319"/>
            <a:chOff x="579120" y="1890174"/>
            <a:chExt cx="444408" cy="22733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36F5F0-0C8F-1EA6-914A-0991683C431E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36055D-A001-A16F-C3FC-48C3D4C80F03}"/>
                </a:ext>
              </a:extLst>
            </p:cNvPr>
            <p:cNvSpPr/>
            <p:nvPr/>
          </p:nvSpPr>
          <p:spPr>
            <a:xfrm>
              <a:off x="579496" y="2346648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E7ABC7-78E0-AA86-1BBC-7E21948708C0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5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CDCB0A-1092-BABF-3C03-15EF62AD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0DCE9-9F2B-C2C2-7CB2-1F15A98B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2A03-9DD3-49ED-8218-5778784F9DFD}" type="datetime1">
              <a:rPr lang="en-US" noProof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5/21/2026</a:t>
            </a:fld>
            <a:endParaRPr lang="en-US" noProof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452A8-18A3-9C7B-2754-F2F310F3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>
                <a:solidFill>
                  <a:prstClr val="black">
                    <a:lumMod val="65000"/>
                    <a:lumOff val="35000"/>
                  </a:prstClr>
                </a:solidFill>
              </a:rPr>
              <a:t>Albion Copyright 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0F2BC-7C2C-D4B7-3078-46F75934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5F2A6-DE86-5747-A2A3-FFB413B14C70}" type="slidenum">
              <a:rPr lang="en-US" noProof="0" smtClean="0">
                <a:solidFill>
                  <a:prstClr val="black"/>
                </a:solidFill>
              </a:rPr>
              <a:pPr/>
              <a:t>59</a:t>
            </a:fld>
            <a:endParaRPr lang="en-US" noProof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FBB924-A197-8B94-D532-C96CCA0F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767865"/>
              </p:ext>
            </p:extLst>
          </p:nvPr>
        </p:nvGraphicFramePr>
        <p:xfrm>
          <a:off x="541338" y="438222"/>
          <a:ext cx="8591862" cy="32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What is a benefit of architecture analysis after implementation?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noProof="0">
                        <a:solidFill>
                          <a:srgbClr val="003CD2"/>
                        </a:solidFill>
                        <a:latin typeface="Calibri Light"/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3CD2"/>
                          </a:solidFill>
                          <a:latin typeface="Calibri Light"/>
                        </a:rPr>
                        <a:t>Select the one most appropriate answer from the following options.</a:t>
                      </a:r>
                      <a:endParaRPr lang="en-US" b="0" i="0" u="none" strike="noStrike" noProof="0">
                        <a:latin typeface="Calibri Light"/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>
                          <a:sym typeface="Wingdings" panose="05000000000000000000" pitchFamily="2" charset="2"/>
                        </a:rPr>
                        <a:t></a:t>
                      </a:r>
                      <a:endParaRPr lang="en-US" sz="18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Identification of deviations between the implemented solution and the planned architectural design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Conducting unit tests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Selection of the cloud provider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" noProof="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noProof="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Calibri Light"/>
                        </a:rPr>
                        <a:t>Introduction of new agile methods</a:t>
                      </a:r>
                      <a:endParaRPr lang="en-US" noProof="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724F7AE-D008-E167-4600-96AED3C06454}"/>
              </a:ext>
            </a:extLst>
          </p:cNvPr>
          <p:cNvGrpSpPr/>
          <p:nvPr/>
        </p:nvGrpSpPr>
        <p:grpSpPr>
          <a:xfrm>
            <a:off x="579120" y="1475303"/>
            <a:ext cx="444408" cy="2688190"/>
            <a:chOff x="579120" y="1475303"/>
            <a:chExt cx="444408" cy="26881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6C1911-4DFA-EFEC-5567-95DD068A5EE5}"/>
                </a:ext>
              </a:extLst>
            </p:cNvPr>
            <p:cNvSpPr/>
            <p:nvPr/>
          </p:nvSpPr>
          <p:spPr>
            <a:xfrm>
              <a:off x="579120" y="1890174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49D675-4E98-DE84-3840-C0E744A66684}"/>
                </a:ext>
              </a:extLst>
            </p:cNvPr>
            <p:cNvSpPr/>
            <p:nvPr/>
          </p:nvSpPr>
          <p:spPr>
            <a:xfrm>
              <a:off x="579496" y="1475303"/>
              <a:ext cx="444032" cy="67710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en-US" sz="4400" noProof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</a:t>
              </a:r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A82A32-3BDC-59ED-3A3C-F8DD7A3EAEF7}"/>
                </a:ext>
              </a:extLst>
            </p:cNvPr>
            <p:cNvSpPr/>
            <p:nvPr/>
          </p:nvSpPr>
          <p:spPr>
            <a:xfrm>
              <a:off x="579872" y="3486385"/>
              <a:ext cx="65" cy="67710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endParaRPr lang="en-US" sz="4400" noProof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9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865527" y="381000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3200">
                <a:latin typeface="Calibri Light" panose="020F0302020204030204" pitchFamily="34" charset="0"/>
              </a:rPr>
              <a:t>Thank you for your attention!</a:t>
            </a:r>
          </a:p>
        </p:txBody>
      </p:sp>
      <p:sp>
        <p:nvSpPr>
          <p:cNvPr id="8" name="Rechteck 7"/>
          <p:cNvSpPr/>
          <p:nvPr/>
        </p:nvSpPr>
        <p:spPr>
          <a:xfrm>
            <a:off x="865527" y="5809679"/>
            <a:ext cx="8815339" cy="7019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3200">
                <a:latin typeface="Calibri Light" panose="020F0302020204030204" pitchFamily="34" charset="0"/>
              </a:rPr>
              <a:t>Questions?</a:t>
            </a:r>
          </a:p>
        </p:txBody>
      </p:sp>
      <p:pic>
        <p:nvPicPr>
          <p:cNvPr id="21" name="Grafik 20" descr="Questio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828800"/>
            <a:ext cx="4783597" cy="3328416"/>
          </a:xfrm>
          <a:prstGeom prst="rect">
            <a:avLst/>
          </a:prstGeom>
        </p:spPr>
      </p:pic>
      <p:pic>
        <p:nvPicPr>
          <p:cNvPr id="23" name="Grafik 21">
            <a:extLst>
              <a:ext uri="{FF2B5EF4-FFF2-40B4-BE49-F238E27FC236}">
                <a16:creationId xmlns:a16="http://schemas.microsoft.com/office/drawing/2014/main" id="{DB944D35-8BF4-4343-A76E-9B0078BD322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509" y="1802713"/>
            <a:ext cx="2427770" cy="94048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52D8FB4-5B5E-464D-BC02-2FB866717C43}"/>
              </a:ext>
            </a:extLst>
          </p:cNvPr>
          <p:cNvGrpSpPr/>
          <p:nvPr/>
        </p:nvGrpSpPr>
        <p:grpSpPr>
          <a:xfrm>
            <a:off x="1143000" y="3087293"/>
            <a:ext cx="3581401" cy="2107329"/>
            <a:chOff x="1143000" y="3200400"/>
            <a:chExt cx="3581401" cy="2107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F327AA-690B-4A82-BD53-8A5FCFB7030B}"/>
                </a:ext>
              </a:extLst>
            </p:cNvPr>
            <p:cNvGrpSpPr/>
            <p:nvPr/>
          </p:nvGrpSpPr>
          <p:grpSpPr>
            <a:xfrm>
              <a:off x="1143000" y="3200400"/>
              <a:ext cx="3581401" cy="2107329"/>
              <a:chOff x="1169545" y="2540508"/>
              <a:chExt cx="3581401" cy="2107329"/>
            </a:xfrm>
          </p:grpSpPr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1A9559CD-BA77-48D0-922B-D2BB34689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360" y="2590261"/>
                <a:ext cx="3504586" cy="20575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rtlCol="0" anchor="ctr"/>
              <a:lstStyle/>
              <a:p>
                <a:pPr rtl="0"/>
                <a:endParaRPr lang="en-US" sz="160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0F3976B2-66DF-42DA-8A59-D2D4D5CCB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9545" y="2540508"/>
                <a:ext cx="3504586" cy="203104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</p:spPr>
            <p:txBody>
              <a:bodyPr wrap="none" lIns="108000" tIns="0" rIns="0" bIns="0" rtlCol="0" anchor="ctr"/>
              <a:lstStyle/>
              <a:p>
                <a:pPr rtl="0"/>
                <a:r>
                  <a:rPr lang="en-US" sz="2000" b="1">
                    <a:solidFill>
                      <a:srgbClr val="003CD2"/>
                    </a:solidFill>
                  </a:rPr>
                  <a:t>Roger E. Rhoades</a:t>
                </a:r>
              </a:p>
              <a:p>
                <a:pPr rtl="0">
                  <a:spcAft>
                    <a:spcPts val="1200"/>
                  </a:spcAft>
                </a:pPr>
                <a:r>
                  <a:rPr lang="en-US" sz="1600"/>
                  <a:t>Owner and Trainer</a:t>
                </a:r>
                <a:endParaRPr lang="en-US"/>
              </a:p>
              <a:p>
                <a:pPr rtl="0"/>
                <a:r>
                  <a:rPr lang="en-US" sz="1600"/>
                  <a:t>+49 152 53 44 33 55</a:t>
                </a:r>
              </a:p>
              <a:p>
                <a:pPr rtl="0"/>
                <a:r>
                  <a:rPr lang="en-US" sz="1600"/>
                  <a:t>r.rhoades@albion.eu</a:t>
                </a:r>
              </a:p>
              <a:p>
                <a:pPr rtl="0"/>
                <a:r>
                  <a:rPr lang="en-US" sz="1600"/>
                  <a:t>www.albion.eu</a:t>
                </a:r>
                <a:endParaRPr lang="en-US" sz="1600">
                  <a:latin typeface="Calibri Light" panose="020F030202020403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817970-A4FA-4849-917B-2C3E655862F3}"/>
                </a:ext>
              </a:extLst>
            </p:cNvPr>
            <p:cNvGrpSpPr/>
            <p:nvPr/>
          </p:nvGrpSpPr>
          <p:grpSpPr>
            <a:xfrm>
              <a:off x="2907685" y="3295420"/>
              <a:ext cx="1469190" cy="1900871"/>
              <a:chOff x="2932061" y="3295420"/>
              <a:chExt cx="1469190" cy="1900871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B186EA33-8F15-4959-8D1F-4BD99C8CBFFA}"/>
                  </a:ext>
                </a:extLst>
              </p:cNvPr>
              <p:cNvSpPr/>
              <p:nvPr/>
            </p:nvSpPr>
            <p:spPr>
              <a:xfrm>
                <a:off x="2932061" y="3440550"/>
                <a:ext cx="1469190" cy="1619307"/>
              </a:xfrm>
              <a:prstGeom prst="parallelogram">
                <a:avLst>
                  <a:gd name="adj" fmla="val 63736"/>
                </a:avLst>
              </a:pr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n-US" sz="1400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599CA6A4-69AA-4785-96DF-2742AF995D43}"/>
                  </a:ext>
                </a:extLst>
              </p:cNvPr>
              <p:cNvSpPr/>
              <p:nvPr/>
            </p:nvSpPr>
            <p:spPr>
              <a:xfrm rot="1806280">
                <a:off x="3301980" y="3295420"/>
                <a:ext cx="52437" cy="1900871"/>
              </a:xfrm>
              <a:custGeom>
                <a:avLst/>
                <a:gdLst>
                  <a:gd name="connsiteX0" fmla="*/ 0 w 50502"/>
                  <a:gd name="connsiteY0" fmla="*/ 1852216 h 1852216"/>
                  <a:gd name="connsiteX1" fmla="*/ 0 w 50502"/>
                  <a:gd name="connsiteY1" fmla="*/ 0 h 1852216"/>
                  <a:gd name="connsiteX2" fmla="*/ 50502 w 50502"/>
                  <a:gd name="connsiteY2" fmla="*/ 0 h 1852216"/>
                  <a:gd name="connsiteX3" fmla="*/ 50502 w 50502"/>
                  <a:gd name="connsiteY3" fmla="*/ 1852216 h 1852216"/>
                  <a:gd name="connsiteX4" fmla="*/ 0 w 50502"/>
                  <a:gd name="connsiteY4" fmla="*/ 1852216 h 1852216"/>
                  <a:gd name="connsiteX0" fmla="*/ 1935 w 52437"/>
                  <a:gd name="connsiteY0" fmla="*/ 1852216 h 1852216"/>
                  <a:gd name="connsiteX1" fmla="*/ 0 w 52437"/>
                  <a:gd name="connsiteY1" fmla="*/ 25684 h 1852216"/>
                  <a:gd name="connsiteX2" fmla="*/ 52437 w 52437"/>
                  <a:gd name="connsiteY2" fmla="*/ 0 h 1852216"/>
                  <a:gd name="connsiteX3" fmla="*/ 52437 w 52437"/>
                  <a:gd name="connsiteY3" fmla="*/ 1852216 h 1852216"/>
                  <a:gd name="connsiteX4" fmla="*/ 1935 w 52437"/>
                  <a:gd name="connsiteY4" fmla="*/ 1852216 h 1852216"/>
                  <a:gd name="connsiteX0" fmla="*/ 2335 w 52437"/>
                  <a:gd name="connsiteY0" fmla="*/ 1882050 h 1882050"/>
                  <a:gd name="connsiteX1" fmla="*/ 0 w 52437"/>
                  <a:gd name="connsiteY1" fmla="*/ 25684 h 1882050"/>
                  <a:gd name="connsiteX2" fmla="*/ 52437 w 52437"/>
                  <a:gd name="connsiteY2" fmla="*/ 0 h 1882050"/>
                  <a:gd name="connsiteX3" fmla="*/ 52437 w 52437"/>
                  <a:gd name="connsiteY3" fmla="*/ 1852216 h 1882050"/>
                  <a:gd name="connsiteX4" fmla="*/ 2335 w 52437"/>
                  <a:gd name="connsiteY4" fmla="*/ 1882050 h 1882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437" h="1882050">
                    <a:moveTo>
                      <a:pt x="2335" y="1882050"/>
                    </a:moveTo>
                    <a:cubicBezTo>
                      <a:pt x="1557" y="1263261"/>
                      <a:pt x="778" y="644473"/>
                      <a:pt x="0" y="25684"/>
                    </a:cubicBezTo>
                    <a:lnTo>
                      <a:pt x="52437" y="0"/>
                    </a:lnTo>
                    <a:lnTo>
                      <a:pt x="52437" y="1852216"/>
                    </a:lnTo>
                    <a:lnTo>
                      <a:pt x="2335" y="1882050"/>
                    </a:lnTo>
                    <a:close/>
                  </a:path>
                </a:pathLst>
              </a:custGeom>
              <a:solidFill>
                <a:srgbClr val="DADADA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n-US" sz="1400"/>
              </a:p>
            </p:txBody>
          </p:sp>
        </p:grpSp>
        <p:pic>
          <p:nvPicPr>
            <p:cNvPr id="39" name="Picture 38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9A3C3EB6-1EBD-4FD0-A135-40F3405089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2" t="240" r="37207" b="-240"/>
            <a:stretch/>
          </p:blipFill>
          <p:spPr>
            <a:xfrm>
              <a:off x="3424814" y="3302721"/>
              <a:ext cx="1111428" cy="1826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72355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748369"/>
              </p:ext>
            </p:extLst>
          </p:nvPr>
        </p:nvGraphicFramePr>
        <p:xfrm>
          <a:off x="541338" y="438222"/>
          <a:ext cx="9059862" cy="4776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81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087149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7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Question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Explanation Text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20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8628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2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3BCB195-4CAF-E82E-4EB4-276BB77BECB9}"/>
              </a:ext>
            </a:extLst>
          </p:cNvPr>
          <p:cNvSpPr/>
          <p:nvPr/>
        </p:nvSpPr>
        <p:spPr>
          <a:xfrm>
            <a:off x="541338" y="1539025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31562-1DAC-4879-234E-1A46EB4C2814}"/>
              </a:ext>
            </a:extLst>
          </p:cNvPr>
          <p:cNvSpPr/>
          <p:nvPr/>
        </p:nvSpPr>
        <p:spPr>
          <a:xfrm>
            <a:off x="985370" y="1524000"/>
            <a:ext cx="359073" cy="677108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ctr" rtl="0"/>
            <a:r>
              <a:rPr lang="en-US" sz="44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</a:t>
            </a:r>
            <a:endParaRPr lang="en-US" sz="440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77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D0F302-4CBE-44F3-BE75-494B6D43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121059"/>
              </p:ext>
            </p:extLst>
          </p:nvPr>
        </p:nvGraphicFramePr>
        <p:xfrm>
          <a:off x="541338" y="438222"/>
          <a:ext cx="8627862" cy="436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6070661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601449817"/>
                    </a:ext>
                  </a:extLst>
                </a:gridCol>
                <a:gridCol w="235062">
                  <a:extLst>
                    <a:ext uri="{9D8B030D-6E8A-4147-A177-3AD203B41FA5}">
                      <a16:colId xmlns:a16="http://schemas.microsoft.com/office/drawing/2014/main" val="353763629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3765554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295175293"/>
                    </a:ext>
                  </a:extLst>
                </a:gridCol>
              </a:tblGrid>
              <a:tr h="121438">
                <a:tc gridSpan="5">
                  <a:txBody>
                    <a:bodyPr/>
                    <a:lstStyle/>
                    <a:p>
                      <a:pPr rtl="0"/>
                      <a:r>
                        <a:rPr lang="en-US" sz="2400" b="1">
                          <a:solidFill>
                            <a:srgbClr val="003CD2"/>
                          </a:solidFill>
                        </a:rPr>
                        <a:t>Question</a:t>
                      </a:r>
                      <a:endParaRPr lang="en-US" b="1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5080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003CD2"/>
                          </a:solidFill>
                        </a:rPr>
                        <a:t>Explanation Text</a:t>
                      </a:r>
                      <a:endParaRPr lang="en-US">
                        <a:solidFill>
                          <a:srgbClr val="003CD2"/>
                        </a:solidFill>
                      </a:endParaRPr>
                    </a:p>
                  </a:txBody>
                  <a:tcPr marL="72000" marR="0" marT="36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>
                    <a:lnL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8545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>
                          <a:sym typeface="Wingdings" panose="05000000000000000000" pitchFamily="2" charset="2"/>
                        </a:rPr>
                        <a:t></a:t>
                      </a:r>
                      <a:endParaRPr lang="en-US" sz="18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A.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220217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B.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919278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082024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564792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E.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76361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F.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481762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G.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964879"/>
                  </a:ext>
                </a:extLst>
              </a:tr>
              <a:tr h="16191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</a:t>
                      </a:r>
                      <a:endParaRPr lang="en-US" sz="1000"/>
                    </a:p>
                  </a:txBody>
                  <a:tcPr marL="0" marR="0" marT="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H.</a:t>
                      </a:r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/>
                        <a:t>Answer</a:t>
                      </a:r>
                      <a:endParaRPr lang="en-US" sz="1800"/>
                    </a:p>
                  </a:txBody>
                  <a:tcPr marL="0" marR="0" marT="36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42426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3BCB195-4CAF-E82E-4EB4-276BB77BECB9}"/>
              </a:ext>
            </a:extLst>
          </p:cNvPr>
          <p:cNvSpPr/>
          <p:nvPr/>
        </p:nvSpPr>
        <p:spPr>
          <a:xfrm>
            <a:off x="579972" y="1110805"/>
            <a:ext cx="444032" cy="677108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rtl="0"/>
            <a:r>
              <a:rPr lang="en-US" sz="44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endParaRPr lang="en-US" sz="440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92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_AUDIO_DECODED" val="1"/>
  <p:tag name="ARTICULATE_PRESENTATION_ID" val="12180"/>
  <p:tag name="ENGAGE_TAB_COUNT" val="1"/>
  <p:tag name="ARTICULATE_REFERENCE_COUNT" val="2"/>
  <p:tag name="ARTICULATE_REFERENCE_TYPE_1" val="0"/>
  <p:tag name="ARTICULATE_REFERENCE_TITLE_1" val="IASA - IT Architecture Glossary"/>
  <p:tag name="ARTICULATE_REFERENCE_1" val="http://www.iasahome.org/web/home/ITarchitecture/Glossary"/>
  <p:tag name="ARTICULATE_REFERENCE_TYPE_2" val="0"/>
  <p:tag name="ARTICULATE_REFERENCE_TITLE_2" val="IASA - IT Architect Skills Library"/>
  <p:tag name="ARTICULATE_REFERENCE_2" val="http://www.iasahome.org/web/home/skillset"/>
  <p:tag name="ART_ENCODE_TYPE" val="2"/>
  <p:tag name="ART_ENCODE_INDEX" val="1"/>
  <p:tag name="PLAYERLOGOHEIGHT" val="70"/>
  <p:tag name="PLAYERLOGOWIDTH" val="244"/>
  <p:tag name="PUBLISH_TITLE" val="RAS_Module1_Intro"/>
  <p:tag name="ARTICULATE_PUBLISH_PATH" val="C:\Users\ellenb\Documents\Articulate Presenter"/>
  <p:tag name="ARTICULATE_LOGO" val="logopanel.swf"/>
  <p:tag name="ARTICULATE_PRESENTER" val="(Use slide-level presenters)"/>
  <p:tag name="ARTICULATE_PRESENTER_GUID" val="-1"/>
  <p:tag name="ARTICULATE_LMS" val="0"/>
  <p:tag name="LAUNCHINNEWWINDOW" val="0"/>
  <p:tag name="LASTPUBLISHED" val="C:\Users\ellenb\Documents\Articulate Presenter\RAS_Module1_Intro\player.html"/>
  <p:tag name="ENGAGE_INTERACTION_TITLE_1" val="About The Course"/>
  <p:tag name="ENGAGE_INTERACTION_FILENAME_1" val="C:\Documents and Settings\Colin\My Documents\My Articulate Projects\IASA\Prototype\About This Course.intr"/>
  <p:tag name="ENGAGE_INTERACTION_PAUSE_1" val="1"/>
  <p:tag name="ENGAGE_INTERACTION_ID_1" val="56142"/>
  <p:tag name="ENGAGE_INTERACTION_TABNAME_1" val="ABOUT THE COURSE"/>
  <p:tag name="ENGAGE_LAST_MODIFY_DATE_1" val="39436.7253587963"/>
  <p:tag name="LMS_PUBLISH" val="No"/>
  <p:tag name="ARTICULATE_TEMPLATE" val="Corporate Communications"/>
  <p:tag name="ENGAGE_INTERACTION_GUID_1" val="c136f20a-976f-4194-a0fe-05e6fa88e8bc"/>
  <p:tag name="PRESENTER_PREVIEW_MODE" val="0"/>
  <p:tag name="ARTICULATE_PROJECT_CHECK" val="0"/>
  <p:tag name="PRESENTATION_PLAYLIST_COUNT" val="0"/>
  <p:tag name="PRESENTATION_PRESENTER_SLIDE_LEVEL" val="0"/>
  <p:tag name="ARTICULATE_PRESENTER_VERSION" val="6"/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F5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lbion">
      <a:dk1>
        <a:sysClr val="windowText" lastClr="000000"/>
      </a:dk1>
      <a:lt1>
        <a:sysClr val="window" lastClr="FFFFFF"/>
      </a:lt1>
      <a:dk2>
        <a:srgbClr val="0055D2"/>
      </a:dk2>
      <a:lt2>
        <a:srgbClr val="9FE8FF"/>
      </a:lt2>
      <a:accent1>
        <a:srgbClr val="0016DC"/>
      </a:accent1>
      <a:accent2>
        <a:srgbClr val="00CCFF"/>
      </a:accent2>
      <a:accent3>
        <a:srgbClr val="FFFFCC"/>
      </a:accent3>
      <a:accent4>
        <a:srgbClr val="94F5FA"/>
      </a:accent4>
      <a:accent5>
        <a:srgbClr val="FFCCCC"/>
      </a:accent5>
      <a:accent6>
        <a:srgbClr val="CCFFCC"/>
      </a:accent6>
      <a:hlink>
        <a:srgbClr val="003CD2"/>
      </a:hlink>
      <a:folHlink>
        <a:srgbClr val="87A9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 Light"/>
        <a:font script="Hebr" typeface="Calibri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 Light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4966</Words>
  <Application>Microsoft Office PowerPoint</Application>
  <PresentationFormat>A4 Paper (210x297 mm)</PresentationFormat>
  <Paragraphs>1609</Paragraphs>
  <Slides>62</Slides>
  <Notes>52</Notes>
  <HiddenSlides>20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Calibri</vt:lpstr>
      <vt:lpstr>Calibri Light</vt:lpstr>
      <vt:lpstr>Wingdings</vt:lpstr>
      <vt:lpstr>Wingdings 2</vt:lpstr>
      <vt:lpstr>Office Theme</vt:lpstr>
      <vt:lpstr>1_Office Theme</vt:lpstr>
      <vt:lpstr>Custom Design</vt:lpstr>
      <vt:lpstr>iSAQB CPSA Foundation</vt:lpstr>
      <vt:lpstr>Agenda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Albion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Albion</dc:title>
  <dc:subject/>
  <dc:creator>Roger E. Rhoades</dc:creator>
  <cp:keywords/>
  <cp:lastModifiedBy>Roger Rhoades</cp:lastModifiedBy>
  <cp:revision>3</cp:revision>
  <cp:lastPrinted>2024-12-03T19:23:25Z</cp:lastPrinted>
  <dcterms:created xsi:type="dcterms:W3CDTF">2010-01-13T02:34:13Z</dcterms:created>
  <dcterms:modified xsi:type="dcterms:W3CDTF">2026-05-21T14:25:00Z</dcterms:modified>
  <cp:contentStatus>Final</cp:contentStatus>
</cp:coreProperties>
</file>