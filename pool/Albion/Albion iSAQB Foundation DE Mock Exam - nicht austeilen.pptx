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7410" r:id="rId1"/>
    <p:sldMasterId id="2147487430" r:id="rId2"/>
    <p:sldMasterId id="2147487435" r:id="rId3"/>
  </p:sldMasterIdLst>
  <p:notesMasterIdLst>
    <p:notesMasterId r:id="rId65"/>
  </p:notesMasterIdLst>
  <p:handoutMasterIdLst>
    <p:handoutMasterId r:id="rId66"/>
  </p:handoutMasterIdLst>
  <p:sldIdLst>
    <p:sldId id="1214" r:id="rId4"/>
    <p:sldId id="1778" r:id="rId5"/>
    <p:sldId id="1815" r:id="rId6"/>
    <p:sldId id="1840" r:id="rId7"/>
    <p:sldId id="1843" r:id="rId8"/>
    <p:sldId id="1816" r:id="rId9"/>
    <p:sldId id="1863" r:id="rId10"/>
    <p:sldId id="1817" r:id="rId11"/>
    <p:sldId id="1825" r:id="rId12"/>
    <p:sldId id="1826" r:id="rId13"/>
    <p:sldId id="1806" r:id="rId14"/>
    <p:sldId id="1807" r:id="rId15"/>
    <p:sldId id="1865" r:id="rId16"/>
    <p:sldId id="1808" r:id="rId17"/>
    <p:sldId id="1845" r:id="rId18"/>
    <p:sldId id="1819" r:id="rId19"/>
    <p:sldId id="1842" r:id="rId20"/>
    <p:sldId id="1858" r:id="rId21"/>
    <p:sldId id="1844" r:id="rId22"/>
    <p:sldId id="1818" r:id="rId23"/>
    <p:sldId id="1827" r:id="rId24"/>
    <p:sldId id="1828" r:id="rId25"/>
    <p:sldId id="1812" r:id="rId26"/>
    <p:sldId id="1859" r:id="rId27"/>
    <p:sldId id="1846" r:id="rId28"/>
    <p:sldId id="1851" r:id="rId29"/>
    <p:sldId id="1820" r:id="rId30"/>
    <p:sldId id="1829" r:id="rId31"/>
    <p:sldId id="1831" r:id="rId32"/>
    <p:sldId id="1860" r:id="rId33"/>
    <p:sldId id="1832" r:id="rId34"/>
    <p:sldId id="1833" r:id="rId35"/>
    <p:sldId id="1847" r:id="rId36"/>
    <p:sldId id="1821" r:id="rId37"/>
    <p:sldId id="1852" r:id="rId38"/>
    <p:sldId id="1835" r:id="rId39"/>
    <p:sldId id="1853" r:id="rId40"/>
    <p:sldId id="1862" r:id="rId41"/>
    <p:sldId id="1830" r:id="rId42"/>
    <p:sldId id="1854" r:id="rId43"/>
    <p:sldId id="1861" r:id="rId44"/>
    <p:sldId id="1848" r:id="rId45"/>
    <p:sldId id="1864" r:id="rId46"/>
    <p:sldId id="1866" r:id="rId47"/>
    <p:sldId id="1867" r:id="rId48"/>
    <p:sldId id="1849" r:id="rId49"/>
    <p:sldId id="1823" r:id="rId50"/>
    <p:sldId id="1836" r:id="rId51"/>
    <p:sldId id="1838" r:id="rId52"/>
    <p:sldId id="1855" r:id="rId53"/>
    <p:sldId id="1868" r:id="rId54"/>
    <p:sldId id="1856" r:id="rId55"/>
    <p:sldId id="1837" r:id="rId56"/>
    <p:sldId id="1850" r:id="rId57"/>
    <p:sldId id="1857" r:id="rId58"/>
    <p:sldId id="1824" r:id="rId59"/>
    <p:sldId id="1878" r:id="rId60"/>
    <p:sldId id="1869" r:id="rId61"/>
    <p:sldId id="1877" r:id="rId62"/>
    <p:sldId id="982" r:id="rId63"/>
    <p:sldId id="1804" r:id="rId64"/>
  </p:sldIdLst>
  <p:sldSz cx="9906000" cy="6858000" type="A4"/>
  <p:notesSz cx="6858000" cy="9945688"/>
  <p:custDataLst>
    <p:tags r:id="rId6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89" userDrawn="1">
          <p15:clr>
            <a:srgbClr val="A4A3A4"/>
          </p15:clr>
        </p15:guide>
        <p15:guide id="4" pos="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42B87E-50DD-8E7C-8448-06778C78FC11}" name="Nico Lausterer" initials="NL" userId="S::n.lausterer97_gmail.com#ext#@albiontc.onmicrosoft.com::fa8e3c64-7a79-44a3-91b2-77218e1104b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 Ruth" initials="aer" lastIdx="3" clrIdx="0"/>
  <p:cmAuthor id="1" name="arlo" initials="a" lastIdx="3" clrIdx="1"/>
  <p:cmAuthor id="2" name="Andy" initials="A" lastIdx="6" clrIdx="2"/>
  <p:cmAuthor id="3" name="Gloria" initials="G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D2"/>
    <a:srgbClr val="595959"/>
    <a:srgbClr val="F2F2F2"/>
    <a:srgbClr val="E7FAFF"/>
    <a:srgbClr val="E1F9FF"/>
    <a:srgbClr val="DADADA"/>
    <a:srgbClr val="F8F8F8"/>
    <a:srgbClr val="E7FBFF"/>
    <a:srgbClr val="C5F4FF"/>
    <a:srgbClr val="B7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49299-56DC-4BB1-8039-EAA6D6B3C0A9}" v="5" dt="2026-01-23T00:46:44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110" y="130"/>
      </p:cViewPr>
      <p:guideLst>
        <p:guide orient="horz" pos="274"/>
        <p:guide pos="3120"/>
        <p:guide pos="289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handoutMaster" Target="handoutMasters/handoutMaster1.xml"/><Relationship Id="rId74" Type="http://schemas.microsoft.com/office/2015/10/relationships/revisionInfo" Target="revisionInfo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Relationship Id="rId75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73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 Rhoades" userId="09b4b200-c8ea-493f-916f-24d862966299" providerId="ADAL" clId="{7B72DA1D-BD07-441B-AE71-E2545D50C04E}"/>
    <pc:docChg chg="modSld">
      <pc:chgData name="Roger Rhoades" userId="09b4b200-c8ea-493f-916f-24d862966299" providerId="ADAL" clId="{7B72DA1D-BD07-441B-AE71-E2545D50C04E}" dt="2026-01-23T00:46:44.764" v="4"/>
      <pc:docMkLst>
        <pc:docMk/>
      </pc:docMkLst>
      <pc:sldChg chg="addSp modSp modAnim">
        <pc:chgData name="Roger Rhoades" userId="09b4b200-c8ea-493f-916f-24d862966299" providerId="ADAL" clId="{7B72DA1D-BD07-441B-AE71-E2545D50C04E}" dt="2026-01-23T00:46:35.313" v="2"/>
        <pc:sldMkLst>
          <pc:docMk/>
          <pc:sldMk cId="588845419" sldId="1862"/>
        </pc:sldMkLst>
        <pc:spChg chg="mod">
          <ac:chgData name="Roger Rhoades" userId="09b4b200-c8ea-493f-916f-24d862966299" providerId="ADAL" clId="{7B72DA1D-BD07-441B-AE71-E2545D50C04E}" dt="2026-01-23T00:46:30.464" v="1" actId="164"/>
          <ac:spMkLst>
            <pc:docMk/>
            <pc:sldMk cId="588845419" sldId="1862"/>
            <ac:spMk id="10" creationId="{3F4D076D-3752-6846-ED69-47A216D78000}"/>
          </ac:spMkLst>
        </pc:spChg>
        <pc:grpChg chg="mod">
          <ac:chgData name="Roger Rhoades" userId="09b4b200-c8ea-493f-916f-24d862966299" providerId="ADAL" clId="{7B72DA1D-BD07-441B-AE71-E2545D50C04E}" dt="2026-01-23T00:46:30.464" v="1" actId="164"/>
          <ac:grpSpMkLst>
            <pc:docMk/>
            <pc:sldMk cId="588845419" sldId="1862"/>
            <ac:grpSpMk id="7" creationId="{23BCA573-C79B-AF6A-67D9-B1AB866C4C37}"/>
          </ac:grpSpMkLst>
        </pc:grpChg>
        <pc:grpChg chg="add mod">
          <ac:chgData name="Roger Rhoades" userId="09b4b200-c8ea-493f-916f-24d862966299" providerId="ADAL" clId="{7B72DA1D-BD07-441B-AE71-E2545D50C04E}" dt="2026-01-23T00:46:30.464" v="1" actId="164"/>
          <ac:grpSpMkLst>
            <pc:docMk/>
            <pc:sldMk cId="588845419" sldId="1862"/>
            <ac:grpSpMk id="9" creationId="{85B31A8F-4D61-9DB2-7C9B-87D5083A794C}"/>
          </ac:grpSpMkLst>
        </pc:grpChg>
      </pc:sldChg>
      <pc:sldChg chg="addSp modSp modAnim">
        <pc:chgData name="Roger Rhoades" userId="09b4b200-c8ea-493f-916f-24d862966299" providerId="ADAL" clId="{7B72DA1D-BD07-441B-AE71-E2545D50C04E}" dt="2026-01-23T00:46:44.764" v="4"/>
        <pc:sldMkLst>
          <pc:docMk/>
          <pc:sldMk cId="274281409" sldId="1866"/>
        </pc:sldMkLst>
        <pc:spChg chg="mod">
          <ac:chgData name="Roger Rhoades" userId="09b4b200-c8ea-493f-916f-24d862966299" providerId="ADAL" clId="{7B72DA1D-BD07-441B-AE71-E2545D50C04E}" dt="2026-01-23T00:46:41.654" v="3" actId="164"/>
          <ac:spMkLst>
            <pc:docMk/>
            <pc:sldMk cId="274281409" sldId="1866"/>
            <ac:spMk id="10" creationId="{F053AD14-74E9-3FCD-4C12-51A27D176C8E}"/>
          </ac:spMkLst>
        </pc:spChg>
        <pc:grpChg chg="mod">
          <ac:chgData name="Roger Rhoades" userId="09b4b200-c8ea-493f-916f-24d862966299" providerId="ADAL" clId="{7B72DA1D-BD07-441B-AE71-E2545D50C04E}" dt="2026-01-23T00:46:41.654" v="3" actId="164"/>
          <ac:grpSpMkLst>
            <pc:docMk/>
            <pc:sldMk cId="274281409" sldId="1866"/>
            <ac:grpSpMk id="7" creationId="{538A47AD-845F-BFB6-AA53-E100DCEDF458}"/>
          </ac:grpSpMkLst>
        </pc:grpChg>
        <pc:grpChg chg="add mod">
          <ac:chgData name="Roger Rhoades" userId="09b4b200-c8ea-493f-916f-24d862966299" providerId="ADAL" clId="{7B72DA1D-BD07-441B-AE71-E2545D50C04E}" dt="2026-01-23T00:46:41.654" v="3" actId="164"/>
          <ac:grpSpMkLst>
            <pc:docMk/>
            <pc:sldMk cId="274281409" sldId="1866"/>
            <ac:grpSpMk id="9" creationId="{FEF81424-A9AA-5210-9B25-3E5C99866359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l">
              <a:defRPr sz="1200"/>
            </a:lvl1pPr>
          </a:lstStyle>
          <a:p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r">
              <a:defRPr sz="1200"/>
            </a:lvl1pPr>
          </a:lstStyle>
          <a:p>
            <a:fld id="{864AFED1-54D0-4FA0-B74A-5B0AAA66A316}" type="datetimeFigureOut">
              <a:rPr lang="en-US" smtClean="0">
                <a:latin typeface="Calibri Light" panose="020F0302020204030204" pitchFamily="34" charset="0"/>
              </a:rPr>
              <a:pPr/>
              <a:t>1/23/2026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l">
              <a:defRPr sz="1200"/>
            </a:lvl1pPr>
          </a:lstStyle>
          <a:p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r">
              <a:defRPr sz="1200"/>
            </a:lvl1pPr>
          </a:lstStyle>
          <a:p>
            <a:fld id="{BFF7E25C-F872-466E-9D3B-FD8AD27474DF}" type="slidenum">
              <a:rPr lang="en-US" smtClean="0">
                <a:latin typeface="Calibri Light" panose="020F0302020204030204" pitchFamily="34" charset="0"/>
              </a:rPr>
              <a:pPr/>
              <a:t>‹#›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599" y="9531284"/>
            <a:ext cx="2281947" cy="261887"/>
          </a:xfrm>
          <a:prstGeom prst="rect">
            <a:avLst/>
          </a:prstGeom>
          <a:noFill/>
        </p:spPr>
        <p:txBody>
          <a:bodyPr wrap="none" lIns="91714" tIns="45857" rIns="91714" bIns="45857" rtlCol="0">
            <a:spAutoFit/>
          </a:bodyPr>
          <a:lstStyle/>
          <a:p>
            <a:r>
              <a:rPr lang="en-US" sz="1100">
                <a:latin typeface="Calibri Light" panose="020F0302020204030204" pitchFamily="34" charset="0"/>
              </a:rPr>
              <a:t>Copyright Albion.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69762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6600" y="746125"/>
            <a:ext cx="53848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24203"/>
            <a:ext cx="5486400" cy="447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31517F5B-1651-4A58-8BC4-6FF6F20BB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46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62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02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362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533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707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64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350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789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091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106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0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0"/>
            <a:ext cx="892532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80" y="4589466"/>
            <a:ext cx="89253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03C-8E4C-4E63-A6BE-CD08CE0354F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7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658" y="1040921"/>
            <a:ext cx="9144001" cy="5536963"/>
          </a:xfrm>
        </p:spPr>
        <p:txBody>
          <a:bodyPr/>
          <a:lstStyle>
            <a:lvl1pPr marL="265102" indent="-265102">
              <a:defRPr/>
            </a:lvl1pPr>
            <a:lvl2pPr marL="538141" indent="-273038">
              <a:defRPr/>
            </a:lvl2pPr>
            <a:lvl3pPr marL="803241" indent="-265102">
              <a:defRPr/>
            </a:lvl3pPr>
            <a:lvl4pPr marL="1076280" indent="-273038">
              <a:defRPr/>
            </a:lvl4pPr>
            <a:lvl5pPr marL="1341382" indent="-265102">
              <a:defRPr/>
            </a:lvl5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F35-0170-455B-B95A-FEC07BA4311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0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5D3D-4BB2-4EAA-885A-4F53880C1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4842A-915F-4E5D-BCC1-168230C7F0F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C693-C988-44D8-B896-875D78BEA2E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7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025E2-1887-4376-B84D-96842B30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6818-0FFB-4904-9E9E-DA5CC763301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79735-353A-492F-913A-C9F42B83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EC4BC-54C4-44C2-A53A-853840E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036C3D-A85E-4C5F-AFE8-4CFCF52118E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658" y="228601"/>
            <a:ext cx="9144001" cy="63751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93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992074" cy="1325563"/>
          </a:xfrm>
        </p:spPr>
        <p:txBody>
          <a:bodyPr/>
          <a:lstStyle/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330" y="1681164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330" y="2505075"/>
            <a:ext cx="4190702" cy="4098687"/>
          </a:xfrm>
        </p:spPr>
        <p:txBody>
          <a:bodyPr/>
          <a:lstStyle/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2" y="1681164"/>
            <a:ext cx="45862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14912" y="2505075"/>
            <a:ext cx="4586287" cy="4098687"/>
          </a:xfrm>
        </p:spPr>
        <p:txBody>
          <a:bodyPr/>
          <a:lstStyle/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8FBF9-5FFA-4E1E-8F07-2B00669D171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11340" y="457201"/>
            <a:ext cx="5389861" cy="61294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1"/>
            <a:ext cx="3194944" cy="4529269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223A-A66F-451D-80AB-4F856BC58FB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33BA-C084-42F6-AC8C-734D5BAA3FA6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1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95F30-FEDF-EB0F-6279-74B0DBB38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F19292-1169-8BE5-59B8-806139D01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6827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658" y="1036431"/>
            <a:ext cx="9144001" cy="55673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noProof="0"/>
              <a:t>Edit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658" y="76201"/>
            <a:ext cx="9144001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2386" y="6579481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659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5CECB1BE-3A45-4BAB-9748-3C00C3ACBD51}" type="datetime1">
              <a:rPr lang="de-DE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3833" y="6579481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DC65F2A6-DE86-5747-A2A3-FFB413B14C70}" type="slidenum">
              <a:rPr lang="de-DE" noProof="0" smtClean="0">
                <a:solidFill>
                  <a:prstClr val="black"/>
                </a:solidFill>
              </a:rPr>
              <a:pPr/>
              <a:t>‹#›</a:t>
            </a:fld>
            <a:endParaRPr lang="de-DE" noProof="0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EEE34B-1A4E-4EC2-9746-18133826D45B}"/>
              </a:ext>
            </a:extLst>
          </p:cNvPr>
          <p:cNvGrpSpPr/>
          <p:nvPr userDrawn="1"/>
        </p:nvGrpSpPr>
        <p:grpSpPr>
          <a:xfrm>
            <a:off x="2381" y="1"/>
            <a:ext cx="452439" cy="6855617"/>
            <a:chOff x="2381" y="1"/>
            <a:chExt cx="452439" cy="6855617"/>
          </a:xfrm>
        </p:grpSpPr>
        <p:sp>
          <p:nvSpPr>
            <p:cNvPr id="7" name="Rectangle 6"/>
            <p:cNvSpPr/>
            <p:nvPr userDrawn="1"/>
          </p:nvSpPr>
          <p:spPr>
            <a:xfrm>
              <a:off x="142876" y="1"/>
              <a:ext cx="180865" cy="6855617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39264B-7DC8-49F7-B0C6-13F339082012}"/>
                </a:ext>
              </a:extLst>
            </p:cNvPr>
            <p:cNvGrpSpPr/>
            <p:nvPr userDrawn="1"/>
          </p:nvGrpSpPr>
          <p:grpSpPr>
            <a:xfrm>
              <a:off x="2381" y="1071364"/>
              <a:ext cx="452439" cy="338716"/>
              <a:chOff x="2381" y="1071364"/>
              <a:chExt cx="452439" cy="338716"/>
            </a:xfrm>
          </p:grpSpPr>
          <p:sp>
            <p:nvSpPr>
              <p:cNvPr id="8" name="Rectangle 7"/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Freeform: Shape 8"/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Freeform: Shape 9"/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75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13" r:id="rId1"/>
    <p:sldLayoutId id="2147487412" r:id="rId2"/>
    <p:sldLayoutId id="2147487424" r:id="rId3"/>
    <p:sldLayoutId id="2147487425" r:id="rId4"/>
    <p:sldLayoutId id="2147487426" r:id="rId5"/>
    <p:sldLayoutId id="2147487415" r:id="rId6"/>
    <p:sldLayoutId id="2147487418" r:id="rId7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rgbClr val="003CD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rgbClr val="003CD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76201"/>
            <a:ext cx="9296400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74291"/>
            <a:ext cx="9296400" cy="55294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1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196354AC-F86C-45CA-92D3-08E1DE9CE3F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7926" y="6595216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95216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4" r:id="rId1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tical Title 1">
            <a:extLst>
              <a:ext uri="{FF2B5EF4-FFF2-40B4-BE49-F238E27FC236}">
                <a16:creationId xmlns:a16="http://schemas.microsoft.com/office/drawing/2014/main" id="{81AE10C9-FCDD-4115-89E6-2A3282A65625}"/>
              </a:ext>
            </a:extLst>
          </p:cNvPr>
          <p:cNvSpPr txBox="1">
            <a:spLocks/>
          </p:cNvSpPr>
          <p:nvPr userDrawn="1"/>
        </p:nvSpPr>
        <p:spPr>
          <a:xfrm>
            <a:off x="8305799" y="533399"/>
            <a:ext cx="1379858" cy="6164379"/>
          </a:xfrm>
          <a:prstGeom prst="rect">
            <a:avLst/>
          </a:prstGeom>
        </p:spPr>
        <p:txBody>
          <a:bodyPr vert="eaVert" lIns="0" tIns="0" rIns="0" bIns="0" rtlCol="0" anchor="ctr">
            <a:normAutofit/>
          </a:bodyPr>
          <a:lstStyle>
            <a:lvl1pPr algn="l" defTabSz="91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rgbClr val="003CD2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36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Click to edit Master title style</a:t>
            </a: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EB7566A0-BE4D-4F31-854E-66594CD61979}"/>
              </a:ext>
            </a:extLst>
          </p:cNvPr>
          <p:cNvSpPr txBox="1">
            <a:spLocks/>
          </p:cNvSpPr>
          <p:nvPr userDrawn="1"/>
        </p:nvSpPr>
        <p:spPr>
          <a:xfrm>
            <a:off x="541660" y="533399"/>
            <a:ext cx="7687941" cy="6164379"/>
          </a:xfrm>
          <a:prstGeom prst="rect">
            <a:avLst/>
          </a:prstGeom>
        </p:spPr>
        <p:txBody>
          <a:bodyPr vert="eaVert" lIns="0" tIns="0" rIns="0" bIns="0" rtlCol="0">
            <a:normAutofit/>
          </a:bodyPr>
          <a:lstStyle>
            <a:lvl1pPr marL="269989" indent="-269989" algn="l" defTabSz="914361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2000" b="1" kern="1200">
                <a:solidFill>
                  <a:srgbClr val="003CD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38141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03241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076280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341382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495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6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989" marR="0" lvl="0" indent="-269989" algn="l" defTabSz="91436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Edit Master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text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styles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538141" marR="0" lvl="1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803241" marR="0" lvl="2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076280" marR="0" lvl="3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341382" marR="0" lvl="4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FDE2F6-587C-4FBA-9AF5-36833863A48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0125" y="153352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E8D70-C702-430E-AE0C-6554306DC209}" type="datetime1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23.01.2026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2BA7CC-8ED8-48B7-8B77-B5DC910BBC7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577096" y="4911840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Albion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Copyright 2022 ©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762760-DC30-4BBE-BC92-7D44B0BCB11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19884" y="334598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5F2A6-DE86-5747-A2A3-FFB413B14C7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ctr" defTabSz="4571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B3F318-D98C-4F04-A1ED-CE8D906E2490}"/>
              </a:ext>
            </a:extLst>
          </p:cNvPr>
          <p:cNvGrpSpPr/>
          <p:nvPr userDrawn="1"/>
        </p:nvGrpSpPr>
        <p:grpSpPr>
          <a:xfrm>
            <a:off x="-5416" y="19723"/>
            <a:ext cx="9911416" cy="452439"/>
            <a:chOff x="-5416" y="19723"/>
            <a:chExt cx="9911416" cy="4524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BDC79C-107E-4E80-9B5B-709D4630D413}"/>
                </a:ext>
              </a:extLst>
            </p:cNvPr>
            <p:cNvSpPr/>
            <p:nvPr userDrawn="1"/>
          </p:nvSpPr>
          <p:spPr>
            <a:xfrm rot="5400000">
              <a:off x="4859859" y="-4705054"/>
              <a:ext cx="180865" cy="9911416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40B7CFA-6305-4F74-B6DE-F3CDFFB26964}"/>
                </a:ext>
              </a:extLst>
            </p:cNvPr>
            <p:cNvGrpSpPr/>
            <p:nvPr userDrawn="1"/>
          </p:nvGrpSpPr>
          <p:grpSpPr>
            <a:xfrm rot="5400000">
              <a:off x="7818071" y="77037"/>
              <a:ext cx="452439" cy="337812"/>
              <a:chOff x="2381" y="1071364"/>
              <a:chExt cx="452439" cy="33871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5DA9F-4CBB-4F2C-8B78-7ABE75C03A07}"/>
                  </a:ext>
                </a:extLst>
              </p:cNvPr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3172CC7-C9AC-471E-B8C7-4066BF7D605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D66F14F-B3A5-46C6-AE53-49BCE4EA619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906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3754599"/>
            <a:ext cx="9077721" cy="774538"/>
          </a:xfrm>
        </p:spPr>
        <p:txBody>
          <a:bodyPr>
            <a:normAutofit/>
          </a:bodyPr>
          <a:lstStyle/>
          <a:p>
            <a:r>
              <a:rPr lang="de-DE" sz="4800"/>
              <a:t>iSAQB CPSA-Foundation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456113"/>
            <a:ext cx="8890145" cy="10856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3200">
                <a:solidFill>
                  <a:schemeClr val="tx1">
                    <a:lumMod val="85000"/>
                    <a:lumOff val="15000"/>
                  </a:schemeClr>
                </a:solidFill>
              </a:rPr>
              <a:t>Übungsfragen</a:t>
            </a:r>
          </a:p>
        </p:txBody>
      </p:sp>
      <p:pic>
        <p:nvPicPr>
          <p:cNvPr id="6" name="Bildplatzhalter 5" descr="Storebaelt Bridge - Design to Implementation.jpg"/>
          <p:cNvPicPr>
            <a:picLocks noChangeAspect="1"/>
          </p:cNvPicPr>
          <p:nvPr/>
        </p:nvPicPr>
        <p:blipFill>
          <a:blip r:embed="rId3" cstate="print"/>
          <a:srcRect l="12553" r="12553"/>
          <a:stretch>
            <a:fillRect/>
          </a:stretch>
        </p:blipFill>
        <p:spPr>
          <a:xfrm>
            <a:off x="533400" y="0"/>
            <a:ext cx="9372600" cy="36576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BA6505D-49C6-4837-AB70-9B658C969D0C}"/>
              </a:ext>
            </a:extLst>
          </p:cNvPr>
          <p:cNvSpPr/>
          <p:nvPr/>
        </p:nvSpPr>
        <p:spPr>
          <a:xfrm>
            <a:off x="519868" y="6573999"/>
            <a:ext cx="206324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1000">
                <a:latin typeface="Calibri Light" panose="020F0302020204030204" pitchFamily="34" charset="0"/>
                <a:cs typeface="Calibri Light" panose="020F0302020204030204" pitchFamily="34" charset="0"/>
              </a:rPr>
              <a:t>v1.1</a:t>
            </a:r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64B7ED4B-8651-47AE-A5E8-95B02D90052C}"/>
              </a:ext>
            </a:extLst>
          </p:cNvPr>
          <p:cNvSpPr/>
          <p:nvPr/>
        </p:nvSpPr>
        <p:spPr>
          <a:xfrm>
            <a:off x="7194332" y="5638801"/>
            <a:ext cx="2364558" cy="83099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Roger E. Rhoades</a:t>
            </a:r>
          </a:p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Albion Academy</a:t>
            </a:r>
          </a:p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www.albionacademy.com</a:t>
            </a:r>
          </a:p>
        </p:txBody>
      </p:sp>
      <p:sp>
        <p:nvSpPr>
          <p:cNvPr id="10" name="Rechteck 7">
            <a:extLst>
              <a:ext uri="{FF2B5EF4-FFF2-40B4-BE49-F238E27FC236}">
                <a16:creationId xmlns:a16="http://schemas.microsoft.com/office/drawing/2014/main" id="{135BD5C4-70AE-4B6C-88C5-FE20863BC825}"/>
              </a:ext>
            </a:extLst>
          </p:cNvPr>
          <p:cNvSpPr/>
          <p:nvPr/>
        </p:nvSpPr>
        <p:spPr>
          <a:xfrm>
            <a:off x="8077200" y="6558610"/>
            <a:ext cx="148882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de-DE" sz="1000">
                <a:latin typeface="Calibri Light" panose="020F0302020204030204" pitchFamily="34" charset="0"/>
                <a:cs typeface="Calibri Light" panose="020F0302020204030204" pitchFamily="34" charset="0"/>
              </a:rPr>
              <a:t>Albion Copyright ©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C6BD-5870-4062-A13C-DE7980661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5800" y="5664191"/>
            <a:ext cx="2098181" cy="81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74AD49-B749-37A8-4B4B-EF54DB7DB3D7}"/>
              </a:ext>
            </a:extLst>
          </p:cNvPr>
          <p:cNvSpPr txBox="1"/>
          <p:nvPr/>
        </p:nvSpPr>
        <p:spPr>
          <a:xfrm rot="20143040">
            <a:off x="4234925" y="5043102"/>
            <a:ext cx="3508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Nicht</a:t>
            </a:r>
            <a:r>
              <a:rPr lang="en-US" sz="36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austeilen</a:t>
            </a:r>
            <a:r>
              <a:rPr lang="en-US" sz="36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26686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88182-AC1E-46D4-AB39-969B75DAE929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904584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1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DB15-9692-4EA7-BF14-7036DDC30789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136062" cy="330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Aussagen treffen am besten zu einer Queue zu?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Operation einreihen („</a:t>
                      </a:r>
                      <a:r>
                        <a:rPr lang="de-DE" sz="2000" err="1"/>
                        <a:t>enqueue</a:t>
                      </a:r>
                      <a:r>
                        <a:rPr lang="de-DE" sz="2000"/>
                        <a:t>“) legt ein neues Element in die Queue</a:t>
                      </a: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646868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Eine Queue funktioniert nach dem LIFO-Prinzip</a:t>
                      </a: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517957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 Stack und eine Queue arbeiten nach dem gleichen Konzept</a:t>
                      </a: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38197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Queue bildet die Basis für Messaging-Systeme</a:t>
                      </a: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17633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Werden mittels SHA-Funktionen umgesetzt</a:t>
                      </a:r>
                      <a:endParaRPr lang="de-DE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F56DBBB-150A-4779-BA06-6A5125431B26}"/>
              </a:ext>
            </a:extLst>
          </p:cNvPr>
          <p:cNvGrpSpPr/>
          <p:nvPr/>
        </p:nvGrpSpPr>
        <p:grpSpPr>
          <a:xfrm>
            <a:off x="579120" y="1124842"/>
            <a:ext cx="449110" cy="2186992"/>
            <a:chOff x="579120" y="1124842"/>
            <a:chExt cx="449110" cy="21869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93E8A7-4AC3-49CC-AB79-71D17F44EFD6}"/>
                </a:ext>
              </a:extLst>
            </p:cNvPr>
            <p:cNvSpPr/>
            <p:nvPr/>
          </p:nvSpPr>
          <p:spPr>
            <a:xfrm>
              <a:off x="579120" y="112484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A9FEA8-CE12-4E38-BDF3-1844C584FA03}"/>
                </a:ext>
              </a:extLst>
            </p:cNvPr>
            <p:cNvSpPr/>
            <p:nvPr/>
          </p:nvSpPr>
          <p:spPr>
            <a:xfrm>
              <a:off x="584198" y="263472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565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B7515-47AF-4834-8077-E907FBF2312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3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(eine) Aussage zum Testen von den folgenden trifft am besten zu?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>
                          <a:solidFill>
                            <a:srgbClr val="003CD2"/>
                          </a:solidFill>
                        </a:rPr>
                        <a:t>Wählen Sie die eine 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16135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Testen beweist die Fehlerfreiheit des Systems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Ziel des Testens ist es, Fehlverhalten des Systems frühzeitig aufzudecken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Tests stellen die Brauchbarkeit des Systems sicher 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 Gegensatz zu funktionalen Anforderungen können Qualitätsanforderungen nicht automatisch getestet werden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A494171-35F2-4CD9-A42F-68E6FD683A53}"/>
              </a:ext>
            </a:extLst>
          </p:cNvPr>
          <p:cNvSpPr/>
          <p:nvPr/>
        </p:nvSpPr>
        <p:spPr>
          <a:xfrm>
            <a:off x="579120" y="1663506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3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BCA2-B08B-4223-9736-2D8329ACB65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53776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625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DD0F-AB65-448B-A273-6C6F0B2AD6D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75988"/>
              </p:ext>
            </p:extLst>
          </p:nvPr>
        </p:nvGraphicFramePr>
        <p:xfrm>
          <a:off x="541338" y="438222"/>
          <a:ext cx="9136062" cy="491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Aussagen zu „Software-Architektur“ treffen zu?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drei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Wichtige, übergreifende Entwurfsentscheidungen sind ein wesentlicher Bestandteil der Softwarearchitektur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Die Qualitätsanforderungen sind ein wesentlicher Bestandteil der Software-Architektur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Es gibt keine allgemeingültige Definition der Software-Architektur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Software-Architektur beinhaltet die Bausteine und deren Quellcode im System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Software-Architektur ist die Beschreibung der grundlegenden Konzepte eines Systems, inkl. u.a. Bausteine / Komponenten, Beziehungen / Schnittstellen und Querschnittskonzepte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Software-Architektur ist eine Beschreibung der Implementierungsdetails der fachlichen Funktionen des Systems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84B2867-AA3C-45FA-8EC0-32E92CD6B98F}"/>
              </a:ext>
            </a:extLst>
          </p:cNvPr>
          <p:cNvGrpSpPr/>
          <p:nvPr/>
        </p:nvGrpSpPr>
        <p:grpSpPr>
          <a:xfrm>
            <a:off x="576104" y="1124842"/>
            <a:ext cx="447048" cy="2981266"/>
            <a:chOff x="576104" y="1124842"/>
            <a:chExt cx="447048" cy="29812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14F875-CBDB-4133-B34D-D1182B33DDB9}"/>
                </a:ext>
              </a:extLst>
            </p:cNvPr>
            <p:cNvSpPr/>
            <p:nvPr/>
          </p:nvSpPr>
          <p:spPr>
            <a:xfrm>
              <a:off x="579120" y="112484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FCE42-1000-4A33-9EA5-4C5ABFDFE4DC}"/>
                </a:ext>
              </a:extLst>
            </p:cNvPr>
            <p:cNvSpPr/>
            <p:nvPr/>
          </p:nvSpPr>
          <p:spPr>
            <a:xfrm>
              <a:off x="577612" y="251952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471897-6219-416F-B7F7-665EB4A822D5}"/>
                </a:ext>
              </a:extLst>
            </p:cNvPr>
            <p:cNvSpPr/>
            <p:nvPr/>
          </p:nvSpPr>
          <p:spPr>
            <a:xfrm>
              <a:off x="576104" y="34290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22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372D-3EA3-FAD3-26F4-69862BE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301E6-F256-8C76-5253-1207BC78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DD0F-AB65-448B-A273-6C6F0B2AD6D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0557-8BBE-0BF9-19D5-5FC0FE98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47A8-5EC4-A299-13A6-CDBE7950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8BEF08-1206-C25B-BD30-1B9815E03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94193"/>
              </p:ext>
            </p:extLst>
          </p:nvPr>
        </p:nvGraphicFramePr>
        <p:xfrm>
          <a:off x="541338" y="438222"/>
          <a:ext cx="91360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Welche Elemente finden sich in den meisten Definitionen von Softwarearchitektur wieder?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Die Verwendung bestimmter Programmiersprachen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Komponenten und deren Beziehungen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Gestaltungsprinzipien der Benutzeroberfläche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Architekturentscheidungen und deren Auswirkungen auf das Gesamtsystem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Testabdeckung und Codequalität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6C0BC77-2C60-56BE-E139-9A0FBBEC60CF}"/>
              </a:ext>
            </a:extLst>
          </p:cNvPr>
          <p:cNvGrpSpPr/>
          <p:nvPr/>
        </p:nvGrpSpPr>
        <p:grpSpPr>
          <a:xfrm>
            <a:off x="538511" y="1913982"/>
            <a:ext cx="472227" cy="1581482"/>
            <a:chOff x="538511" y="1913982"/>
            <a:chExt cx="472227" cy="15814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319F0C-6EE6-ABD5-87E6-707ABD1CB359}"/>
                </a:ext>
              </a:extLst>
            </p:cNvPr>
            <p:cNvSpPr/>
            <p:nvPr/>
          </p:nvSpPr>
          <p:spPr>
            <a:xfrm>
              <a:off x="560323" y="19139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BAEC23-C203-7390-BC09-3DB7D2EAFAF1}"/>
                </a:ext>
              </a:extLst>
            </p:cNvPr>
            <p:cNvSpPr/>
            <p:nvPr/>
          </p:nvSpPr>
          <p:spPr>
            <a:xfrm>
              <a:off x="577612" y="2519529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17797D-0EC6-BC25-2C64-E019EE962ADB}"/>
                </a:ext>
              </a:extLst>
            </p:cNvPr>
            <p:cNvSpPr/>
            <p:nvPr/>
          </p:nvSpPr>
          <p:spPr>
            <a:xfrm>
              <a:off x="538511" y="2818356"/>
              <a:ext cx="472227" cy="6771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13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2AC7-BB48-4EAE-B678-0D6A76B34EC6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152060"/>
              </p:ext>
            </p:extLst>
          </p:nvPr>
        </p:nvGraphicFramePr>
        <p:xfrm>
          <a:off x="541338" y="438222"/>
          <a:ext cx="9059862" cy="430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sind die primären Ziele von Software-Architektur?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701807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Die System-Bestandteile sowie Lösungsansätze dokumentieren, kommunizieren und im Allgemeinen den Stakeholdern verständlich machen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Innovative technische Lösungen entwerfen, um die Zukunftssicherheit des Systems zu sichern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Erläutern, wie die geforderte Qualität des Software-Systems erreicht wird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Architekturvorgaben an die Implementierer des Systems definieren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Ermöglichen, dass der Aufwand zur Implementierung, Betrieb und Erweiterung des Systems über dessen gesamten Lebenszyklus reduziert wird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56918B2-C694-4AEA-8E67-50F63ACA5612}"/>
              </a:ext>
            </a:extLst>
          </p:cNvPr>
          <p:cNvGrpSpPr/>
          <p:nvPr/>
        </p:nvGrpSpPr>
        <p:grpSpPr>
          <a:xfrm>
            <a:off x="571866" y="1497078"/>
            <a:ext cx="766528" cy="2998722"/>
            <a:chOff x="571866" y="1083018"/>
            <a:chExt cx="766528" cy="29987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5EC75C-6C45-4F6B-BF43-325A4EBB6344}"/>
                </a:ext>
              </a:extLst>
            </p:cNvPr>
            <p:cNvSpPr/>
            <p:nvPr/>
          </p:nvSpPr>
          <p:spPr>
            <a:xfrm>
              <a:off x="579120" y="10830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226C81-7DF5-42C5-9916-01B97610ECEF}"/>
                </a:ext>
              </a:extLst>
            </p:cNvPr>
            <p:cNvSpPr/>
            <p:nvPr/>
          </p:nvSpPr>
          <p:spPr>
            <a:xfrm>
              <a:off x="979321" y="1863833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557F7A-83F7-4675-A7F1-E8E649D496CF}"/>
                </a:ext>
              </a:extLst>
            </p:cNvPr>
            <p:cNvSpPr/>
            <p:nvPr/>
          </p:nvSpPr>
          <p:spPr>
            <a:xfrm>
              <a:off x="579496" y="25232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2E97AD-3A02-4D35-A9A0-AAF8BE69D7F8}"/>
                </a:ext>
              </a:extLst>
            </p:cNvPr>
            <p:cNvSpPr/>
            <p:nvPr/>
          </p:nvSpPr>
          <p:spPr>
            <a:xfrm>
              <a:off x="579872" y="2971800"/>
              <a:ext cx="65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9FB016-CC8C-431B-8EFF-19357EA5B3EC}"/>
                </a:ext>
              </a:extLst>
            </p:cNvPr>
            <p:cNvSpPr/>
            <p:nvPr/>
          </p:nvSpPr>
          <p:spPr>
            <a:xfrm>
              <a:off x="580248" y="297163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02AAF9-0553-433D-BF57-B2656443C6F8}"/>
                </a:ext>
              </a:extLst>
            </p:cNvPr>
            <p:cNvSpPr/>
            <p:nvPr/>
          </p:nvSpPr>
          <p:spPr>
            <a:xfrm>
              <a:off x="571866" y="340463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47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18D0-A10A-4FA2-9766-74440C97C71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09856"/>
              </p:ext>
            </p:extLst>
          </p:nvPr>
        </p:nvGraphicFramePr>
        <p:xfrm>
          <a:off x="541338" y="438222"/>
          <a:ext cx="9059862" cy="451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Verantwortungen trägt der Software-Architekt bzgl. Anforderungen?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1077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Anforderungen bzgl. deren Klarheit, Machbarkeit, etc. aus Sicht des Architekten klären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Qualitätsanforderungen und -szenarien definieren, priorisieren und dokumentieren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Erfüllbarkeit der funktionalen Anforderungen durch einen geeigneten Software-Architekturentwurf gewährleisten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Erfüllung der Qualitätsanforderungen durch einen geeigneten Software-Architektur-Entwurf ermöglichen 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9507776-F28F-484A-ACB7-57DBFAA80963}"/>
              </a:ext>
            </a:extLst>
          </p:cNvPr>
          <p:cNvGrpSpPr/>
          <p:nvPr/>
        </p:nvGrpSpPr>
        <p:grpSpPr>
          <a:xfrm>
            <a:off x="577612" y="1846184"/>
            <a:ext cx="760782" cy="2905988"/>
            <a:chOff x="577612" y="1456492"/>
            <a:chExt cx="760782" cy="290598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29B19C-D4CC-4E87-9F3D-4B149B475733}"/>
                </a:ext>
              </a:extLst>
            </p:cNvPr>
            <p:cNvSpPr/>
            <p:nvPr/>
          </p:nvSpPr>
          <p:spPr>
            <a:xfrm>
              <a:off x="579120" y="14564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E8D9DF-516E-49FE-9A78-0675FF2478D7}"/>
                </a:ext>
              </a:extLst>
            </p:cNvPr>
            <p:cNvSpPr/>
            <p:nvPr/>
          </p:nvSpPr>
          <p:spPr>
            <a:xfrm>
              <a:off x="979321" y="2277308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2FE69C-C6E3-41D4-A429-6A34B8B8D98F}"/>
                </a:ext>
              </a:extLst>
            </p:cNvPr>
            <p:cNvSpPr/>
            <p:nvPr/>
          </p:nvSpPr>
          <p:spPr>
            <a:xfrm>
              <a:off x="579496" y="368537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F43012-1F43-4FDC-BA0C-0FC07A3ED12B}"/>
                </a:ext>
              </a:extLst>
            </p:cNvPr>
            <p:cNvSpPr/>
            <p:nvPr/>
          </p:nvSpPr>
          <p:spPr>
            <a:xfrm>
              <a:off x="577612" y="294711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2AB7B-2696-95CD-C812-C532CB72E62A}"/>
              </a:ext>
            </a:extLst>
          </p:cNvPr>
          <p:cNvGrpSpPr/>
          <p:nvPr/>
        </p:nvGrpSpPr>
        <p:grpSpPr>
          <a:xfrm>
            <a:off x="388938" y="3344108"/>
            <a:ext cx="9242808" cy="2363389"/>
            <a:chOff x="388938" y="3344108"/>
            <a:chExt cx="9242808" cy="23633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D57832-28D5-B498-8443-6FB26496DCD9}"/>
                </a:ext>
              </a:extLst>
            </p:cNvPr>
            <p:cNvSpPr/>
            <p:nvPr/>
          </p:nvSpPr>
          <p:spPr>
            <a:xfrm>
              <a:off x="388938" y="4991935"/>
              <a:ext cx="9242808" cy="71556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b="1"/>
                <a:t>Gemäß dem Lehrplan sollen </a:t>
              </a:r>
              <a:r>
                <a:rPr lang="de-DE" b="1">
                  <a:ea typeface="+mn-lt"/>
                  <a:cs typeface="+mn-lt"/>
                </a:rPr>
                <a:t>notwendige Verfeinerungen mit den</a:t>
              </a:r>
              <a:endParaRPr lang="en-US" b="1">
                <a:ea typeface="Calibri Light"/>
                <a:cs typeface="Calibri Light"/>
              </a:endParaRPr>
            </a:p>
            <a:p>
              <a:pPr algn="ctr"/>
              <a:r>
                <a:rPr lang="de-DE" b="1">
                  <a:ea typeface="+mn-lt"/>
                  <a:cs typeface="+mn-lt"/>
                </a:rPr>
                <a:t>entsprechenden Stakeholdern koordiniert und abstimmt werden.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393865-C53C-52CF-D6E7-D9FC0A0F471F}"/>
                </a:ext>
              </a:extLst>
            </p:cNvPr>
            <p:cNvCxnSpPr>
              <a:cxnSpLocks/>
              <a:stCxn id="10" idx="1"/>
              <a:endCxn id="8" idx="2"/>
            </p:cNvCxnSpPr>
            <p:nvPr/>
          </p:nvCxnSpPr>
          <p:spPr>
            <a:xfrm flipV="1">
              <a:off x="388938" y="3344108"/>
              <a:ext cx="769920" cy="20056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81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E4CCF-B630-48B2-90E1-A65CBAA4090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7039"/>
              </p:ext>
            </p:extLst>
          </p:nvPr>
        </p:nvGraphicFramePr>
        <p:xfrm>
          <a:off x="541338" y="438222"/>
          <a:ext cx="9059862" cy="418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Verantwortungen trägt der Software-Architekt? 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877991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Auswahl und Verwendung von Architekturmustern im System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Definition der architekturrelevanten Integrationstests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 aller Querschnittsthemen, z.B. </a:t>
                      </a:r>
                      <a:r>
                        <a:rPr lang="de-DE" sz="2000" err="1"/>
                        <a:t>Logging</a:t>
                      </a:r>
                      <a:r>
                        <a:rPr lang="de-DE" sz="2000"/>
                        <a:t>, Transaktionsmanagement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Definition der Schnittstellen zwischen wesentlichen Bausteinen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Verwaltung der </a:t>
                      </a:r>
                      <a:r>
                        <a:rPr lang="de-DE" sz="2000" err="1"/>
                        <a:t>Continuous</a:t>
                      </a:r>
                      <a:r>
                        <a:rPr lang="de-DE" sz="2000"/>
                        <a:t>-Integration-Umgebung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Auswahl der Programmiersprache(n) des Systems, wenn nicht vorgegeben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BA8B8CF-5404-4828-96E3-D5E76D037229}"/>
              </a:ext>
            </a:extLst>
          </p:cNvPr>
          <p:cNvGrpSpPr/>
          <p:nvPr/>
        </p:nvGrpSpPr>
        <p:grpSpPr>
          <a:xfrm>
            <a:off x="557294" y="1499482"/>
            <a:ext cx="773574" cy="3148718"/>
            <a:chOff x="557294" y="1083449"/>
            <a:chExt cx="773574" cy="314871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3FE3AB-E3C7-437F-B862-934B8F12F0A1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79599-73DD-4587-8394-621BBF364363}"/>
                </a:ext>
              </a:extLst>
            </p:cNvPr>
            <p:cNvSpPr/>
            <p:nvPr/>
          </p:nvSpPr>
          <p:spPr>
            <a:xfrm>
              <a:off x="971795" y="1567499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CDA7E8-F661-49AF-86C0-680AFA1EF0B1}"/>
                </a:ext>
              </a:extLst>
            </p:cNvPr>
            <p:cNvSpPr/>
            <p:nvPr/>
          </p:nvSpPr>
          <p:spPr>
            <a:xfrm>
              <a:off x="568207" y="2675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61815C-3BEB-4835-8474-A2148754A344}"/>
                </a:ext>
              </a:extLst>
            </p:cNvPr>
            <p:cNvSpPr/>
            <p:nvPr/>
          </p:nvSpPr>
          <p:spPr>
            <a:xfrm>
              <a:off x="557294" y="355505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F503BD-E557-4828-85F3-C2A4723FB655}"/>
                </a:ext>
              </a:extLst>
            </p:cNvPr>
            <p:cNvSpPr/>
            <p:nvPr/>
          </p:nvSpPr>
          <p:spPr>
            <a:xfrm>
              <a:off x="963608" y="2004944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F9F580-41BA-41CC-B200-4BEDB8DCB342}"/>
                </a:ext>
              </a:extLst>
            </p:cNvPr>
            <p:cNvSpPr/>
            <p:nvPr/>
          </p:nvSpPr>
          <p:spPr>
            <a:xfrm>
              <a:off x="966710" y="3163936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78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EC529-0A98-4242-A894-58488449839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46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Wann sollte die Arbeit an Softwarearchitektur im Lebenszyklus von Software beginnen?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</a:t>
                      </a:r>
                      <a:r>
                        <a:rPr lang="de-DE">
                          <a:solidFill>
                            <a:srgbClr val="003CD2"/>
                          </a:solidFill>
                        </a:rPr>
                        <a:t> am besten passende Antwort aus.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Anforderungsphase (möglicherweise früher)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Architekturphase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Designphase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Entwicklungsphase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Wartungsphase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26977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52400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2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3-2EAA-4DAC-A3CE-D6D8171BF81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zählt zu Ihren Aufgaben bezüglich gestellter Anforderungen an die Softwarearchitektur oder die Software?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Den Anforderungen widersprechen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Widersprüche in den Anforderungen ermitteln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Anforderungen hinterfragen, z. B. auf implizite Auswirkungen hinweisen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Den Umfang der Anforderungen erweitern wo nötig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A392297-860C-49C8-B9A6-E6B1AD4C999A}"/>
              </a:ext>
            </a:extLst>
          </p:cNvPr>
          <p:cNvGrpSpPr/>
          <p:nvPr/>
        </p:nvGrpSpPr>
        <p:grpSpPr>
          <a:xfrm>
            <a:off x="578393" y="1913692"/>
            <a:ext cx="444759" cy="1088608"/>
            <a:chOff x="578393" y="1913692"/>
            <a:chExt cx="444759" cy="10886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13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47D7B7-81B7-4A5A-A7DC-738091052D2D}"/>
                </a:ext>
              </a:extLst>
            </p:cNvPr>
            <p:cNvSpPr/>
            <p:nvPr/>
          </p:nvSpPr>
          <p:spPr>
            <a:xfrm>
              <a:off x="578393" y="23251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61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D8E5-38FE-9229-DF3D-C71A2747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C595A-95E1-5C26-95C6-2B88D753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3-2EAA-4DAC-A3CE-D6D8171BF81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A041B-0FBD-000E-28B1-3048FE53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D4CB-D722-25B0-C0B5-EAFE42BC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5F8148-CB23-3D8B-88C6-00A6D38E7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28550"/>
              </p:ext>
            </p:extLst>
          </p:nvPr>
        </p:nvGraphicFramePr>
        <p:xfrm>
          <a:off x="533400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Worin besteht ein wesentlicher Nutzen von Softwarearchitektur für Stakeholder?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/>
                          <a:ea typeface="Calibri"/>
                          <a:cs typeface="Calibri"/>
                        </a:rPr>
                        <a:t>eine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legt fest, welche Programmiersprache verwendet werden muss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minimiert automatisch den Energieverbrauch von Anwendungen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stellt sicher, dass alle Stakeholder die Struktur und Konzepte des Systems verstehen können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ersetzt die Notwendigkeit von Projektmanagement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FA922B4-00F3-92A3-38B6-42C5B6B0E4BE}"/>
              </a:ext>
            </a:extLst>
          </p:cNvPr>
          <p:cNvGrpSpPr/>
          <p:nvPr/>
        </p:nvGrpSpPr>
        <p:grpSpPr>
          <a:xfrm>
            <a:off x="578393" y="1913692"/>
            <a:ext cx="444032" cy="1088608"/>
            <a:chOff x="578393" y="1913692"/>
            <a:chExt cx="444032" cy="10886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16511B-5377-5C32-C628-632A371DC33E}"/>
                </a:ext>
              </a:extLst>
            </p:cNvPr>
            <p:cNvSpPr/>
            <p:nvPr/>
          </p:nvSpPr>
          <p:spPr>
            <a:xfrm>
              <a:off x="579120" y="1913692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A5A8C4-A9A0-6E56-665A-3CCEADD8108B}"/>
                </a:ext>
              </a:extLst>
            </p:cNvPr>
            <p:cNvSpPr/>
            <p:nvPr/>
          </p:nvSpPr>
          <p:spPr>
            <a:xfrm>
              <a:off x="578393" y="23251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67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85529-5B96-4AE4-BC5F-05882C72C84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23885"/>
              </p:ext>
            </p:extLst>
          </p:nvPr>
        </p:nvGraphicFramePr>
        <p:xfrm>
          <a:off x="541338" y="438222"/>
          <a:ext cx="8591862" cy="305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gehört zu Ihren Aufgaben als Softwarearchitekt?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/>
                          <a:ea typeface="Calibri"/>
                          <a:cs typeface="Calibri"/>
                        </a:rPr>
                        <a:t>eine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 Antwort aus.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Anforderungen definieren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Leitung des Entwicklungsteams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 der Architektur begleiten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 aller Querschnittsthemen (z.B. </a:t>
                      </a:r>
                      <a:r>
                        <a:rPr lang="de-DE" sz="2000" err="1"/>
                        <a:t>Logging</a:t>
                      </a:r>
                      <a:r>
                        <a:rPr lang="de-DE" sz="2000"/>
                        <a:t>, Security)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Testfälle für architekturrelevante Themen definieren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898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2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8633-96EC-4ACF-8F05-D9458EF9546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42547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681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0AE2-E2DB-4450-A596-5ECFA4656AD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8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Aussagen treffen am besten zur Zusammenarbeit zwischen dem Architekten und dem Management zu?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Architekt verantwortet die Einschätzung des Entwicklungsaufwandes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Der Architekt definiert die Arbeitspakete auf Basis der Architekturstruktur, z.B. ein Arbeitspaket pro Microservice bzw. Architekturschicht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Architekt unterstützt den Projektleiter bei der Gestaltung der Arbeitspakete und Bestimmung des entsprechenden Implementierungsaufwandes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Durch die Architekturentscheidungen kann der Architekt das Projekt erheblich beeinflussen, z.B. die Projektteam-Organisation, Arbeitspakete, Terminierung etc.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5D5F302-EB26-4F80-A1D9-F2FE62F06EB5}"/>
              </a:ext>
            </a:extLst>
          </p:cNvPr>
          <p:cNvGrpSpPr/>
          <p:nvPr/>
        </p:nvGrpSpPr>
        <p:grpSpPr>
          <a:xfrm>
            <a:off x="546568" y="2609615"/>
            <a:ext cx="455321" cy="1391355"/>
            <a:chOff x="546568" y="2609615"/>
            <a:chExt cx="455321" cy="13913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D63492-0AA1-416B-A239-CCDE451E9CD1}"/>
                </a:ext>
              </a:extLst>
            </p:cNvPr>
            <p:cNvSpPr/>
            <p:nvPr/>
          </p:nvSpPr>
          <p:spPr>
            <a:xfrm>
              <a:off x="546568" y="260961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47A52D-E979-4B5B-BFB8-411B90DFD757}"/>
                </a:ext>
              </a:extLst>
            </p:cNvPr>
            <p:cNvSpPr/>
            <p:nvPr/>
          </p:nvSpPr>
          <p:spPr>
            <a:xfrm>
              <a:off x="557857" y="332386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603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7DAEF-AF4C-48E1-AE99-F847576188E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3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 trifft am besten zur Zusammenarbeit zwischen dem Architekten und dem Projektleiter zu?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eine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Architekt verantwortet die architekturrelevanten Risiken, inkl. der Planung und Umsetzung der entsprechenden Gegenmaßnahmen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Architekt ermittelt die architekturrelevanten Risiken und stimmt diese mit dem Projektleiter ab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architekturrelevanten Risiken werden vom Architekten und die projektrelevanten Risiken werden vom Projektleiter gepflegt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55121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0D63492-0AA1-416B-A239-CCDE451E9CD1}"/>
              </a:ext>
            </a:extLst>
          </p:cNvPr>
          <p:cNvSpPr/>
          <p:nvPr/>
        </p:nvSpPr>
        <p:spPr>
          <a:xfrm>
            <a:off x="568084" y="2170354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94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4A08B-BD74-4893-853B-09E932C0C97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730731"/>
              </p:ext>
            </p:extLst>
          </p:nvPr>
        </p:nvGraphicFramePr>
        <p:xfrm>
          <a:off x="541338" y="438222"/>
          <a:ext cx="9059862" cy="352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Beiträge soll ein Architekt für die Projektleitung erbringen?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805161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Entwickler/innen disziplinarisch führen.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Ermittlung von technischen Risiken.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Team-Zusammenstellung bestimmen, um die Implementierung zu optimieren.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Die Zusammenstellung und Aufteilung von Arbeitspaketen (Projektaufgaben) auf Basis der Architektur empfehlen.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677D473-82FB-46C1-A3C6-6017AA429EA0}"/>
              </a:ext>
            </a:extLst>
          </p:cNvPr>
          <p:cNvGrpSpPr/>
          <p:nvPr/>
        </p:nvGrpSpPr>
        <p:grpSpPr>
          <a:xfrm>
            <a:off x="572407" y="1524000"/>
            <a:ext cx="765987" cy="2255856"/>
            <a:chOff x="572407" y="1151692"/>
            <a:chExt cx="765987" cy="22558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6D7746-5DA8-46DC-811E-9D4CF70A7FE9}"/>
                </a:ext>
              </a:extLst>
            </p:cNvPr>
            <p:cNvSpPr/>
            <p:nvPr/>
          </p:nvSpPr>
          <p:spPr>
            <a:xfrm>
              <a:off x="572407" y="273044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E52D3-328F-4FAA-87C5-4F5F4C2E4C24}"/>
                </a:ext>
              </a:extLst>
            </p:cNvPr>
            <p:cNvSpPr/>
            <p:nvPr/>
          </p:nvSpPr>
          <p:spPr>
            <a:xfrm>
              <a:off x="972608" y="2035635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3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E4DF-8C8B-401A-9750-B541093DF0F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19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03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9441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78B03-CAE8-4A37-80C1-12146B256CB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72474"/>
              </p:ext>
            </p:extLst>
          </p:nvPr>
        </p:nvGraphicFramePr>
        <p:xfrm>
          <a:off x="541338" y="438222"/>
          <a:ext cx="9059862" cy="432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die Konsequenzen von Conway‘s Law?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drei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Komplexe Unternehmen tendieren zu komplexen Software-Architekturen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Alles, was schiefgehen kann, wird schiefgehen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Kommunikationsbarrieren zwischen Teams spiegeln sich meist auch in der Architektur wider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Komplexität integrierter Schaltkreise verdoppelt sich alle 24 Monate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Drei Teams sind für die Erstellung der Software-Architektur eines </a:t>
                      </a:r>
                      <a:br>
                        <a:rPr lang="de-DE" sz="2000"/>
                      </a:br>
                      <a:r>
                        <a:rPr lang="de-DE" sz="2000"/>
                        <a:t>„</a:t>
                      </a:r>
                      <a:r>
                        <a:rPr lang="de-DE" sz="2000" err="1"/>
                        <a:t>Three</a:t>
                      </a:r>
                      <a:r>
                        <a:rPr lang="de-DE" sz="2000"/>
                        <a:t>-Pass-Compilers“ nötig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Software-Systeme bilden mitunter eher die interne Kommunikationsstruktur des Unternehmens ab, anstatt die Bedürfnisse des Nutzers des Systems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6B63AD3-1908-4DB6-B59C-3E60EEBA50A7}"/>
              </a:ext>
            </a:extLst>
          </p:cNvPr>
          <p:cNvGrpSpPr/>
          <p:nvPr/>
        </p:nvGrpSpPr>
        <p:grpSpPr>
          <a:xfrm>
            <a:off x="562940" y="1083449"/>
            <a:ext cx="460212" cy="3427403"/>
            <a:chOff x="562940" y="1083449"/>
            <a:chExt cx="460212" cy="34274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2C24D1-2C71-4379-A8D0-3F318F5524D4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9C0BB4-FE77-408C-80C4-97431AB486C6}"/>
                </a:ext>
              </a:extLst>
            </p:cNvPr>
            <p:cNvSpPr/>
            <p:nvPr/>
          </p:nvSpPr>
          <p:spPr>
            <a:xfrm>
              <a:off x="571030" y="196991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457E25-B940-4CE5-96F5-69B0060159B5}"/>
                </a:ext>
              </a:extLst>
            </p:cNvPr>
            <p:cNvSpPr/>
            <p:nvPr/>
          </p:nvSpPr>
          <p:spPr>
            <a:xfrm>
              <a:off x="562940" y="383374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459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3C1D-97A9-4EC8-8A17-8468D7970AEB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74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Antworten bzgl. Qualitätsmerkmale sind richtig?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95575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Implementierung hoher Performanz-Anforderungen kann Projektkosten erhöhen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Flexibilität erhöht die Sicherheit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hohe Verfügbarkeit erhöht die funktionale Korrektheit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hohe Performanz kann zur besseren Benutzerfreundlichkeit beitragen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hohe Performanz führt zur besseren Wartbarkeit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920C9BD-6A60-4C50-BBBB-8DE0AAC5A521}"/>
              </a:ext>
            </a:extLst>
          </p:cNvPr>
          <p:cNvGrpSpPr/>
          <p:nvPr/>
        </p:nvGrpSpPr>
        <p:grpSpPr>
          <a:xfrm>
            <a:off x="575733" y="1509656"/>
            <a:ext cx="762661" cy="2757544"/>
            <a:chOff x="575733" y="1085615"/>
            <a:chExt cx="762661" cy="27575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249070-E306-4F6F-B688-203714A0B81C}"/>
                </a:ext>
              </a:extLst>
            </p:cNvPr>
            <p:cNvSpPr/>
            <p:nvPr/>
          </p:nvSpPr>
          <p:spPr>
            <a:xfrm>
              <a:off x="579120" y="108561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17E7F6-A85F-4134-8F69-1593B6D1C58D}"/>
                </a:ext>
              </a:extLst>
            </p:cNvPr>
            <p:cNvSpPr/>
            <p:nvPr/>
          </p:nvSpPr>
          <p:spPr>
            <a:xfrm>
              <a:off x="979321" y="1851836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83724D-CBB4-4899-9DCB-6FE98DD34167}"/>
                </a:ext>
              </a:extLst>
            </p:cNvPr>
            <p:cNvSpPr/>
            <p:nvPr/>
          </p:nvSpPr>
          <p:spPr>
            <a:xfrm>
              <a:off x="971785" y="22779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47F195-E25A-44F2-993A-E316A3FEDABF}"/>
                </a:ext>
              </a:extLst>
            </p:cNvPr>
            <p:cNvSpPr/>
            <p:nvPr/>
          </p:nvSpPr>
          <p:spPr>
            <a:xfrm>
              <a:off x="964249" y="3166051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8E86A7-27D1-46B3-B83D-CFB2AFC87152}"/>
                </a:ext>
              </a:extLst>
            </p:cNvPr>
            <p:cNvSpPr/>
            <p:nvPr/>
          </p:nvSpPr>
          <p:spPr>
            <a:xfrm>
              <a:off x="575733" y="267780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84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F3CB-3A72-4F8E-8D36-E7B77F946DD9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14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Antworten bzgl. Qualitätsmerkmale sind richtig?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61188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automatische Bereitstellung mehrerer Server-Instanzen kann sowohl die Skalierbarkeit als auch die Zuverlässigkeit des Systems erhöhen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80827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Ein flexibles, anpassbares System reduziert den Testaufwand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Implementierung hoher Sicherheitsanforderungen kann die Leistungseffizienz des Systems reduzieren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C54B4B0-B64E-4824-AD11-CEE4E9D3D2EF}"/>
              </a:ext>
            </a:extLst>
          </p:cNvPr>
          <p:cNvGrpSpPr/>
          <p:nvPr/>
        </p:nvGrpSpPr>
        <p:grpSpPr>
          <a:xfrm>
            <a:off x="571594" y="1509656"/>
            <a:ext cx="763037" cy="1824380"/>
            <a:chOff x="571594" y="1083449"/>
            <a:chExt cx="763037" cy="18243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414AA1-0A8B-4A8E-B0BC-58318C683755}"/>
                </a:ext>
              </a:extLst>
            </p:cNvPr>
            <p:cNvSpPr/>
            <p:nvPr/>
          </p:nvSpPr>
          <p:spPr>
            <a:xfrm>
              <a:off x="571594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1C97F-8628-4249-A653-AC6E14910E79}"/>
                </a:ext>
              </a:extLst>
            </p:cNvPr>
            <p:cNvSpPr/>
            <p:nvPr/>
          </p:nvSpPr>
          <p:spPr>
            <a:xfrm>
              <a:off x="975558" y="1852544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B0DF8C-11E6-4387-AEBF-528667B09591}"/>
                </a:ext>
              </a:extLst>
            </p:cNvPr>
            <p:cNvSpPr/>
            <p:nvPr/>
          </p:nvSpPr>
          <p:spPr>
            <a:xfrm>
              <a:off x="573849" y="223072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72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B8B7-D661-432D-88C9-2C6EDEB6FE2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7" y="438222"/>
          <a:ext cx="9144324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148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663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017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1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5326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Qualitätsmerkmale wirken üblicherweise positiv miteinander?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Sicherheit &amp; Benutzbarkeit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Anpassbarkeit &amp; Performance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Performance &amp; Benutzbarkeit</a:t>
                      </a:r>
                      <a:endParaRPr lang="de-DE" sz="1800">
                        <a:highlight>
                          <a:srgbClr val="FF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Zuverlässigkeit &amp; Skalierbarkeit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FA6FDC2-4B10-4662-8B13-0D69ABFB2A01}"/>
              </a:ext>
            </a:extLst>
          </p:cNvPr>
          <p:cNvSpPr/>
          <p:nvPr/>
        </p:nvSpPr>
        <p:spPr>
          <a:xfrm>
            <a:off x="587826" y="240718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528D2-2A7D-423F-A853-E9AE30FF2959}"/>
              </a:ext>
            </a:extLst>
          </p:cNvPr>
          <p:cNvSpPr/>
          <p:nvPr/>
        </p:nvSpPr>
        <p:spPr>
          <a:xfrm>
            <a:off x="571968" y="198120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C09F-FBA2-4E79-8CDD-27AD65C7B08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55103"/>
              </p:ext>
            </p:extLst>
          </p:nvPr>
        </p:nvGraphicFramePr>
        <p:xfrm>
          <a:off x="541338" y="438222"/>
          <a:ext cx="9059862" cy="470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rgbClr val="003CD2"/>
                          </a:solidFill>
                        </a:rPr>
                        <a:t>Welche Einflüsse müssen von der Software-Architektur umgesetzt bzw. eingehalten werden?</a:t>
                      </a:r>
                      <a:endParaRPr lang="de-DE" b="1" dirty="0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98125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Qualitätsanforderungen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Vorlieben des Teams für bestimmte Technologien bzw. Lösungen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Juristische Faktoren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Stakeholder Anliegen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Enterprise-Architektur-Prinzipien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neusten technologischen Trends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Budgetäre Bedingungen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277987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74B4BE62-12BA-41D6-B29B-9B2F5D97A145}"/>
              </a:ext>
            </a:extLst>
          </p:cNvPr>
          <p:cNvGrpSpPr/>
          <p:nvPr/>
        </p:nvGrpSpPr>
        <p:grpSpPr>
          <a:xfrm>
            <a:off x="573592" y="1850780"/>
            <a:ext cx="831583" cy="3330820"/>
            <a:chOff x="573592" y="1450407"/>
            <a:chExt cx="831583" cy="33308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6BBA46-5636-4DE9-87D5-B6543B8E4DB8}"/>
                </a:ext>
              </a:extLst>
            </p:cNvPr>
            <p:cNvGrpSpPr/>
            <p:nvPr/>
          </p:nvGrpSpPr>
          <p:grpSpPr>
            <a:xfrm>
              <a:off x="573592" y="1450407"/>
              <a:ext cx="449778" cy="3330820"/>
              <a:chOff x="573592" y="1447800"/>
              <a:chExt cx="449778" cy="33308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90A58A-A9DA-45FD-9836-6EAE71BBA554}"/>
                  </a:ext>
                </a:extLst>
              </p:cNvPr>
              <p:cNvSpPr/>
              <p:nvPr/>
            </p:nvSpPr>
            <p:spPr>
              <a:xfrm>
                <a:off x="579120" y="144780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DF927-AEEE-40C4-AD1C-B68CFAB4E5BC}"/>
                  </a:ext>
                </a:extLst>
              </p:cNvPr>
              <p:cNvSpPr/>
              <p:nvPr/>
            </p:nvSpPr>
            <p:spPr>
              <a:xfrm>
                <a:off x="579229" y="233098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A02B23-1BC0-47A3-A2FA-F5A2DA298935}"/>
                  </a:ext>
                </a:extLst>
              </p:cNvPr>
              <p:cNvSpPr/>
              <p:nvPr/>
            </p:nvSpPr>
            <p:spPr>
              <a:xfrm>
                <a:off x="579338" y="321416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9967835-FFB4-409A-83FD-9D1D50F7687E}"/>
                  </a:ext>
                </a:extLst>
              </p:cNvPr>
              <p:cNvSpPr/>
              <p:nvPr/>
            </p:nvSpPr>
            <p:spPr>
              <a:xfrm>
                <a:off x="573592" y="410151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CD2B2-BCB8-4FB2-907E-68EB5B508403}"/>
                </a:ext>
              </a:extLst>
            </p:cNvPr>
            <p:cNvSpPr/>
            <p:nvPr/>
          </p:nvSpPr>
          <p:spPr>
            <a:xfrm>
              <a:off x="914400" y="1958133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4C6DCB-0274-4DFF-A125-613D74303C89}"/>
                </a:ext>
              </a:extLst>
            </p:cNvPr>
            <p:cNvSpPr/>
            <p:nvPr/>
          </p:nvSpPr>
          <p:spPr>
            <a:xfrm>
              <a:off x="914400" y="3713704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CA2D02-FC3B-4D38-A7DF-C985F5D46688}"/>
                </a:ext>
              </a:extLst>
            </p:cNvPr>
            <p:cNvSpPr/>
            <p:nvPr/>
          </p:nvSpPr>
          <p:spPr>
            <a:xfrm>
              <a:off x="922351" y="2834523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6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B341-38DC-425B-8E79-D86928383E06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70012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9588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B160D-EE67-425D-A032-15BA67EBAF2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Vervollständigen Sie: Dokumentation und Kommunikation müssen...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einer vorgegebenen Form entsprechen.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... vollständig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Kontext-, Baustein-, Verteilungs- und Laufzeitsicht umfassen.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individuell an den unterschiedlichen Stakeholdern angepasst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vertraulich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sich strikt an eine vorgegebene Dokumentationsvorlage halten.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399924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761-9348-4683-A687-DA5CB2863E06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69002"/>
              </p:ext>
            </p:extLst>
          </p:nvPr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Merkmale gehören zu einer Blackbox-Darstellung?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864291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Fachliche Funktionen, die von der Blackbox implementiert werden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Die dadurch erfüllten Qualitätsanforderungen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Zweck und Verantwortungen der Blackbox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Struktur der inneren Bausteine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Schnittstellen zu anderen Bausteinen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Implementierungsdetails bspw. Algorithmen oder Quellcode des Bausteins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E7A6889-422C-40D5-8162-A83A27D290D8}"/>
              </a:ext>
            </a:extLst>
          </p:cNvPr>
          <p:cNvGrpSpPr/>
          <p:nvPr/>
        </p:nvGrpSpPr>
        <p:grpSpPr>
          <a:xfrm>
            <a:off x="565196" y="1510899"/>
            <a:ext cx="769435" cy="2901529"/>
            <a:chOff x="565196" y="1094738"/>
            <a:chExt cx="769435" cy="29015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C5ECEB-F4B9-4897-9B42-C7F53858274F}"/>
                </a:ext>
              </a:extLst>
            </p:cNvPr>
            <p:cNvSpPr/>
            <p:nvPr/>
          </p:nvSpPr>
          <p:spPr>
            <a:xfrm>
              <a:off x="575357" y="109473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E93F38-CC32-4B5A-BBCC-54CD2030F5A3}"/>
                </a:ext>
              </a:extLst>
            </p:cNvPr>
            <p:cNvSpPr/>
            <p:nvPr/>
          </p:nvSpPr>
          <p:spPr>
            <a:xfrm>
              <a:off x="975558" y="2439566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ADF32-4B1D-46D2-9A7E-8E2EC4633836}"/>
                </a:ext>
              </a:extLst>
            </p:cNvPr>
            <p:cNvSpPr/>
            <p:nvPr/>
          </p:nvSpPr>
          <p:spPr>
            <a:xfrm>
              <a:off x="971785" y="3319159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722CC-DCBF-458E-97C7-E4BBB4B5DC40}"/>
                </a:ext>
              </a:extLst>
            </p:cNvPr>
            <p:cNvSpPr/>
            <p:nvPr/>
          </p:nvSpPr>
          <p:spPr>
            <a:xfrm>
              <a:off x="57197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1282E6-27AF-4687-87DB-5A32616B1BC6}"/>
                </a:ext>
              </a:extLst>
            </p:cNvPr>
            <p:cNvSpPr/>
            <p:nvPr/>
          </p:nvSpPr>
          <p:spPr>
            <a:xfrm>
              <a:off x="568583" y="197064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47659-A851-4C70-9388-6457FCFF220C}"/>
                </a:ext>
              </a:extLst>
            </p:cNvPr>
            <p:cNvSpPr/>
            <p:nvPr/>
          </p:nvSpPr>
          <p:spPr>
            <a:xfrm>
              <a:off x="565196" y="28356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4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A134-C30F-403B-8EFB-139E5E6C2AE8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364661" cy="382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111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4422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72111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11633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42970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8764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11265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Themen können in der Kontextsicht dargestellt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0791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konzeptionelle Übersicht des Systems von außen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relevante Teile der Zielarchitektur aus externer Perspektive 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Akteure, die mit dem System agieren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externe Systemschnittstellen einschließlich der darüber transportierten Daten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System-Verantwortlichkeiten und Abgrenzung zu den Nachbarsystemen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81CE84F-01FE-40CE-B204-EC31656B2DA3}"/>
              </a:ext>
            </a:extLst>
          </p:cNvPr>
          <p:cNvGrpSpPr/>
          <p:nvPr/>
        </p:nvGrpSpPr>
        <p:grpSpPr>
          <a:xfrm>
            <a:off x="566139" y="1875798"/>
            <a:ext cx="457013" cy="2427724"/>
            <a:chOff x="566139" y="1079686"/>
            <a:chExt cx="457013" cy="24277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45F623-740E-479F-B6BA-1C74D805E092}"/>
                </a:ext>
              </a:extLst>
            </p:cNvPr>
            <p:cNvSpPr/>
            <p:nvPr/>
          </p:nvSpPr>
          <p:spPr>
            <a:xfrm>
              <a:off x="579120" y="107968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5CA177-12BB-4510-B8AE-206D42B7AED1}"/>
                </a:ext>
              </a:extLst>
            </p:cNvPr>
            <p:cNvSpPr/>
            <p:nvPr/>
          </p:nvSpPr>
          <p:spPr>
            <a:xfrm>
              <a:off x="567267" y="152516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16386F-BD8F-4EA5-BE76-E659BF0F0553}"/>
                </a:ext>
              </a:extLst>
            </p:cNvPr>
            <p:cNvSpPr/>
            <p:nvPr/>
          </p:nvSpPr>
          <p:spPr>
            <a:xfrm>
              <a:off x="570466" y="195935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28623A-5319-416F-B3F0-5B568E6F2664}"/>
                </a:ext>
              </a:extLst>
            </p:cNvPr>
            <p:cNvSpPr/>
            <p:nvPr/>
          </p:nvSpPr>
          <p:spPr>
            <a:xfrm>
              <a:off x="566139" y="24010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527AD1-9E39-487D-AD69-298BCD58D661}"/>
                </a:ext>
              </a:extLst>
            </p:cNvPr>
            <p:cNvSpPr/>
            <p:nvPr/>
          </p:nvSpPr>
          <p:spPr>
            <a:xfrm>
              <a:off x="573101" y="283030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016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97F21-9716-4CC9-9FEA-A6519CA60A8B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UML-Diagrammtypen sind typische Beschreibungselemente der Bausteinsicht?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Komponentendiagramm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Verteilungsdiagramm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Klassendiagramm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Zustandsdiagramm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5E43175-BBF7-4C65-8138-2E26BE5D5BD7}"/>
              </a:ext>
            </a:extLst>
          </p:cNvPr>
          <p:cNvGrpSpPr/>
          <p:nvPr/>
        </p:nvGrpSpPr>
        <p:grpSpPr>
          <a:xfrm>
            <a:off x="556918" y="1448026"/>
            <a:ext cx="447419" cy="1550115"/>
            <a:chOff x="556918" y="1448026"/>
            <a:chExt cx="447419" cy="1550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818527-8FE5-4B0B-BE54-6F454AECA884}"/>
                </a:ext>
              </a:extLst>
            </p:cNvPr>
            <p:cNvSpPr/>
            <p:nvPr/>
          </p:nvSpPr>
          <p:spPr>
            <a:xfrm>
              <a:off x="560305" y="144802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E03618-3264-4900-A6AA-B876F9C13D68}"/>
                </a:ext>
              </a:extLst>
            </p:cNvPr>
            <p:cNvSpPr/>
            <p:nvPr/>
          </p:nvSpPr>
          <p:spPr>
            <a:xfrm>
              <a:off x="556918" y="232103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50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E90A-4E06-4A5C-9C2E-24AB3CA9E91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Welcher der folgenden UML-Diagrammtypen kann für die Darstellung der Implementierung eines Use-Cases benutzt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Use-Case 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Sequenzdiagramm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Aktivitätsdiagramm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Komponentendiagramm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Kommunikationsdiagramm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6040B36-44C6-4C3B-90BA-48B90955D055}"/>
              </a:ext>
            </a:extLst>
          </p:cNvPr>
          <p:cNvGrpSpPr/>
          <p:nvPr/>
        </p:nvGrpSpPr>
        <p:grpSpPr>
          <a:xfrm>
            <a:off x="570086" y="1886411"/>
            <a:ext cx="445540" cy="1104204"/>
            <a:chOff x="570086" y="1886411"/>
            <a:chExt cx="445540" cy="110420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01F7A4-95AA-469C-A394-298F1E449B6F}"/>
                </a:ext>
              </a:extLst>
            </p:cNvPr>
            <p:cNvSpPr/>
            <p:nvPr/>
          </p:nvSpPr>
          <p:spPr>
            <a:xfrm>
              <a:off x="571594" y="188641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621B0A-E7E8-49F5-BCC8-754707FD8A01}"/>
                </a:ext>
              </a:extLst>
            </p:cNvPr>
            <p:cNvSpPr/>
            <p:nvPr/>
          </p:nvSpPr>
          <p:spPr>
            <a:xfrm>
              <a:off x="570086" y="231350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9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75099-0CEA-4B2A-AD68-28978E4985C8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514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Bei welchen der genannten Begriffe handelt es sich um eine oder mehrere der üblichen Sicht-Darstellungen einer Software-Architektur (laut iSAQB)?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Ordnen Sie allen Antworten „wahr“ oder „falsch“ zu.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98558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Kommunikationssicht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Bausteinsicht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Qualitätssicht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Anforderungssicht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Verteilungssicht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Kontextsicht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Weitsicht 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Datensicht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9F2D754-5AB2-478A-A6E3-376C52793849}"/>
              </a:ext>
            </a:extLst>
          </p:cNvPr>
          <p:cNvGrpSpPr/>
          <p:nvPr/>
        </p:nvGrpSpPr>
        <p:grpSpPr>
          <a:xfrm>
            <a:off x="562940" y="1927154"/>
            <a:ext cx="771681" cy="3748400"/>
            <a:chOff x="562940" y="1497885"/>
            <a:chExt cx="771681" cy="3748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5AFF78-94FA-48F6-A6FE-DCFE9B9BD66A}"/>
                </a:ext>
              </a:extLst>
            </p:cNvPr>
            <p:cNvSpPr/>
            <p:nvPr/>
          </p:nvSpPr>
          <p:spPr>
            <a:xfrm>
              <a:off x="564068" y="188735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EF4261-7683-42FA-BF5E-30B41CEB3CFC}"/>
                </a:ext>
              </a:extLst>
            </p:cNvPr>
            <p:cNvSpPr/>
            <p:nvPr/>
          </p:nvSpPr>
          <p:spPr>
            <a:xfrm>
              <a:off x="971795" y="1497885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407048-14CF-41A6-94B3-5A5B96986B3E}"/>
                </a:ext>
              </a:extLst>
            </p:cNvPr>
            <p:cNvSpPr/>
            <p:nvPr/>
          </p:nvSpPr>
          <p:spPr>
            <a:xfrm>
              <a:off x="563504" y="319780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9E1B3C-F06E-4222-8009-2E91B6D74968}"/>
                </a:ext>
              </a:extLst>
            </p:cNvPr>
            <p:cNvSpPr/>
            <p:nvPr/>
          </p:nvSpPr>
          <p:spPr>
            <a:xfrm>
              <a:off x="562940" y="363502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E06C25-3F9E-40E2-B943-1D7505656006}"/>
                </a:ext>
              </a:extLst>
            </p:cNvPr>
            <p:cNvSpPr/>
            <p:nvPr/>
          </p:nvSpPr>
          <p:spPr>
            <a:xfrm>
              <a:off x="975548" y="2370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68E930-371E-4813-82C2-0657EB6465B8}"/>
                </a:ext>
              </a:extLst>
            </p:cNvPr>
            <p:cNvSpPr/>
            <p:nvPr/>
          </p:nvSpPr>
          <p:spPr>
            <a:xfrm>
              <a:off x="971775" y="2808111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90070D-296E-42AC-B891-5626EA34AADD}"/>
                </a:ext>
              </a:extLst>
            </p:cNvPr>
            <p:cNvSpPr/>
            <p:nvPr/>
          </p:nvSpPr>
          <p:spPr>
            <a:xfrm>
              <a:off x="968002" y="41234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F999A1-0D0A-4B48-9B6A-8759DFD9B430}"/>
                </a:ext>
              </a:extLst>
            </p:cNvPr>
            <p:cNvSpPr/>
            <p:nvPr/>
          </p:nvSpPr>
          <p:spPr>
            <a:xfrm>
              <a:off x="964229" y="4569177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271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D902-7E57-4AD5-AD62-864B01E271C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Begriffe beschreiben Templates zur Dokumentation von SW-Architekturen?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ISO 42010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arc42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UML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ITIL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49722B9-1A43-4C39-B0CF-DD5BD3379BA1}"/>
              </a:ext>
            </a:extLst>
          </p:cNvPr>
          <p:cNvGrpSpPr/>
          <p:nvPr/>
        </p:nvGrpSpPr>
        <p:grpSpPr>
          <a:xfrm>
            <a:off x="565383" y="1445203"/>
            <a:ext cx="457769" cy="1116433"/>
            <a:chOff x="565383" y="1445203"/>
            <a:chExt cx="457769" cy="1116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1B107F-8204-46EE-9A0C-01BCEFBF159B}"/>
                </a:ext>
              </a:extLst>
            </p:cNvPr>
            <p:cNvSpPr/>
            <p:nvPr/>
          </p:nvSpPr>
          <p:spPr>
            <a:xfrm>
              <a:off x="579120" y="144520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CFBFC1-CD67-48FD-9D76-94790B5B5868}"/>
                </a:ext>
              </a:extLst>
            </p:cNvPr>
            <p:cNvSpPr/>
            <p:nvPr/>
          </p:nvSpPr>
          <p:spPr>
            <a:xfrm>
              <a:off x="565383" y="188452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88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5DB1-A316-4E66-9D81-04ADC621B21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725118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4389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AE76-ACB0-40D7-ACE0-6553CBF60C1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401781"/>
              </p:ext>
            </p:extLst>
          </p:nvPr>
        </p:nvGraphicFramePr>
        <p:xfrm>
          <a:off x="541338" y="438222"/>
          <a:ext cx="9136062" cy="375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Welches Entwurfsvorgehen wird am besten durch die folgenden Merkmale beschrieben?</a:t>
                      </a:r>
                    </a:p>
                    <a:p>
                      <a:pPr marL="358775" indent="0"/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- Vom Abstrakten bis zum Detail arbeiten</a:t>
                      </a:r>
                    </a:p>
                    <a:p>
                      <a:pPr marL="358775" indent="0"/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- Bei unklaren Anforderungen oder strategischer Ausrichtung einsetzen</a:t>
                      </a:r>
                    </a:p>
                    <a:p>
                      <a:pPr marL="358775" indent="0"/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- Mögliches Risiko der Entwicklung unrealistischer Lösungen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Bottom-Up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Top-Down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Domain-Driven Design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Trennung der Belange (Separation of Concerns)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52CFDED-FB5A-47EA-AFF1-91298CDB5C28}"/>
              </a:ext>
            </a:extLst>
          </p:cNvPr>
          <p:cNvSpPr/>
          <p:nvPr/>
        </p:nvSpPr>
        <p:spPr>
          <a:xfrm>
            <a:off x="579120" y="2671929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3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88182-A063-4F15-801D-52BEE51A83D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711846"/>
              </p:ext>
            </p:extLst>
          </p:nvPr>
        </p:nvGraphicFramePr>
        <p:xfrm>
          <a:off x="541338" y="438222"/>
          <a:ext cx="9059862" cy="43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gängige Vorgehen zur Architekturentwicklung?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04163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Side-</a:t>
                      </a:r>
                      <a:r>
                        <a:rPr lang="de-DE" sz="2000" err="1"/>
                        <a:t>by</a:t>
                      </a:r>
                      <a:r>
                        <a:rPr lang="de-DE" sz="2000"/>
                        <a:t>-Side Methode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Top-Down- und Bottom-Up-Vorgehen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Domain-Driven Design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err="1"/>
                        <a:t>Sichtenbasierte</a:t>
                      </a:r>
                      <a:r>
                        <a:rPr lang="de-DE" sz="2000"/>
                        <a:t> Architekturentwicklung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Benutzerorientierte Architekturentwicklung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Iterative und inkrementelle Entwicklung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75B1435-1D2E-4432-ABC2-9F65B63D8358}"/>
              </a:ext>
            </a:extLst>
          </p:cNvPr>
          <p:cNvGrpSpPr/>
          <p:nvPr/>
        </p:nvGrpSpPr>
        <p:grpSpPr>
          <a:xfrm>
            <a:off x="579120" y="1571335"/>
            <a:ext cx="763295" cy="2841174"/>
            <a:chOff x="579120" y="1143000"/>
            <a:chExt cx="763295" cy="28411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5446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43000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B7C0B-632A-4A27-B629-82E355A41B5F}"/>
                </a:ext>
              </a:extLst>
            </p:cNvPr>
            <p:cNvSpPr/>
            <p:nvPr/>
          </p:nvSpPr>
          <p:spPr>
            <a:xfrm>
              <a:off x="579220" y="19812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52E307-EF49-4236-8960-C24A77DBF037}"/>
                </a:ext>
              </a:extLst>
            </p:cNvPr>
            <p:cNvSpPr/>
            <p:nvPr/>
          </p:nvSpPr>
          <p:spPr>
            <a:xfrm>
              <a:off x="579320" y="240793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739461-BD45-4E32-8578-3B312872D36E}"/>
                </a:ext>
              </a:extLst>
            </p:cNvPr>
            <p:cNvSpPr/>
            <p:nvPr/>
          </p:nvSpPr>
          <p:spPr>
            <a:xfrm>
              <a:off x="579420" y="330706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7A5BA-2259-49A3-BDEA-0FC4A9C52BFF}"/>
                </a:ext>
              </a:extLst>
            </p:cNvPr>
            <p:cNvSpPr/>
            <p:nvPr/>
          </p:nvSpPr>
          <p:spPr>
            <a:xfrm>
              <a:off x="983342" y="2900663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0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A3AC-5474-445E-9500-30199BF6744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136062" cy="397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Aussagen gelten für das Dependency-Inversion-</a:t>
                      </a:r>
                      <a:r>
                        <a:rPr lang="de-DE" sz="2400" b="1" err="1">
                          <a:solidFill>
                            <a:srgbClr val="003CD2"/>
                          </a:solidFill>
                        </a:rPr>
                        <a:t>Principle</a:t>
                      </a:r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 (Prinzip der Umkehr von Abhängigkeiten)?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drei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Abstrakte Bausteine sollen von detaillierten Bausteinen abhängen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Zyklische Abhängigkeiten sollen vermieden werden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Abstraktionen (Schnittstellen) werden benutzt, um den Baustein von der Implementierung anderer Bausteine zu entkoppeln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Austauschbarkeit „detaillierter“ Bausteine wird erleichtert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Verantwortung für die Definition des Interfaces liegt bei dem Baustein auf der höheren (abstrakten) Ebene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CF3F56E-882C-45F1-8D61-B840098D34F5}"/>
              </a:ext>
            </a:extLst>
          </p:cNvPr>
          <p:cNvGrpSpPr/>
          <p:nvPr/>
        </p:nvGrpSpPr>
        <p:grpSpPr>
          <a:xfrm>
            <a:off x="564820" y="2320093"/>
            <a:ext cx="458332" cy="1838697"/>
            <a:chOff x="564820" y="2320093"/>
            <a:chExt cx="458332" cy="18386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B54B09-6AB9-44A5-A4F3-0D5A33ACD53A}"/>
                </a:ext>
              </a:extLst>
            </p:cNvPr>
            <p:cNvSpPr/>
            <p:nvPr/>
          </p:nvSpPr>
          <p:spPr>
            <a:xfrm>
              <a:off x="579120" y="232009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17C868-46CA-4764-B822-622DC4E1A00B}"/>
                </a:ext>
              </a:extLst>
            </p:cNvPr>
            <p:cNvSpPr/>
            <p:nvPr/>
          </p:nvSpPr>
          <p:spPr>
            <a:xfrm>
              <a:off x="571970" y="304164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4E5686-2F07-43C3-8F91-26D7E171DD76}"/>
                </a:ext>
              </a:extLst>
            </p:cNvPr>
            <p:cNvSpPr/>
            <p:nvPr/>
          </p:nvSpPr>
          <p:spPr>
            <a:xfrm>
              <a:off x="564820" y="34816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38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8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Aussagen bzgl. Dependency-Inversion stimmen?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dreht sich die Richtung von Methodenaufrufen um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err="1"/>
                        <a:t>Dependency</a:t>
                      </a:r>
                      <a:r>
                        <a:rPr lang="de-DE" sz="2000"/>
                        <a:t> </a:t>
                      </a:r>
                      <a:r>
                        <a:rPr lang="de-DE" sz="2000" err="1"/>
                        <a:t>Injection</a:t>
                      </a:r>
                      <a:r>
                        <a:rPr lang="de-DE" sz="2000"/>
                        <a:t> kann in Kombination mit Dependency Inversion verwendet werden.</a:t>
                      </a:r>
                      <a:endParaRPr lang="de-DE" sz="1800">
                        <a:highlight>
                          <a:srgbClr val="FF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werden Implementierung und Schnittstelle vertauscht.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verschiebt sich die Zuständigkeit für die aufgerufene Schnittstelle vom Implementierer zum Aufrufer.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Dependency Inversion und Dependency Injection sind das gleiche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5C1B2D7-EDB2-4BF1-A4CE-73C5FA37E9AD}"/>
              </a:ext>
            </a:extLst>
          </p:cNvPr>
          <p:cNvGrpSpPr/>
          <p:nvPr/>
        </p:nvGrpSpPr>
        <p:grpSpPr>
          <a:xfrm>
            <a:off x="566061" y="1532692"/>
            <a:ext cx="457091" cy="2110392"/>
            <a:chOff x="566061" y="1532692"/>
            <a:chExt cx="457091" cy="2110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8D21DD-D5F4-408A-950E-E1179AC2F2B8}"/>
                </a:ext>
              </a:extLst>
            </p:cNvPr>
            <p:cNvSpPr/>
            <p:nvPr/>
          </p:nvSpPr>
          <p:spPr>
            <a:xfrm>
              <a:off x="566061" y="296597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51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0B2A-46A0-C909-E207-64E891DA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6427-DE8C-2CD2-5724-B41DE3C8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C22EA-9661-C800-B5ED-F2111F6B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527-BF12-006B-B8ED-03868F25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C4267E-5979-566B-D4AA-7DEAA5768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130202"/>
              </p:ext>
            </p:extLst>
          </p:nvPr>
        </p:nvGraphicFramePr>
        <p:xfrm>
          <a:off x="541338" y="438222"/>
          <a:ext cx="8591859" cy="453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kern="1200" noProof="0">
                          <a:solidFill>
                            <a:srgbClr val="003CD2"/>
                          </a:solidFill>
                          <a:latin typeface="+mn-lt"/>
                          <a:ea typeface="+mn-ea"/>
                          <a:cs typeface="+mn-cs"/>
                        </a:rPr>
                        <a:t>Welche der folgenden Aussagen beschreiben zentrale Gründe für iteratives Arbeiten in der Softwarearchitektur unter Unsicherheit?</a:t>
                      </a:r>
                      <a:endParaRPr lang="en-US" sz="2400" b="1" kern="1200" noProof="0">
                        <a:solidFill>
                          <a:srgbClr val="003CD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drei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Iterationen ermöglichen es, Architekturentscheidungen früh zu finalisieren und spätere Änderungen zu vermeiden.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Feedbackschleifen mit Stakeholdern helfen, unklare Anforderungen besser zu verstehen und fundiertere Architekturentscheidungen zu treffen.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Durch inkrementelles Vorgehen können Risiken reduziert und Annahmen überprüft werden, bevor weitreichende Entscheidungen getroffen werden.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Iteratives Arbeiten verhindert automatisch jegliche technischen Schulden.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Iterationen fördern die Anpassbarkeit der Architektur bei sich verändernden Rahmenbedingungen.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5B31A8F-4D61-9DB2-7C9B-87D5083A794C}"/>
              </a:ext>
            </a:extLst>
          </p:cNvPr>
          <p:cNvGrpSpPr/>
          <p:nvPr/>
        </p:nvGrpSpPr>
        <p:grpSpPr>
          <a:xfrm>
            <a:off x="566061" y="2180914"/>
            <a:ext cx="466489" cy="2610389"/>
            <a:chOff x="566061" y="2180914"/>
            <a:chExt cx="466489" cy="261038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3BCA573-C79B-AF6A-67D9-B1AB866C4C37}"/>
                </a:ext>
              </a:extLst>
            </p:cNvPr>
            <p:cNvGrpSpPr/>
            <p:nvPr/>
          </p:nvGrpSpPr>
          <p:grpSpPr>
            <a:xfrm>
              <a:off x="566061" y="2180914"/>
              <a:ext cx="466489" cy="1462170"/>
              <a:chOff x="566061" y="2180914"/>
              <a:chExt cx="466489" cy="146217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3BB89C-C1AC-BF05-55BB-10367DB90CF3}"/>
                  </a:ext>
                </a:extLst>
              </p:cNvPr>
              <p:cNvSpPr/>
              <p:nvPr/>
            </p:nvSpPr>
            <p:spPr>
              <a:xfrm>
                <a:off x="588518" y="218091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3588F2-DA07-0F2E-0C47-B84E0341CA6A}"/>
                  </a:ext>
                </a:extLst>
              </p:cNvPr>
              <p:cNvSpPr/>
              <p:nvPr/>
            </p:nvSpPr>
            <p:spPr>
              <a:xfrm>
                <a:off x="566061" y="2965976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anchor="t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4D076D-3752-6846-ED69-47A216D78000}"/>
                </a:ext>
              </a:extLst>
            </p:cNvPr>
            <p:cNvSpPr/>
            <p:nvPr/>
          </p:nvSpPr>
          <p:spPr>
            <a:xfrm>
              <a:off x="568085" y="4114195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8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C937-8F28-49F5-AD70-53E58F54001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5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beschreibt das Geheimnisprinzip einer Softwarekomponente?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</a:t>
                      </a:r>
                      <a:r>
                        <a:rPr kumimoji="0"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</a:t>
                      </a: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Verwendung der Komponente ist geheim. Sie kann nicht allgemeingültig verwendet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Kommunikation mit der Komponente darf ausschließlich verschlüsselt stattfinden.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Funktionsweise der Komponente ist zum Schutz der Implementierung nicht dokumentiert.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Interne Bausteine einer Komponente sind von außen nicht einsehbar.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32852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7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EB4F-F9A3-4B1C-916F-2984FBE93FD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gilt für die Kopplung von Bausteinen?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59658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Möglichst enge Kopplung ähnlicher Komponenten anstreben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Bausteine mit enger Kopplung sind schwerer zu warten, erweitern usw.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lose Kopplung wird durch hohe Kohäsion begünstigt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Architekturbausteine sollen von den fachlichen Domänen entkoppelt werden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211F19F-6E67-45C7-9BE4-077F4194B5A6}"/>
              </a:ext>
            </a:extLst>
          </p:cNvPr>
          <p:cNvGrpSpPr/>
          <p:nvPr/>
        </p:nvGrpSpPr>
        <p:grpSpPr>
          <a:xfrm>
            <a:off x="544757" y="1536278"/>
            <a:ext cx="793637" cy="2005323"/>
            <a:chOff x="544757" y="1151692"/>
            <a:chExt cx="793637" cy="20053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5591" y="154865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5CBCCF-0F14-4CEE-9D46-C63482D1499A}"/>
                </a:ext>
              </a:extLst>
            </p:cNvPr>
            <p:cNvSpPr/>
            <p:nvPr/>
          </p:nvSpPr>
          <p:spPr>
            <a:xfrm>
              <a:off x="979321" y="2479907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19DF18-19E3-48AC-8264-49179B203D51}"/>
                </a:ext>
              </a:extLst>
            </p:cNvPr>
            <p:cNvSpPr/>
            <p:nvPr/>
          </p:nvSpPr>
          <p:spPr>
            <a:xfrm>
              <a:off x="544757" y="201428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1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gilt für ein „Proxy“-Muster?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zwei am besten passende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Funktioniert im Wesentlichen wie das </a:t>
                      </a:r>
                      <a:r>
                        <a:rPr lang="de-DE" sz="2000" err="1"/>
                        <a:t>Proximity</a:t>
                      </a:r>
                      <a:r>
                        <a:rPr lang="de-DE" sz="2000"/>
                        <a:t>-Muster.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Forward-Proxys akzeptieren den Zugang vom Internet zu privaten Netzen und Reverse-Proxys ermöglichen den Zugang zu öffentlichen Netzen von privaten Netzen aus.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Bietet einen Ersatz oder Platzhalter für einen anderen Baustein.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Kann auf Klassen-, Komponenten- oder Systemebene verwendet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E8502FE-E2E7-D69A-48ED-083EF74D61B6}"/>
              </a:ext>
            </a:extLst>
          </p:cNvPr>
          <p:cNvGrpSpPr/>
          <p:nvPr/>
        </p:nvGrpSpPr>
        <p:grpSpPr>
          <a:xfrm>
            <a:off x="574770" y="2558116"/>
            <a:ext cx="448382" cy="1123417"/>
            <a:chOff x="574770" y="2558116"/>
            <a:chExt cx="448382" cy="11234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55811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1DBE11-9B6C-0A0F-05DD-F981A4FAF0D9}"/>
                </a:ext>
              </a:extLst>
            </p:cNvPr>
            <p:cNvSpPr/>
            <p:nvPr/>
          </p:nvSpPr>
          <p:spPr>
            <a:xfrm>
              <a:off x="574770" y="300442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3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7132-E2D9-4548-B6B3-98A9E4FAE68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41944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86030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17B1-A7AA-9B42-0F55-6B2A3B2F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21A5A-5D88-9A85-86AF-97014988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6D97D-197D-A22F-C76D-0F3C7238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9ADB-D105-B65C-106B-9F109502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53ADD9-6D29-984D-FE64-05EC180F5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780871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Was beschreibt Querschnittsthemen (Cross-Cutting </a:t>
                      </a:r>
                      <a:r>
                        <a:rPr lang="de-DE" sz="2400" b="1" i="0" u="none" strike="noStrike" noProof="0" err="1">
                          <a:solidFill>
                            <a:srgbClr val="003CD2"/>
                          </a:solidFill>
                          <a:latin typeface="Calibri Light"/>
                        </a:rPr>
                        <a:t>Concerns</a:t>
                      </a: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) in der Softwarearchitektur am besten?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eine</a:t>
                      </a: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am besten 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passendste</a:t>
                      </a: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definieren die Zielumgebungen wie Cloud oder On-</a:t>
                      </a:r>
                      <a:r>
                        <a:rPr lang="de-DE" sz="2000" b="0" i="0" u="none" strike="noStrike" noProof="0" err="1">
                          <a:latin typeface="Calibri Light"/>
                        </a:rPr>
                        <a:t>Premises</a:t>
                      </a:r>
                      <a:r>
                        <a:rPr lang="de-DE" sz="2000" b="0" i="0" u="none" strike="noStrike" noProof="0">
                          <a:latin typeface="Calibri Light"/>
                        </a:rPr>
                        <a:t>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legen die Struktur der Benutzeroberfläche fest.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sind technische Themen, die mehrere Komponenten betreffen, z. B. Logging oder Sicherheit.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sind nur in der Implementierungsphase relevant.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C637B45-937E-8A17-B7C6-C4B05A014D66}"/>
              </a:ext>
            </a:extLst>
          </p:cNvPr>
          <p:cNvGrpSpPr/>
          <p:nvPr/>
        </p:nvGrpSpPr>
        <p:grpSpPr>
          <a:xfrm>
            <a:off x="541526" y="2351437"/>
            <a:ext cx="444032" cy="1330096"/>
            <a:chOff x="541526" y="2351437"/>
            <a:chExt cx="444032" cy="13300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70290E-59F6-8E06-8A53-799B22882111}"/>
                </a:ext>
              </a:extLst>
            </p:cNvPr>
            <p:cNvSpPr/>
            <p:nvPr/>
          </p:nvSpPr>
          <p:spPr>
            <a:xfrm>
              <a:off x="541526" y="235143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9380B0-90C7-46BD-7CC3-ACF9AE355980}"/>
                </a:ext>
              </a:extLst>
            </p:cNvPr>
            <p:cNvSpPr/>
            <p:nvPr/>
          </p:nvSpPr>
          <p:spPr>
            <a:xfrm>
              <a:off x="574770" y="300442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17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381028-9166-F01C-C875-8DF9FF92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53CB1-0FA0-F6AA-7376-58471CDB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136F3-7E0F-4582-AD19-4E749ACD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9ADE5-4910-F877-DD13-6434F81D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DA4C17-7DAB-BE6B-F04C-A4AB49C4E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99029"/>
              </p:ext>
            </p:extLst>
          </p:nvPr>
        </p:nvGraphicFramePr>
        <p:xfrm>
          <a:off x="541338" y="438222"/>
          <a:ext cx="8591859" cy="369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kern="1200" noProof="0">
                          <a:solidFill>
                            <a:srgbClr val="003CD2"/>
                          </a:solidFill>
                        </a:rPr>
                        <a:t>Welche Aussagen beschreiben den Einfluss von Daten auf Softwarearchitekturentscheidungen?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drei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Datenvolumen kann die Wahl der Speichertechnologie beeinflussen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/>
                        <a:t>Die Wahl der Programmiersprache ist unabhängig vom Datenmodell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Häufige Datenänderungen können geeignete Synchronisationsstrategien 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latin typeface="Calibri Light"/>
                        </a:rPr>
                        <a:t>erfordern 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Vertrauliche Daten haben Einfluss auf Sicherheits- und Zugriffskonzepte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Datenmodelle haben nur in der Datenbankarchitektur Relevanz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FEF81424-A9AA-5210-9B25-3E5C99866359}"/>
              </a:ext>
            </a:extLst>
          </p:cNvPr>
          <p:cNvGrpSpPr/>
          <p:nvPr/>
        </p:nvGrpSpPr>
        <p:grpSpPr>
          <a:xfrm>
            <a:off x="566061" y="1504509"/>
            <a:ext cx="457091" cy="2249332"/>
            <a:chOff x="566061" y="1504509"/>
            <a:chExt cx="457091" cy="22493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8A47AD-845F-BFB6-AA53-E100DCEDF458}"/>
                </a:ext>
              </a:extLst>
            </p:cNvPr>
            <p:cNvGrpSpPr/>
            <p:nvPr/>
          </p:nvGrpSpPr>
          <p:grpSpPr>
            <a:xfrm>
              <a:off x="566061" y="1504509"/>
              <a:ext cx="457091" cy="1574904"/>
              <a:chOff x="566061" y="1504509"/>
              <a:chExt cx="457091" cy="157490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CED1C1-6747-A429-47F5-688CE39AE1E8}"/>
                  </a:ext>
                </a:extLst>
              </p:cNvPr>
              <p:cNvSpPr/>
              <p:nvPr/>
            </p:nvSpPr>
            <p:spPr>
              <a:xfrm>
                <a:off x="579120" y="1504509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0BD38E1-C729-AF54-A332-7DA3EC153EA7}"/>
                  </a:ext>
                </a:extLst>
              </p:cNvPr>
              <p:cNvSpPr/>
              <p:nvPr/>
            </p:nvSpPr>
            <p:spPr>
              <a:xfrm>
                <a:off x="566061" y="2402305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anchor="t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53AD14-74E9-3FCD-4C12-51A27D176C8E}"/>
                </a:ext>
              </a:extLst>
            </p:cNvPr>
            <p:cNvSpPr/>
            <p:nvPr/>
          </p:nvSpPr>
          <p:spPr>
            <a:xfrm>
              <a:off x="575225" y="3076733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8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FE2D-8E9A-EDAF-8435-A10E0074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EDE85-DBCE-056A-03F3-F5D4162B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45652-BC6D-5524-0D04-69C212DD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936B5-07E2-46DB-B84A-57439495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1C26F-F0D1-8A14-AE40-8099E5173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345336"/>
              </p:ext>
            </p:extLst>
          </p:nvPr>
        </p:nvGraphicFramePr>
        <p:xfrm>
          <a:off x="541338" y="438222"/>
          <a:ext cx="8591859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kern="1200" noProof="0">
                          <a:solidFill>
                            <a:srgbClr val="003CD2"/>
                          </a:solidFill>
                          <a:latin typeface="Calibri Light"/>
                        </a:rPr>
                        <a:t>Was unterscheidet ein Produkt- von einem Summen-Typ in der Datenmodellierung?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zwei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+mn-lt"/>
                        </a:rPr>
                        <a:t>Ein Summen-Typ bedeutet, dass alle Varianten gleichzeitig auftreten</a:t>
                      </a:r>
                      <a:endParaRPr lang="en-US" sz="1800">
                        <a:latin typeface="+mn-l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b="0" i="0" u="none" strike="noStrike" noProof="0">
                          <a:latin typeface="+mn-lt"/>
                        </a:rPr>
                        <a:t>Ein Produkttyp steht für eine Kombination mehrerer Pflichtinformationen</a:t>
                      </a:r>
                      <a:endParaRPr lang="en-US" sz="1800">
                        <a:latin typeface="+mn-l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+mn-lt"/>
                        </a:rPr>
                        <a:t>Produkt-Typen kommen nur in funktionalen Programmiersprachen vor</a:t>
                      </a:r>
                      <a:endParaRPr lang="en-US" sz="1800">
                        <a:latin typeface="+mn-l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+mn-lt"/>
                        </a:rPr>
                        <a:t>Produkt- und Summen-Typen spielen in der Softwarearchitektur keine Rolle</a:t>
                      </a:r>
                      <a:endParaRPr lang="en-US" sz="1800">
                        <a:latin typeface="+mn-l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+mn-lt"/>
                        </a:rPr>
                        <a:t>Ein Summen-Typ steht für eine Auswahlmöglichkeit zwischen Alternativen</a:t>
                      </a:r>
                      <a:endParaRPr lang="en-US" sz="1800">
                        <a:latin typeface="+mn-lt"/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4A54901-C55D-399A-E31C-65FFDC635AEB}"/>
              </a:ext>
            </a:extLst>
          </p:cNvPr>
          <p:cNvGrpSpPr/>
          <p:nvPr/>
        </p:nvGrpSpPr>
        <p:grpSpPr>
          <a:xfrm>
            <a:off x="566061" y="1883647"/>
            <a:ext cx="457091" cy="1993088"/>
            <a:chOff x="566061" y="1883647"/>
            <a:chExt cx="457091" cy="19930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BAF801-8125-DCB9-6D20-BC9687E2C383}"/>
                </a:ext>
              </a:extLst>
            </p:cNvPr>
            <p:cNvSpPr/>
            <p:nvPr/>
          </p:nvSpPr>
          <p:spPr>
            <a:xfrm>
              <a:off x="579120" y="188364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1625ED-F6A0-17B7-85DF-69854761E775}"/>
                </a:ext>
              </a:extLst>
            </p:cNvPr>
            <p:cNvSpPr/>
            <p:nvPr/>
          </p:nvSpPr>
          <p:spPr>
            <a:xfrm>
              <a:off x="566061" y="3199627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8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03AC-E4E0-4214-AB9D-3D3A801EE18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43342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5375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14F0-7D0C-4FBF-B1BC-7B3FF4A4032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57669"/>
              </p:ext>
            </p:extLst>
          </p:nvPr>
        </p:nvGraphicFramePr>
        <p:xfrm>
          <a:off x="541338" y="438222"/>
          <a:ext cx="9059862" cy="38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Aussagen passen am besten zum Begriff „Schnittstelle“ (APIs)?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zwei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Schnittstellen können die Wartbarkeit und Anpassbarkeit des Systems </a:t>
                      </a:r>
                      <a:r>
                        <a:rPr lang="de-DE" sz="1800"/>
                        <a:t>erhöhen 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Bausteine sollten Schnittstellen zu anderen Bausteinen komplett vermeiden, da sie Abhängigkeiten darstellen und dadurch die Flexibilität des Systems verringern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Schnittstellen erfordern die Verwendung einer objektorientierten Programmiersprache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Zugriff auf Daten eines anderen Bausteins über eine Schnittstelle kann weniger effizient als direkter Zugriff auf die angefragten Daten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382DCD-9D17-4FF5-8D6D-93A4A99C2880}"/>
              </a:ext>
            </a:extLst>
          </p:cNvPr>
          <p:cNvGrpSpPr/>
          <p:nvPr/>
        </p:nvGrpSpPr>
        <p:grpSpPr>
          <a:xfrm>
            <a:off x="571594" y="1451789"/>
            <a:ext cx="444408" cy="2544478"/>
            <a:chOff x="571594" y="1451789"/>
            <a:chExt cx="444408" cy="25444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A5BCB7-477B-4323-A65D-7547C94CD912}"/>
                </a:ext>
              </a:extLst>
            </p:cNvPr>
            <p:cNvSpPr/>
            <p:nvPr/>
          </p:nvSpPr>
          <p:spPr>
            <a:xfrm>
              <a:off x="571594" y="145178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321E77-FBC9-4DB0-AA34-9D34D8EC8D2E}"/>
                </a:ext>
              </a:extLst>
            </p:cNvPr>
            <p:cNvSpPr/>
            <p:nvPr/>
          </p:nvSpPr>
          <p:spPr>
            <a:xfrm>
              <a:off x="571970" y="331915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98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A581-DB44-49A2-9451-D11151ECE80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318046" cy="433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056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3211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6056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9817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901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748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086408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von den Begriffen sollten getrennt gehalten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53489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Logisches (fachliches) Datenmodell und technisches Datenbankmodell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View und Controller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Pipes und Filters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Benutzerschnittstelle und Business-Logik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Dokumentation und Kommunikation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Domänenspezifische und technische Bausteine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Lese- und Schreibzugriffe (um bspw. Sicherheit, Performanz usw. zu optimieren)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84E5018-1D0F-43F1-990E-42872343DDBC}"/>
              </a:ext>
            </a:extLst>
          </p:cNvPr>
          <p:cNvGrpSpPr/>
          <p:nvPr/>
        </p:nvGrpSpPr>
        <p:grpSpPr>
          <a:xfrm>
            <a:off x="579120" y="1490832"/>
            <a:ext cx="759274" cy="3309768"/>
            <a:chOff x="579120" y="1066800"/>
            <a:chExt cx="759274" cy="33097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84D3C-A17E-4CAD-A7CB-CC28DE4E4F5A}"/>
                </a:ext>
              </a:extLst>
            </p:cNvPr>
            <p:cNvSpPr/>
            <p:nvPr/>
          </p:nvSpPr>
          <p:spPr>
            <a:xfrm>
              <a:off x="972488" y="2868174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C6778-0E49-426B-945F-78D76697E626}"/>
                </a:ext>
              </a:extLst>
            </p:cNvPr>
            <p:cNvSpPr/>
            <p:nvPr/>
          </p:nvSpPr>
          <p:spPr>
            <a:xfrm>
              <a:off x="582849" y="15109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3BF567-FA49-4D21-ABEA-AA668DF3FB7A}"/>
                </a:ext>
              </a:extLst>
            </p:cNvPr>
            <p:cNvSpPr/>
            <p:nvPr/>
          </p:nvSpPr>
          <p:spPr>
            <a:xfrm>
              <a:off x="590307" y="239915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A14BE6-142F-42AE-81F6-D96F952D55C0}"/>
                </a:ext>
              </a:extLst>
            </p:cNvPr>
            <p:cNvSpPr/>
            <p:nvPr/>
          </p:nvSpPr>
          <p:spPr>
            <a:xfrm>
              <a:off x="579835" y="325534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023062-3549-4B39-9A92-69A806667869}"/>
                </a:ext>
              </a:extLst>
            </p:cNvPr>
            <p:cNvSpPr/>
            <p:nvPr/>
          </p:nvSpPr>
          <p:spPr>
            <a:xfrm>
              <a:off x="583564" y="36994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9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657-9C86-46DD-A153-A6E383D01E3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39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sollte ein Softwarearchitekt in Bezug auf Architekturentscheidungen tun?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645169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begründen können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die dazugehörigen Annahmen protokollieren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erst nach der Umsetzung dokumentieren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systematisch herangehen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E65BFE3-63D2-47F3-8E41-91DAC696E80D}"/>
              </a:ext>
            </a:extLst>
          </p:cNvPr>
          <p:cNvGrpSpPr/>
          <p:nvPr/>
        </p:nvGrpSpPr>
        <p:grpSpPr>
          <a:xfrm>
            <a:off x="546786" y="1872387"/>
            <a:ext cx="791608" cy="1998575"/>
            <a:chOff x="546786" y="1447800"/>
            <a:chExt cx="791608" cy="19985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370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EE5D88-8E4A-4778-84A3-126BDB5C74A2}"/>
                </a:ext>
              </a:extLst>
            </p:cNvPr>
            <p:cNvSpPr/>
            <p:nvPr/>
          </p:nvSpPr>
          <p:spPr>
            <a:xfrm>
              <a:off x="568342" y="188828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50DA77-2F48-4579-94D0-1E132638761E}"/>
                </a:ext>
              </a:extLst>
            </p:cNvPr>
            <p:cNvSpPr/>
            <p:nvPr/>
          </p:nvSpPr>
          <p:spPr>
            <a:xfrm>
              <a:off x="546786" y="276926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53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6CC7-D71F-4ABC-9331-4C4680BFB20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Eigenschaften sind beim Entwurf von Schnittstellen zwischen Architekturbausteinen wünschenswert?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vier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funktional vollständig aus Sicht des Nutzers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funktional vollständig aus Sicht des Anbieters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Ermöglichen des Aufrufs privater Dienste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schwer zu missbrauchen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einfach zu benutzen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einfach zu erweitern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2DF64C7-7CD5-44A1-9A23-113A001BDC43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880FB9-7941-468D-B127-0B20ACA17FEA}"/>
                </a:ext>
              </a:extLst>
            </p:cNvPr>
            <p:cNvSpPr/>
            <p:nvPr/>
          </p:nvSpPr>
          <p:spPr>
            <a:xfrm>
              <a:off x="579320" y="321416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2E3CB5-C9A9-4561-A011-83ACA1F38853}"/>
                </a:ext>
              </a:extLst>
            </p:cNvPr>
            <p:cNvSpPr/>
            <p:nvPr/>
          </p:nvSpPr>
          <p:spPr>
            <a:xfrm>
              <a:off x="579420" y="364308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B65A-FBA5-4F88-BB9A-6EC0055F63EB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39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7094DD-EEE5-53EA-5FCD-F45A3CAA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0BD82-11A6-DE06-41D8-E65934CC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6CC7-D71F-4ABC-9331-4C4680BFB20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9AF5D-58A4-E08A-C409-63944B90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FCAE4-492A-EA40-EB7C-990CE862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D5815E-2079-17D4-8DEF-CC0AACED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934539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Welche Aussagen beschreiben den Zweck von Entwurfsprinzipien in der Softwarearchitektur?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/>
                          <a:ea typeface="Calibri"/>
                          <a:cs typeface="Calibri"/>
                        </a:rPr>
                        <a:t>zwei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+mn-lt"/>
                        </a:rPr>
                        <a:t>Sie beeinflussen die Entscheidungen und das Verhalten der Beteiligten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ersetzen die Notwendigkeit einer Architekturdokumentation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helfen bei der Auswahl der Datenbanktechnologie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unterstützen die Strukturierung und Qualität von Softwarearchitektur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Sie verhindern alle Laufzeitfehler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B697190-1E96-8E73-9AB2-D7987CDE304F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99024F-79CB-F663-76AF-E52D3D839B4D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A155F5-7586-1E31-ED6E-265CEBF7CE1B}"/>
                </a:ext>
              </a:extLst>
            </p:cNvPr>
            <p:cNvSpPr/>
            <p:nvPr/>
          </p:nvSpPr>
          <p:spPr>
            <a:xfrm>
              <a:off x="579320" y="321416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5F3FF-0E4D-EFFB-45F0-5DB0B87AC1F2}"/>
                </a:ext>
              </a:extLst>
            </p:cNvPr>
            <p:cNvSpPr/>
            <p:nvPr/>
          </p:nvSpPr>
          <p:spPr>
            <a:xfrm>
              <a:off x="579420" y="364308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313BB7-3706-CC90-ED17-3099C8D00263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62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2718-9024-487A-A89A-2B391E2F424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46170"/>
              </p:ext>
            </p:extLst>
          </p:nvPr>
        </p:nvGraphicFramePr>
        <p:xfrm>
          <a:off x="541338" y="438222"/>
          <a:ext cx="8591862" cy="310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Möglichkeiten, die Kopplung zwischen den Implementierungen zweier Bausteine zu reduzieren oder aufzulösen?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/>
                          <a:ea typeface="Calibri"/>
                          <a:cs typeface="Calibri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Eine der Komponenten in zwei Teilkomponenten aufteilen, mit einem gekoppelten und einem entkoppelten Teil.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Interface zwischen den Komponenten einführen.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Gemeinsame Funktionalität in eine dritte Komponente auslagern und diese Funktionalität von beiden Komponenten aufrufen</a:t>
                      </a:r>
                      <a:r>
                        <a:rPr lang="en-US" sz="2000" dirty="0"/>
                        <a:t> (Separation of Concerns)</a:t>
                      </a:r>
                      <a:r>
                        <a:rPr lang="de-DE" sz="2000" dirty="0"/>
                        <a:t>.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83DFCAA-D213-4A7B-B2D8-5D48FE0D935A}"/>
              </a:ext>
            </a:extLst>
          </p:cNvPr>
          <p:cNvGrpSpPr/>
          <p:nvPr/>
        </p:nvGrpSpPr>
        <p:grpSpPr>
          <a:xfrm>
            <a:off x="569681" y="2171324"/>
            <a:ext cx="453471" cy="1111100"/>
            <a:chOff x="569681" y="2171324"/>
            <a:chExt cx="453471" cy="11111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17132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6A6FDA-1DA7-487B-98B6-666709327493}"/>
                </a:ext>
              </a:extLst>
            </p:cNvPr>
            <p:cNvSpPr/>
            <p:nvPr/>
          </p:nvSpPr>
          <p:spPr>
            <a:xfrm>
              <a:off x="569681" y="260531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27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7984-96A7-4A4A-87E8-98EA4C9CCCA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sind Querschnittskonzepte in der Architektur?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57038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Persistenz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Inter-Prozess-Kommunikation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Domänenmodell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Nebenläufigkeit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Warenkorb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Modernisierung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DEF1B1E-0C2C-455F-A387-B1FCAAE20D24}"/>
              </a:ext>
            </a:extLst>
          </p:cNvPr>
          <p:cNvGrpSpPr/>
          <p:nvPr/>
        </p:nvGrpSpPr>
        <p:grpSpPr>
          <a:xfrm>
            <a:off x="579120" y="1516862"/>
            <a:ext cx="759274" cy="2891980"/>
            <a:chOff x="579120" y="1121235"/>
            <a:chExt cx="759274" cy="28919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2123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040689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89AF65-D21B-49A8-B94C-309AC743A2FB}"/>
                </a:ext>
              </a:extLst>
            </p:cNvPr>
            <p:cNvSpPr/>
            <p:nvPr/>
          </p:nvSpPr>
          <p:spPr>
            <a:xfrm>
              <a:off x="580568" y="155083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832CAB-064E-4A8D-BDCD-BF70292B5A40}"/>
                </a:ext>
              </a:extLst>
            </p:cNvPr>
            <p:cNvSpPr/>
            <p:nvPr/>
          </p:nvSpPr>
          <p:spPr>
            <a:xfrm>
              <a:off x="583464" y="241004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5BDFA8-6CBE-4E87-A808-3B8C4B0A8D55}"/>
                </a:ext>
              </a:extLst>
            </p:cNvPr>
            <p:cNvSpPr/>
            <p:nvPr/>
          </p:nvSpPr>
          <p:spPr>
            <a:xfrm>
              <a:off x="965589" y="2904301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E8F7A7-5692-43C7-8CF6-8D318E8964B8}"/>
                </a:ext>
              </a:extLst>
            </p:cNvPr>
            <p:cNvSpPr/>
            <p:nvPr/>
          </p:nvSpPr>
          <p:spPr>
            <a:xfrm>
              <a:off x="958723" y="3336107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91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EC44-5B66-45D0-B078-F948D5839BB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54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17219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7716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8A23-B9A5-4829-B5D4-3E8D6C9A669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231313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3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735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255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87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432732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Wen oder was benötigt man, um Architekturbewertungen durchzuführen?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Aktueller Stand der Umsetzung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Analyse zur System-Komplexität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Test-Ergebnisse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Liste von Fehlern in der Entwicklung und Betrieb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Anforderungs- und Architekturdokumentation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Fachexperte bzw. Product Owner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137329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BF059AF-FBA4-441F-9122-FB7578F5AE40}"/>
              </a:ext>
            </a:extLst>
          </p:cNvPr>
          <p:cNvGrpSpPr/>
          <p:nvPr/>
        </p:nvGrpSpPr>
        <p:grpSpPr>
          <a:xfrm>
            <a:off x="580568" y="2836793"/>
            <a:ext cx="445480" cy="1125607"/>
            <a:chOff x="580568" y="2836793"/>
            <a:chExt cx="445480" cy="112560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53B30-45AC-499B-A774-1495FF473D29}"/>
                </a:ext>
              </a:extLst>
            </p:cNvPr>
            <p:cNvSpPr/>
            <p:nvPr/>
          </p:nvSpPr>
          <p:spPr>
            <a:xfrm>
              <a:off x="580568" y="283679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EEE356-DEEA-44EF-A2FB-505A052C71A2}"/>
                </a:ext>
              </a:extLst>
            </p:cNvPr>
            <p:cNvSpPr/>
            <p:nvPr/>
          </p:nvSpPr>
          <p:spPr>
            <a:xfrm>
              <a:off x="582016" y="32852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9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08411"/>
              </p:ext>
            </p:extLst>
          </p:nvPr>
        </p:nvGraphicFramePr>
        <p:xfrm>
          <a:off x="541338" y="438222"/>
          <a:ext cx="8591862" cy="369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genannten Aspekte sind mögliche Ziele eines Architekten beim Einsatz von dynamischen Code-Analyse Werkzeugen?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drei 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Bestimmung der Lines </a:t>
                      </a:r>
                      <a:r>
                        <a:rPr lang="de-DE" sz="2000" err="1"/>
                        <a:t>of</a:t>
                      </a:r>
                      <a:r>
                        <a:rPr lang="de-DE" sz="2000"/>
                        <a:t> Code (LOC) eines Bausteins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Aufdecken von Abhängigkeiten zur Verbesserung der Architektur-Strukturen 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Verletzung von Coding Conventions ermitteln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Unterstützung bei der gezielten Untersuchung bzgl. Performance- und Lasteigenschaften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Messung der Speichernutzung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6FEA8E6-FFAF-4C71-9669-808CF1B02209}"/>
              </a:ext>
            </a:extLst>
          </p:cNvPr>
          <p:cNvGrpSpPr/>
          <p:nvPr/>
        </p:nvGrpSpPr>
        <p:grpSpPr>
          <a:xfrm>
            <a:off x="579120" y="1890174"/>
            <a:ext cx="444784" cy="2273319"/>
            <a:chOff x="579120" y="1890174"/>
            <a:chExt cx="444784" cy="22733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2592DE-E09D-4CD9-B9E7-4B04888D7814}"/>
                </a:ext>
              </a:extLst>
            </p:cNvPr>
            <p:cNvSpPr/>
            <p:nvPr/>
          </p:nvSpPr>
          <p:spPr>
            <a:xfrm>
              <a:off x="579120" y="18901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17203F-71DA-4743-9EEE-29679877A0FE}"/>
                </a:ext>
              </a:extLst>
            </p:cNvPr>
            <p:cNvSpPr/>
            <p:nvPr/>
          </p:nvSpPr>
          <p:spPr>
            <a:xfrm>
              <a:off x="579496" y="276694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C37F40-1A57-4176-BC5A-C1FB42420FA3}"/>
                </a:ext>
              </a:extLst>
            </p:cNvPr>
            <p:cNvSpPr/>
            <p:nvPr/>
          </p:nvSpPr>
          <p:spPr>
            <a:xfrm>
              <a:off x="579872" y="348638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86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E7C6C4-C386-1045-A821-BFA3AFFC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16A51-6B7F-4C2C-A667-AA1F2934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516E7-3402-F484-02DE-13F4D278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5CA0-97DE-A89D-4B71-A960465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BA5137-8BE1-E8D7-8888-F70520A9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357996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Welche Analysemethoden eignen sich zur Bewertung von Sicherheitsanforderungen?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zwei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der folgenden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Interview mit Stakeholdern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Daily </a:t>
                      </a:r>
                      <a:r>
                        <a:rPr lang="de-DE" sz="2000" b="0" i="0" u="none" strike="noStrike" noProof="0" err="1">
                          <a:latin typeface="Calibri Light"/>
                        </a:rPr>
                        <a:t>Standups</a:t>
                      </a:r>
                      <a:r>
                        <a:rPr lang="de-DE" sz="2000" b="0" i="0" u="none" strike="noStrike" noProof="0">
                          <a:latin typeface="Calibri Light"/>
                        </a:rPr>
                        <a:t> im </a:t>
                      </a:r>
                      <a:r>
                        <a:rPr lang="de-DE" sz="2000" b="0" i="0" u="none" strike="noStrike" noProof="0" err="1">
                          <a:latin typeface="Calibri Light"/>
                        </a:rPr>
                        <a:t>Scrum</a:t>
                      </a:r>
                      <a:r>
                        <a:rPr lang="de-DE" sz="2000" b="0" i="0" u="none" strike="noStrike" noProof="0">
                          <a:latin typeface="Calibri Light"/>
                        </a:rPr>
                        <a:t>-Prozess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Analyse der Ergebnisse von Akzeptanztests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Kostenvergleich verschiedener Hardwareanbieter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Afferent / efferente Kopplung Metriken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CD7ECB0-5AAF-9AAE-40C8-28CC291C055E}"/>
              </a:ext>
            </a:extLst>
          </p:cNvPr>
          <p:cNvGrpSpPr/>
          <p:nvPr/>
        </p:nvGrpSpPr>
        <p:grpSpPr>
          <a:xfrm>
            <a:off x="579120" y="1476815"/>
            <a:ext cx="444408" cy="2686678"/>
            <a:chOff x="579120" y="1476815"/>
            <a:chExt cx="444408" cy="26866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A5BE1F-2062-C4FE-AC2A-F24008C67038}"/>
                </a:ext>
              </a:extLst>
            </p:cNvPr>
            <p:cNvSpPr/>
            <p:nvPr/>
          </p:nvSpPr>
          <p:spPr>
            <a:xfrm>
              <a:off x="579120" y="147681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536B8-A677-AB5E-93DD-D8E35B51ACC5}"/>
                </a:ext>
              </a:extLst>
            </p:cNvPr>
            <p:cNvSpPr/>
            <p:nvPr/>
          </p:nvSpPr>
          <p:spPr>
            <a:xfrm>
              <a:off x="579496" y="235358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8565E-2818-990E-FE07-0BA9533E7FA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32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D6EF-A607-A9CB-1972-360F33D5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65712-D913-317A-6133-946D717D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EE746-C851-313D-E432-20CDE5D5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977FB-1036-5F45-73FF-E7DFB2B0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6D48C0-9337-6183-496E-343D03A92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496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Was ist ein typischer Anlass für eine Architekturanalyse während eines Projekts?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eine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der folgenden am besten passendsten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Um neue Programmiersprachen zu evaluieren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Um festzustellen, ob das Entwicklungsteam ausreichend besetzt ist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Um zu prüfen, ob die Architektur die funktionalen und Qualitätsanforderungen erfüllt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latin typeface="Calibri Light"/>
                        </a:rPr>
                        <a:t>Um eine neue Benutzeroberfläche zu entwerfen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5FDBD30-711B-CD4E-F722-E697152C1AA4}"/>
              </a:ext>
            </a:extLst>
          </p:cNvPr>
          <p:cNvGrpSpPr/>
          <p:nvPr/>
        </p:nvGrpSpPr>
        <p:grpSpPr>
          <a:xfrm>
            <a:off x="579120" y="1890174"/>
            <a:ext cx="444408" cy="2273319"/>
            <a:chOff x="579120" y="1890174"/>
            <a:chExt cx="444408" cy="22733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36F5F0-0C8F-1EA6-914A-0991683C431E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36055D-A001-A16F-C3FC-48C3D4C80F03}"/>
                </a:ext>
              </a:extLst>
            </p:cNvPr>
            <p:cNvSpPr/>
            <p:nvPr/>
          </p:nvSpPr>
          <p:spPr>
            <a:xfrm>
              <a:off x="579496" y="234664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E7ABC7-78E0-AA86-1BBC-7E21948708C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5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CB0A-1092-BABF-3C03-15EF62AD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0DCE9-9F2B-C2C2-7CB2-1F15A98B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23.01.2026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452A8-18A3-9C7B-2754-F2F310F3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0F2BC-7C2C-D4B7-3078-46F7593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FBB924-A197-8B94-D532-C96CCA0F54A2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400" b="1" i="0" u="none" strike="noStrike" noProof="0">
                          <a:solidFill>
                            <a:srgbClr val="003CD2"/>
                          </a:solidFill>
                        </a:rPr>
                        <a:t>Was ist ein Nutzen der Architekturanalyse nach der Implementierung?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</a:rPr>
                        <a:t>eine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der folgenden am besten passendsten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Identifikation von Abweichungen zwischen implementierter Lösung und geplantem Architekturentwurf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/>
                        <a:t>Durchführung von Unit-Tests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Auswahl des Cloud-Providers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/>
                        <a:t>Einführung neuer agiler Methoden</a:t>
                      </a:r>
                      <a:endParaRPr lang="en-US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724F7AE-D008-E167-4600-96AED3C06454}"/>
              </a:ext>
            </a:extLst>
          </p:cNvPr>
          <p:cNvGrpSpPr/>
          <p:nvPr/>
        </p:nvGrpSpPr>
        <p:grpSpPr>
          <a:xfrm>
            <a:off x="579120" y="1100955"/>
            <a:ext cx="444408" cy="3062538"/>
            <a:chOff x="579120" y="1100955"/>
            <a:chExt cx="444408" cy="30625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6C1911-4DFA-EFEC-5567-95DD068A5EE5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49D675-4E98-DE84-3840-C0E744A66684}"/>
                </a:ext>
              </a:extLst>
            </p:cNvPr>
            <p:cNvSpPr/>
            <p:nvPr/>
          </p:nvSpPr>
          <p:spPr>
            <a:xfrm>
              <a:off x="579496" y="110095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A82A32-3BDC-59ED-3A3C-F8DD7A3EAEF7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9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865527" y="381000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>
                <a:latin typeface="Calibri Light" panose="020F0302020204030204" pitchFamily="34" charset="0"/>
              </a:rPr>
              <a:t>Danke für Ihre Aufmerksamkeit!</a:t>
            </a:r>
          </a:p>
        </p:txBody>
      </p:sp>
      <p:sp>
        <p:nvSpPr>
          <p:cNvPr id="8" name="Rechteck 7"/>
          <p:cNvSpPr/>
          <p:nvPr/>
        </p:nvSpPr>
        <p:spPr>
          <a:xfrm>
            <a:off x="865527" y="5809679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>
                <a:latin typeface="Calibri Light" panose="020F0302020204030204" pitchFamily="34" charset="0"/>
              </a:rPr>
              <a:t>Fragen?</a:t>
            </a:r>
          </a:p>
        </p:txBody>
      </p:sp>
      <p:pic>
        <p:nvPicPr>
          <p:cNvPr id="21" name="Grafik 20" descr="Questio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828800"/>
            <a:ext cx="4783597" cy="3328416"/>
          </a:xfrm>
          <a:prstGeom prst="rect">
            <a:avLst/>
          </a:prstGeom>
        </p:spPr>
      </p:pic>
      <p:pic>
        <p:nvPicPr>
          <p:cNvPr id="23" name="Grafik 21">
            <a:extLst>
              <a:ext uri="{FF2B5EF4-FFF2-40B4-BE49-F238E27FC236}">
                <a16:creationId xmlns:a16="http://schemas.microsoft.com/office/drawing/2014/main" id="{DB944D35-8BF4-4343-A76E-9B0078BD3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9509" y="1802713"/>
            <a:ext cx="2427770" cy="94048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52D8FB4-5B5E-464D-BC02-2FB866717C43}"/>
              </a:ext>
            </a:extLst>
          </p:cNvPr>
          <p:cNvGrpSpPr/>
          <p:nvPr/>
        </p:nvGrpSpPr>
        <p:grpSpPr>
          <a:xfrm>
            <a:off x="1143000" y="3087293"/>
            <a:ext cx="3581401" cy="2107329"/>
            <a:chOff x="1143000" y="3200400"/>
            <a:chExt cx="3581401" cy="2107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F327AA-690B-4A82-BD53-8A5FCFB7030B}"/>
                </a:ext>
              </a:extLst>
            </p:cNvPr>
            <p:cNvGrpSpPr/>
            <p:nvPr/>
          </p:nvGrpSpPr>
          <p:grpSpPr>
            <a:xfrm>
              <a:off x="1143000" y="3200400"/>
              <a:ext cx="3581401" cy="2107329"/>
              <a:chOff x="1169545" y="2540508"/>
              <a:chExt cx="3581401" cy="2107329"/>
            </a:xfrm>
          </p:grpSpPr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1A9559CD-BA77-48D0-922B-D2BB34689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360" y="2590261"/>
                <a:ext cx="3504586" cy="20575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de-DE" sz="160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0F3976B2-66DF-42DA-8A59-D2D4D5CCB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9545" y="2540508"/>
                <a:ext cx="3504586" cy="203104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108000" tIns="0" rIns="0" bIns="0" anchor="ctr"/>
              <a:lstStyle/>
              <a:p>
                <a:r>
                  <a:rPr lang="de-DE" sz="2000" b="1">
                    <a:solidFill>
                      <a:srgbClr val="003CD2"/>
                    </a:solidFill>
                  </a:rPr>
                  <a:t>Roger E. Rhoades</a:t>
                </a:r>
              </a:p>
              <a:p>
                <a:pPr>
                  <a:spcAft>
                    <a:spcPts val="1200"/>
                  </a:spcAft>
                </a:pPr>
                <a:r>
                  <a:rPr lang="de-DE" sz="1600"/>
                  <a:t>Inhaber und Trainer</a:t>
                </a:r>
                <a:endParaRPr lang="de-DE"/>
              </a:p>
              <a:p>
                <a:r>
                  <a:rPr lang="de-DE" sz="1600"/>
                  <a:t>+49 152 53 44 33 55</a:t>
                </a:r>
              </a:p>
              <a:p>
                <a:r>
                  <a:rPr lang="de-DE" sz="1600"/>
                  <a:t>r.rhoades@albion.eu</a:t>
                </a:r>
              </a:p>
              <a:p>
                <a:r>
                  <a:rPr lang="de-DE" sz="1600"/>
                  <a:t>www.albion.eu</a:t>
                </a:r>
                <a:endParaRPr lang="de-DE" sz="1600">
                  <a:latin typeface="Calibri Light" panose="020F030202020403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817970-A4FA-4849-917B-2C3E655862F3}"/>
                </a:ext>
              </a:extLst>
            </p:cNvPr>
            <p:cNvGrpSpPr/>
            <p:nvPr/>
          </p:nvGrpSpPr>
          <p:grpSpPr>
            <a:xfrm>
              <a:off x="2907685" y="3295420"/>
              <a:ext cx="1469190" cy="1900871"/>
              <a:chOff x="2932061" y="3295420"/>
              <a:chExt cx="1469190" cy="1900871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B186EA33-8F15-4959-8D1F-4BD99C8CBFFA}"/>
                  </a:ext>
                </a:extLst>
              </p:cNvPr>
              <p:cNvSpPr/>
              <p:nvPr/>
            </p:nvSpPr>
            <p:spPr>
              <a:xfrm>
                <a:off x="2932061" y="3440550"/>
                <a:ext cx="1469190" cy="1619307"/>
              </a:xfrm>
              <a:prstGeom prst="parallelogram">
                <a:avLst>
                  <a:gd name="adj" fmla="val 63736"/>
                </a:avLst>
              </a:pr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sz="1400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599CA6A4-69AA-4785-96DF-2742AF995D43}"/>
                  </a:ext>
                </a:extLst>
              </p:cNvPr>
              <p:cNvSpPr/>
              <p:nvPr/>
            </p:nvSpPr>
            <p:spPr>
              <a:xfrm rot="1806280">
                <a:off x="3301980" y="3295420"/>
                <a:ext cx="52437" cy="1900871"/>
              </a:xfrm>
              <a:custGeom>
                <a:avLst/>
                <a:gdLst>
                  <a:gd name="connsiteX0" fmla="*/ 0 w 50502"/>
                  <a:gd name="connsiteY0" fmla="*/ 1852216 h 1852216"/>
                  <a:gd name="connsiteX1" fmla="*/ 0 w 50502"/>
                  <a:gd name="connsiteY1" fmla="*/ 0 h 1852216"/>
                  <a:gd name="connsiteX2" fmla="*/ 50502 w 50502"/>
                  <a:gd name="connsiteY2" fmla="*/ 0 h 1852216"/>
                  <a:gd name="connsiteX3" fmla="*/ 50502 w 50502"/>
                  <a:gd name="connsiteY3" fmla="*/ 1852216 h 1852216"/>
                  <a:gd name="connsiteX4" fmla="*/ 0 w 50502"/>
                  <a:gd name="connsiteY4" fmla="*/ 1852216 h 1852216"/>
                  <a:gd name="connsiteX0" fmla="*/ 1935 w 52437"/>
                  <a:gd name="connsiteY0" fmla="*/ 1852216 h 1852216"/>
                  <a:gd name="connsiteX1" fmla="*/ 0 w 52437"/>
                  <a:gd name="connsiteY1" fmla="*/ 25684 h 1852216"/>
                  <a:gd name="connsiteX2" fmla="*/ 52437 w 52437"/>
                  <a:gd name="connsiteY2" fmla="*/ 0 h 1852216"/>
                  <a:gd name="connsiteX3" fmla="*/ 52437 w 52437"/>
                  <a:gd name="connsiteY3" fmla="*/ 1852216 h 1852216"/>
                  <a:gd name="connsiteX4" fmla="*/ 1935 w 52437"/>
                  <a:gd name="connsiteY4" fmla="*/ 1852216 h 1852216"/>
                  <a:gd name="connsiteX0" fmla="*/ 2335 w 52437"/>
                  <a:gd name="connsiteY0" fmla="*/ 1882050 h 1882050"/>
                  <a:gd name="connsiteX1" fmla="*/ 0 w 52437"/>
                  <a:gd name="connsiteY1" fmla="*/ 25684 h 1882050"/>
                  <a:gd name="connsiteX2" fmla="*/ 52437 w 52437"/>
                  <a:gd name="connsiteY2" fmla="*/ 0 h 1882050"/>
                  <a:gd name="connsiteX3" fmla="*/ 52437 w 52437"/>
                  <a:gd name="connsiteY3" fmla="*/ 1852216 h 1882050"/>
                  <a:gd name="connsiteX4" fmla="*/ 2335 w 52437"/>
                  <a:gd name="connsiteY4" fmla="*/ 1882050 h 1882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437" h="1882050">
                    <a:moveTo>
                      <a:pt x="2335" y="1882050"/>
                    </a:moveTo>
                    <a:cubicBezTo>
                      <a:pt x="1557" y="1263261"/>
                      <a:pt x="778" y="644473"/>
                      <a:pt x="0" y="25684"/>
                    </a:cubicBezTo>
                    <a:lnTo>
                      <a:pt x="52437" y="0"/>
                    </a:lnTo>
                    <a:lnTo>
                      <a:pt x="52437" y="1852216"/>
                    </a:lnTo>
                    <a:lnTo>
                      <a:pt x="2335" y="1882050"/>
                    </a:lnTo>
                    <a:close/>
                  </a:path>
                </a:pathLst>
              </a:cu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sz="1400"/>
              </a:p>
            </p:txBody>
          </p:sp>
        </p:grpSp>
        <p:pic>
          <p:nvPicPr>
            <p:cNvPr id="39" name="Picture 38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9A3C3EB6-1EBD-4FD0-A135-40F3405089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2" t="240" r="37207" b="-240"/>
            <a:stretch/>
          </p:blipFill>
          <p:spPr>
            <a:xfrm>
              <a:off x="3424814" y="3302721"/>
              <a:ext cx="1111428" cy="1826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72355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436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Questions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Auswahl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7769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_AUDIO_DECODED" val="1"/>
  <p:tag name="ARTICULATE_PRESENTATION_ID" val="12180"/>
  <p:tag name="ENGAGE_TAB_COUNT" val="1"/>
  <p:tag name="ARTICULATE_REFERENCE_COUNT" val="2"/>
  <p:tag name="ARTICULATE_REFERENCE_TYPE_1" val="0"/>
  <p:tag name="ARTICULATE_REFERENCE_TITLE_1" val="IASA - IT Architecture Glossary"/>
  <p:tag name="ARTICULATE_REFERENCE_1" val="http://www.iasahome.org/web/home/ITarchitecture/Glossary"/>
  <p:tag name="ARTICULATE_REFERENCE_TYPE_2" val="0"/>
  <p:tag name="ARTICULATE_REFERENCE_TITLE_2" val="IASA - IT Architect Skills Library"/>
  <p:tag name="ARTICULATE_REFERENCE_2" val="http://www.iasahome.org/web/home/skillset"/>
  <p:tag name="ART_ENCODE_TYPE" val="2"/>
  <p:tag name="ART_ENCODE_INDEX" val="1"/>
  <p:tag name="PLAYERLOGOHEIGHT" val="70"/>
  <p:tag name="PLAYERLOGOWIDTH" val="244"/>
  <p:tag name="PUBLISH_TITLE" val="RAS_Module1_Intro"/>
  <p:tag name="ARTICULATE_PUBLISH_PATH" val="C:\Users\ellenb\Documents\Articulate Presenter"/>
  <p:tag name="ARTICULATE_LOGO" val="logopanel.swf"/>
  <p:tag name="ARTICULATE_PRESENTER" val="(Use slide-level presenters)"/>
  <p:tag name="ARTICULATE_PRESENTER_GUID" val="-1"/>
  <p:tag name="ARTICULATE_LMS" val="0"/>
  <p:tag name="LAUNCHINNEWWINDOW" val="0"/>
  <p:tag name="LASTPUBLISHED" val="C:\Users\ellenb\Documents\Articulate Presenter\RAS_Module1_Intro\player.html"/>
  <p:tag name="ENGAGE_INTERACTION_TITLE_1" val="About The Course"/>
  <p:tag name="ENGAGE_INTERACTION_FILENAME_1" val="C:\Documents and Settings\Colin\My Documents\My Articulate Projects\IASA\Prototype\About This Course.intr"/>
  <p:tag name="ENGAGE_INTERACTION_PAUSE_1" val="1"/>
  <p:tag name="ENGAGE_INTERACTION_ID_1" val="56142"/>
  <p:tag name="ENGAGE_INTERACTION_TABNAME_1" val="ABOUT THE COURSE"/>
  <p:tag name="ENGAGE_LAST_MODIFY_DATE_1" val="39436.7253587963"/>
  <p:tag name="LMS_PUBLISH" val="No"/>
  <p:tag name="ARTICULATE_TEMPLATE" val="Corporate Communications"/>
  <p:tag name="ENGAGE_INTERACTION_GUID_1" val="c136f20a-976f-4194-a0fe-05e6fa88e8bc"/>
  <p:tag name="PRESENTER_PREVIEW_MODE" val="0"/>
  <p:tag name="ARTICULATE_PROJECT_CHECK" val="0"/>
  <p:tag name="PRESENTATION_PLAYLIST_COUNT" val="0"/>
  <p:tag name="PRESENTATION_PRESENTER_SLIDE_LEVEL" val="0"/>
  <p:tag name="ARTICULATE_PRESENTER_VERSION" val="6"/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F5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CC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4564</Words>
  <Application>Microsoft Office PowerPoint</Application>
  <PresentationFormat>A4 Paper (210x297 mm)</PresentationFormat>
  <Paragraphs>1536</Paragraphs>
  <Slides>61</Slides>
  <Notes>11</Notes>
  <HiddenSlides>15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Calibri</vt:lpstr>
      <vt:lpstr>Calibri Light</vt:lpstr>
      <vt:lpstr>Wingdings</vt:lpstr>
      <vt:lpstr>Wingdings 2</vt:lpstr>
      <vt:lpstr>Office Theme</vt:lpstr>
      <vt:lpstr>1_Office Theme</vt:lpstr>
      <vt:lpstr>Custom Design</vt:lpstr>
      <vt:lpstr>iSAQB CPSA-Foundation</vt:lpstr>
      <vt:lpstr>Agenda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Albion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Albion</dc:title>
  <dc:subject/>
  <dc:creator>Roger E. Rhoades</dc:creator>
  <cp:keywords/>
  <cp:lastModifiedBy>Roger Rhoades</cp:lastModifiedBy>
  <cp:revision>1</cp:revision>
  <cp:lastPrinted>2018-01-13T17:21:59Z</cp:lastPrinted>
  <dcterms:created xsi:type="dcterms:W3CDTF">2010-01-13T02:34:13Z</dcterms:created>
  <dcterms:modified xsi:type="dcterms:W3CDTF">2026-01-23T00:46:45Z</dcterms:modified>
  <cp:contentStatus>Final</cp:contentStatus>
</cp:coreProperties>
</file>